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7559345" cy="10692079"/>
  <p:notesSz cx="10692079" cy="755934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7559345" cy="109728"/>
          </a:xfrm>
          <a:prstGeom prst="rect">
            <a:avLst/>
          </a:prstGeom>
          <a:solidFill>
            <a:srgbClr val="0B1F33"/>
          </a:solidFill>
          <a:ln w="12700">
            <a:solidFill>
              <a:srgbClr val="0B1F33"/>
            </a:solidFill>
            <a:prstDash val="solid"/>
          </a:ln>
        </p:spPr>
      </p:sp>
      <p:sp>
        <p:nvSpPr>
          <p:cNvPr id="3" name="Text 1"/>
          <p:cNvSpPr/>
          <p:nvPr/>
        </p:nvSpPr>
        <p:spPr>
          <a:xfrm>
            <a:off x="384048" y="201168"/>
            <a:ext cx="3291840" cy="201168"/>
          </a:xfrm>
          <a:prstGeom prst="rect">
            <a:avLst/>
          </a:prstGeom>
          <a:noFill/>
          <a:ln/>
        </p:spPr>
        <p:txBody>
          <a:bodyPr wrap="square" lIns="0" tIns="0" rIns="0" bIns="0" rtlCol="0" anchor="ctr"/>
          <a:lstStyle/>
          <a:p>
            <a:pPr indent="0" marL="0">
              <a:buNone/>
            </a:pPr>
            <a:r>
              <a:rPr lang="en-US" sz="850" b="1" dirty="0">
                <a:solidFill>
                  <a:srgbClr val="0B1F33"/>
                </a:solidFill>
                <a:latin typeface="NanumSquare" pitchFamily="34" charset="0"/>
                <a:ea typeface="NanumSquare" pitchFamily="34" charset="-122"/>
                <a:cs typeface="NanumSquare" pitchFamily="34" charset="-120"/>
              </a:rPr>
              <a:t>NOWHERE / NOON BRIEF</a:t>
            </a:r>
            <a:endParaRPr lang="en-US" sz="850" dirty="0"/>
          </a:p>
        </p:txBody>
      </p:sp>
      <p:sp>
        <p:nvSpPr>
          <p:cNvPr id="4" name="Text 2"/>
          <p:cNvSpPr/>
          <p:nvPr/>
        </p:nvSpPr>
        <p:spPr>
          <a:xfrm>
            <a:off x="5422392" y="201168"/>
            <a:ext cx="1755648" cy="201168"/>
          </a:xfrm>
          <a:prstGeom prst="rect">
            <a:avLst/>
          </a:prstGeom>
          <a:noFill/>
          <a:ln/>
        </p:spPr>
        <p:txBody>
          <a:bodyPr wrap="square" lIns="0" tIns="0" rIns="0" bIns="0" rtlCol="0" anchor="ctr"/>
          <a:lstStyle/>
          <a:p>
            <a:pPr algn="r" indent="0" marL="0">
              <a:buNone/>
            </a:pPr>
            <a:r>
              <a:rPr lang="en-US" sz="750" b="1" dirty="0">
                <a:solidFill>
                  <a:srgbClr val="647586"/>
                </a:solidFill>
                <a:latin typeface="NanumSquare" pitchFamily="34" charset="0"/>
                <a:ea typeface="NanumSquare" pitchFamily="34" charset="-122"/>
                <a:cs typeface="NanumSquare" pitchFamily="34" charset="-120"/>
              </a:rPr>
              <a:t>DEMO · INTERNAL USE</a:t>
            </a:r>
            <a:endParaRPr lang="en-US" sz="750" dirty="0"/>
          </a:p>
        </p:txBody>
      </p:sp>
      <p:sp>
        <p:nvSpPr>
          <p:cNvPr id="5" name="Shape 3"/>
          <p:cNvSpPr/>
          <p:nvPr/>
        </p:nvSpPr>
        <p:spPr>
          <a:xfrm>
            <a:off x="384048" y="10241280"/>
            <a:ext cx="6784848" cy="0"/>
          </a:xfrm>
          <a:prstGeom prst="line">
            <a:avLst/>
          </a:prstGeom>
          <a:noFill/>
          <a:ln w="10160">
            <a:solidFill>
              <a:srgbClr val="D8DEE5"/>
            </a:solidFill>
            <a:prstDash val="solid"/>
          </a:ln>
        </p:spPr>
      </p:sp>
      <p:sp>
        <p:nvSpPr>
          <p:cNvPr id="25" name="Slide Number Placeholder 0"/>
          <p:cNvSpPr>
            <a:spLocks noGrp="1"/>
          </p:cNvSpPr>
          <p:nvPr>
            <p:ph type="sldNum" sz="quarter" idx="4294967295"/>
          </p:nvPr>
        </p:nvSpPr>
        <p:spPr>
          <a:xfrm>
            <a:off x="6830568" y="1031443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586"/>
                </a:solidFill>
                <a:latin typeface="NanumSquare"/>
                <a:ea typeface="NanumSquare"/>
                <a:cs typeface="NanumSquare"/>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6830568" y="1031443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586"/>
                </a:solidFill>
                <a:latin typeface="NanumSquare"/>
                <a:ea typeface="NanumSquare"/>
                <a:cs typeface="NanumSquare"/>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384048" y="512064"/>
            <a:ext cx="1325880" cy="164592"/>
          </a:xfrm>
          <a:prstGeom prst="rect">
            <a:avLst/>
          </a:prstGeom>
          <a:noFill/>
          <a:ln/>
        </p:spPr>
        <p:txBody>
          <a:bodyPr wrap="square" lIns="0" tIns="0" rIns="0" bIns="0" rtlCol="0" anchor="ctr">
            <a:normAutofit/>
          </a:bodyPr>
          <a:lstStyle/>
          <a:p>
            <a:pPr algn="l" indent="0" marL="0">
              <a:buNone/>
            </a:pPr>
            <a:r>
              <a:rPr lang="en-US" sz="750" b="1" spc="110" kern="0" dirty="0">
                <a:solidFill>
                  <a:srgbClr val="00A6A6"/>
                </a:solidFill>
                <a:latin typeface="NanumSquare" pitchFamily="34" charset="0"/>
                <a:ea typeface="NanumSquare" pitchFamily="34" charset="-122"/>
                <a:cs typeface="NanumSquare" pitchFamily="34" charset="-120"/>
              </a:rPr>
              <a:t>MARKET SNAPSHOT</a:t>
            </a:r>
            <a:endParaRPr lang="en-US" sz="750" dirty="0"/>
          </a:p>
        </p:txBody>
      </p:sp>
      <p:sp>
        <p:nvSpPr>
          <p:cNvPr id="3" name="Text 1"/>
          <p:cNvSpPr/>
          <p:nvPr/>
        </p:nvSpPr>
        <p:spPr>
          <a:xfrm>
            <a:off x="384048" y="713232"/>
            <a:ext cx="6629400" cy="420624"/>
          </a:xfrm>
          <a:prstGeom prst="rect">
            <a:avLst/>
          </a:prstGeom>
          <a:noFill/>
          <a:ln/>
        </p:spPr>
        <p:txBody>
          <a:bodyPr wrap="square" lIns="0" tIns="0" rIns="0" bIns="0" rtlCol="0" anchor="t">
            <a:normAutofit/>
          </a:bodyPr>
          <a:lstStyle/>
          <a:p>
            <a:pPr algn="l" indent="0" marL="0">
              <a:buNone/>
            </a:pPr>
            <a:r>
              <a:rPr lang="en-US" sz="2200" b="1" dirty="0">
                <a:solidFill>
                  <a:srgbClr val="0B1F33"/>
                </a:solidFill>
                <a:latin typeface="NanumSquare" pitchFamily="34" charset="0"/>
                <a:ea typeface="NanumSquare" pitchFamily="34" charset="-122"/>
                <a:cs typeface="NanumSquare" pitchFamily="34" charset="-120"/>
              </a:rPr>
              <a:t>지수는 복원됐지만, 시장은 아직 복구되지 않았다</a:t>
            </a:r>
            <a:endParaRPr lang="en-US" sz="2200" dirty="0"/>
          </a:p>
        </p:txBody>
      </p:sp>
      <p:sp>
        <p:nvSpPr>
          <p:cNvPr id="4" name="Text 2"/>
          <p:cNvSpPr/>
          <p:nvPr/>
        </p:nvSpPr>
        <p:spPr>
          <a:xfrm>
            <a:off x="384048" y="1124712"/>
            <a:ext cx="6629400" cy="365760"/>
          </a:xfrm>
          <a:prstGeom prst="rect">
            <a:avLst/>
          </a:prstGeom>
          <a:noFill/>
          <a:ln/>
        </p:spPr>
        <p:txBody>
          <a:bodyPr wrap="square" lIns="0" tIns="0" rIns="0" bIns="0" rtlCol="0" anchor="t">
            <a:normAutofit/>
          </a:bodyPr>
          <a:lstStyle/>
          <a:p>
            <a:pPr algn="l" indent="0" marL="0">
              <a:buNone/>
            </a:pPr>
            <a:r>
              <a:rPr lang="en-US" sz="940" dirty="0">
                <a:solidFill>
                  <a:srgbClr val="465866"/>
                </a:solidFill>
                <a:latin typeface="Noto Sans CJK KR" pitchFamily="34" charset="0"/>
                <a:ea typeface="Noto Sans CJK KR" pitchFamily="34" charset="-122"/>
                <a:cs typeface="Noto Sans CJK KR" pitchFamily="34" charset="-120"/>
              </a:rPr>
              <a:t>반도체 대형주와 기관·프로그램 매수가 코스피를 끌어올렸지만, 코스닥·시장 폭·종목 확산은 여전히 위험회피 구간을 가리킨다.</a:t>
            </a:r>
            <a:endParaRPr lang="en-US" sz="940" dirty="0"/>
          </a:p>
        </p:txBody>
      </p:sp>
      <p:sp>
        <p:nvSpPr>
          <p:cNvPr id="5" name="Shape 3"/>
          <p:cNvSpPr/>
          <p:nvPr/>
        </p:nvSpPr>
        <p:spPr>
          <a:xfrm>
            <a:off x="384048" y="1572768"/>
            <a:ext cx="3310128" cy="1225296"/>
          </a:xfrm>
          <a:prstGeom prst="roundRect">
            <a:avLst>
              <a:gd name="adj" fmla="val 5970"/>
            </a:avLst>
          </a:prstGeom>
          <a:solidFill>
            <a:srgbClr val="FFFFFF"/>
          </a:solidFill>
          <a:ln w="10160">
            <a:solidFill>
              <a:srgbClr val="D8DEE5"/>
            </a:solidFill>
            <a:prstDash val="solid"/>
          </a:ln>
        </p:spPr>
      </p:sp>
      <p:sp>
        <p:nvSpPr>
          <p:cNvPr id="6" name="Text 4"/>
          <p:cNvSpPr/>
          <p:nvPr/>
        </p:nvSpPr>
        <p:spPr>
          <a:xfrm>
            <a:off x="530352" y="1691640"/>
            <a:ext cx="1097280" cy="228600"/>
          </a:xfrm>
          <a:prstGeom prst="rect">
            <a:avLst/>
          </a:prstGeom>
          <a:noFill/>
          <a:ln/>
        </p:spPr>
        <p:txBody>
          <a:bodyPr wrap="square" lIns="0" tIns="0" rIns="0" bIns="0" rtlCol="0" anchor="ctr">
            <a:normAutofit/>
          </a:bodyPr>
          <a:lstStyle/>
          <a:p>
            <a:pPr algn="l" indent="0" marL="0">
              <a:buNone/>
            </a:pPr>
            <a:r>
              <a:rPr lang="en-US" sz="1100" b="1" dirty="0">
                <a:solidFill>
                  <a:srgbClr val="0B1F33"/>
                </a:solidFill>
                <a:latin typeface="NanumSquare" pitchFamily="34" charset="0"/>
                <a:ea typeface="NanumSquare" pitchFamily="34" charset="-122"/>
                <a:cs typeface="NanumSquare" pitchFamily="34" charset="-120"/>
              </a:rPr>
              <a:t>코스피</a:t>
            </a:r>
            <a:endParaRPr lang="en-US" sz="1100" dirty="0"/>
          </a:p>
        </p:txBody>
      </p:sp>
      <p:sp>
        <p:nvSpPr>
          <p:cNvPr id="7" name="Text 5"/>
          <p:cNvSpPr/>
          <p:nvPr/>
        </p:nvSpPr>
        <p:spPr>
          <a:xfrm>
            <a:off x="1389888" y="1673352"/>
            <a:ext cx="1554480" cy="274320"/>
          </a:xfrm>
          <a:prstGeom prst="rect">
            <a:avLst/>
          </a:prstGeom>
          <a:noFill/>
          <a:ln/>
        </p:spPr>
        <p:txBody>
          <a:bodyPr wrap="square" lIns="0" tIns="0" rIns="0" bIns="0" rtlCol="0" anchor="ctr">
            <a:normAutofit/>
          </a:bodyPr>
          <a:lstStyle/>
          <a:p>
            <a:pPr algn="r" indent="0" marL="0">
              <a:buNone/>
            </a:pPr>
            <a:r>
              <a:rPr lang="en-US" sz="1500" b="1" dirty="0">
                <a:solidFill>
                  <a:srgbClr val="0B1F33"/>
                </a:solidFill>
                <a:latin typeface="NanumSquare" pitchFamily="34" charset="0"/>
                <a:ea typeface="NanumSquare" pitchFamily="34" charset="-122"/>
                <a:cs typeface="NanumSquare" pitchFamily="34" charset="-120"/>
              </a:rPr>
              <a:t>6,916.73</a:t>
            </a:r>
            <a:endParaRPr lang="en-US" sz="1500" dirty="0"/>
          </a:p>
        </p:txBody>
      </p:sp>
      <p:sp>
        <p:nvSpPr>
          <p:cNvPr id="8" name="Text 6"/>
          <p:cNvSpPr/>
          <p:nvPr/>
        </p:nvSpPr>
        <p:spPr>
          <a:xfrm>
            <a:off x="2980944" y="1691640"/>
            <a:ext cx="841248" cy="228600"/>
          </a:xfrm>
          <a:prstGeom prst="rect">
            <a:avLst/>
          </a:prstGeom>
          <a:noFill/>
          <a:ln/>
        </p:spPr>
        <p:txBody>
          <a:bodyPr wrap="square" lIns="0" tIns="0" rIns="0" bIns="0" rtlCol="0" anchor="ctr">
            <a:normAutofit/>
          </a:bodyPr>
          <a:lstStyle/>
          <a:p>
            <a:pPr algn="r" indent="0" marL="0">
              <a:buNone/>
            </a:pPr>
            <a:r>
              <a:rPr lang="en-US" sz="1050" b="1" dirty="0">
                <a:solidFill>
                  <a:srgbClr val="D9534F"/>
                </a:solidFill>
                <a:latin typeface="NanumSquare" pitchFamily="34" charset="0"/>
                <a:ea typeface="NanumSquare" pitchFamily="34" charset="-122"/>
                <a:cs typeface="NanumSquare" pitchFamily="34" charset="-120"/>
              </a:rPr>
              <a:t>+1.61%</a:t>
            </a:r>
            <a:endParaRPr lang="en-US" sz="1050" dirty="0"/>
          </a:p>
        </p:txBody>
      </p:sp>
      <p:sp>
        <p:nvSpPr>
          <p:cNvPr id="9" name="Shape 7"/>
          <p:cNvSpPr/>
          <p:nvPr/>
        </p:nvSpPr>
        <p:spPr>
          <a:xfrm>
            <a:off x="612648" y="2231136"/>
            <a:ext cx="2852928" cy="0"/>
          </a:xfrm>
          <a:prstGeom prst="line">
            <a:avLst/>
          </a:prstGeom>
          <a:noFill/>
          <a:ln w="38100">
            <a:solidFill>
              <a:srgbClr val="C8D0D8"/>
            </a:solidFill>
            <a:prstDash val="solid"/>
            <a:headEnd type="none"/>
            <a:tailEnd type="none"/>
          </a:ln>
        </p:spPr>
      </p:sp>
      <p:sp>
        <p:nvSpPr>
          <p:cNvPr id="10" name="Shape 8"/>
          <p:cNvSpPr/>
          <p:nvPr/>
        </p:nvSpPr>
        <p:spPr>
          <a:xfrm>
            <a:off x="2536250" y="2121408"/>
            <a:ext cx="0" cy="219456"/>
          </a:xfrm>
          <a:prstGeom prst="line">
            <a:avLst/>
          </a:prstGeom>
          <a:noFill/>
          <a:ln w="17780">
            <a:solidFill>
              <a:srgbClr val="D8A63C"/>
            </a:solidFill>
            <a:prstDash val="solid"/>
          </a:ln>
        </p:spPr>
      </p:sp>
      <p:sp>
        <p:nvSpPr>
          <p:cNvPr id="11" name="Shape 9"/>
          <p:cNvSpPr/>
          <p:nvPr/>
        </p:nvSpPr>
        <p:spPr>
          <a:xfrm>
            <a:off x="2332807" y="2139696"/>
            <a:ext cx="0" cy="182880"/>
          </a:xfrm>
          <a:prstGeom prst="line">
            <a:avLst/>
          </a:prstGeom>
          <a:noFill/>
          <a:ln w="15240">
            <a:solidFill>
              <a:srgbClr val="465866"/>
            </a:solidFill>
            <a:prstDash val="solid"/>
          </a:ln>
        </p:spPr>
      </p:sp>
      <p:sp>
        <p:nvSpPr>
          <p:cNvPr id="12" name="Shape 10"/>
          <p:cNvSpPr/>
          <p:nvPr/>
        </p:nvSpPr>
        <p:spPr>
          <a:xfrm>
            <a:off x="3075786" y="2180844"/>
            <a:ext cx="100584" cy="100584"/>
          </a:xfrm>
          <a:prstGeom prst="ellipse">
            <a:avLst/>
          </a:prstGeom>
          <a:solidFill>
            <a:srgbClr val="D9534F"/>
          </a:solidFill>
          <a:ln w="10160">
            <a:solidFill>
              <a:srgbClr val="FFFFFF"/>
            </a:solidFill>
            <a:prstDash val="solid"/>
          </a:ln>
        </p:spPr>
      </p:sp>
      <p:sp>
        <p:nvSpPr>
          <p:cNvPr id="13" name="Text 11"/>
          <p:cNvSpPr/>
          <p:nvPr/>
        </p:nvSpPr>
        <p:spPr>
          <a:xfrm>
            <a:off x="612648" y="2350008"/>
            <a:ext cx="822960" cy="182880"/>
          </a:xfrm>
          <a:prstGeom prst="rect">
            <a:avLst/>
          </a:prstGeom>
          <a:noFill/>
          <a:ln/>
        </p:spPr>
        <p:txBody>
          <a:bodyPr wrap="square" lIns="0" tIns="0" rIns="0" bIns="0" rtlCol="0" anchor="ctr">
            <a:normAutofit/>
          </a:bodyPr>
          <a:lstStyle/>
          <a:p>
            <a:pPr algn="l" indent="0" marL="0">
              <a:buNone/>
            </a:pPr>
            <a:r>
              <a:rPr lang="en-US" sz="670" dirty="0">
                <a:solidFill>
                  <a:srgbClr val="647586"/>
                </a:solidFill>
                <a:latin typeface="Noto Sans CJK KR" pitchFamily="34" charset="0"/>
                <a:ea typeface="Noto Sans CJK KR" pitchFamily="34" charset="-122"/>
                <a:cs typeface="Noto Sans CJK KR" pitchFamily="34" charset="-120"/>
              </a:rPr>
              <a:t>저 6,449</a:t>
            </a:r>
            <a:endParaRPr lang="en-US" sz="670" dirty="0"/>
          </a:p>
        </p:txBody>
      </p:sp>
      <p:sp>
        <p:nvSpPr>
          <p:cNvPr id="14" name="Text 12"/>
          <p:cNvSpPr/>
          <p:nvPr/>
        </p:nvSpPr>
        <p:spPr>
          <a:xfrm>
            <a:off x="2216210" y="2414016"/>
            <a:ext cx="640080" cy="182880"/>
          </a:xfrm>
          <a:prstGeom prst="rect">
            <a:avLst/>
          </a:prstGeom>
          <a:noFill/>
          <a:ln/>
        </p:spPr>
        <p:txBody>
          <a:bodyPr wrap="square" lIns="0" tIns="0" rIns="0" bIns="0" rtlCol="0" anchor="ctr">
            <a:normAutofit/>
          </a:bodyPr>
          <a:lstStyle/>
          <a:p>
            <a:pPr algn="ctr" indent="0" marL="0">
              <a:buNone/>
            </a:pPr>
            <a:r>
              <a:rPr lang="en-US" sz="650" dirty="0">
                <a:solidFill>
                  <a:srgbClr val="D8A63C"/>
                </a:solidFill>
                <a:latin typeface="Noto Sans CJK KR" pitchFamily="34" charset="0"/>
                <a:ea typeface="Noto Sans CJK KR" pitchFamily="34" charset="-122"/>
                <a:cs typeface="Noto Sans CJK KR" pitchFamily="34" charset="-120"/>
              </a:rPr>
              <a:t>전일 6,807</a:t>
            </a:r>
            <a:endParaRPr lang="en-US" sz="650" dirty="0"/>
          </a:p>
        </p:txBody>
      </p:sp>
      <p:sp>
        <p:nvSpPr>
          <p:cNvPr id="15" name="Text 13"/>
          <p:cNvSpPr/>
          <p:nvPr/>
        </p:nvSpPr>
        <p:spPr>
          <a:xfrm>
            <a:off x="2040199" y="2002536"/>
            <a:ext cx="585216" cy="182880"/>
          </a:xfrm>
          <a:prstGeom prst="rect">
            <a:avLst/>
          </a:prstGeom>
          <a:noFill/>
          <a:ln/>
        </p:spPr>
        <p:txBody>
          <a:bodyPr wrap="square" lIns="0" tIns="0" rIns="0" bIns="0" rtlCol="0" anchor="ctr">
            <a:normAutofit/>
          </a:bodyPr>
          <a:lstStyle/>
          <a:p>
            <a:pPr algn="ctr" indent="0" marL="0">
              <a:buNone/>
            </a:pPr>
            <a:r>
              <a:rPr lang="en-US" sz="650" dirty="0">
                <a:solidFill>
                  <a:srgbClr val="465866"/>
                </a:solidFill>
                <a:latin typeface="Noto Sans CJK KR" pitchFamily="34" charset="0"/>
                <a:ea typeface="Noto Sans CJK KR" pitchFamily="34" charset="-122"/>
                <a:cs typeface="Noto Sans CJK KR" pitchFamily="34" charset="-120"/>
              </a:rPr>
              <a:t>시가 6,769</a:t>
            </a:r>
            <a:endParaRPr lang="en-US" sz="650" dirty="0"/>
          </a:p>
        </p:txBody>
      </p:sp>
      <p:sp>
        <p:nvSpPr>
          <p:cNvPr id="16" name="Text 14"/>
          <p:cNvSpPr/>
          <p:nvPr/>
        </p:nvSpPr>
        <p:spPr>
          <a:xfrm>
            <a:off x="2642616" y="2350008"/>
            <a:ext cx="822960" cy="182880"/>
          </a:xfrm>
          <a:prstGeom prst="rect">
            <a:avLst/>
          </a:prstGeom>
          <a:noFill/>
          <a:ln/>
        </p:spPr>
        <p:txBody>
          <a:bodyPr wrap="square" lIns="0" tIns="0" rIns="0" bIns="0" rtlCol="0" anchor="ctr">
            <a:normAutofit/>
          </a:bodyPr>
          <a:lstStyle/>
          <a:p>
            <a:pPr algn="r" indent="0" marL="0">
              <a:buNone/>
            </a:pPr>
            <a:r>
              <a:rPr lang="en-US" sz="670" dirty="0">
                <a:solidFill>
                  <a:srgbClr val="647586"/>
                </a:solidFill>
                <a:latin typeface="Noto Sans CJK KR" pitchFamily="34" charset="0"/>
                <a:ea typeface="Noto Sans CJK KR" pitchFamily="34" charset="-122"/>
                <a:cs typeface="Noto Sans CJK KR" pitchFamily="34" charset="-120"/>
              </a:rPr>
              <a:t>고 6,980</a:t>
            </a:r>
            <a:endParaRPr lang="en-US" sz="670" dirty="0"/>
          </a:p>
        </p:txBody>
      </p:sp>
      <p:sp>
        <p:nvSpPr>
          <p:cNvPr id="17" name="Text 15"/>
          <p:cNvSpPr/>
          <p:nvPr/>
        </p:nvSpPr>
        <p:spPr>
          <a:xfrm>
            <a:off x="548640" y="2542032"/>
            <a:ext cx="2980944" cy="173736"/>
          </a:xfrm>
          <a:prstGeom prst="rect">
            <a:avLst/>
          </a:prstGeom>
          <a:noFill/>
          <a:ln/>
        </p:spPr>
        <p:txBody>
          <a:bodyPr wrap="square" lIns="0" tIns="0" rIns="0" bIns="0" rtlCol="0" anchor="ctr">
            <a:normAutofit/>
          </a:bodyPr>
          <a:lstStyle/>
          <a:p>
            <a:pPr algn="r" indent="0" marL="0">
              <a:buNone/>
            </a:pPr>
            <a:r>
              <a:rPr lang="en-US" sz="750" b="1" dirty="0">
                <a:solidFill>
                  <a:srgbClr val="D9534F"/>
                </a:solidFill>
                <a:latin typeface="NanumSquare" pitchFamily="34" charset="0"/>
                <a:ea typeface="NanumSquare" pitchFamily="34" charset="-122"/>
                <a:cs typeface="NanumSquare" pitchFamily="34" charset="-120"/>
              </a:rPr>
              <a:t>저점 대비 +7.3%</a:t>
            </a:r>
            <a:endParaRPr lang="en-US" sz="750" dirty="0"/>
          </a:p>
        </p:txBody>
      </p:sp>
      <p:sp>
        <p:nvSpPr>
          <p:cNvPr id="18" name="Shape 16"/>
          <p:cNvSpPr/>
          <p:nvPr/>
        </p:nvSpPr>
        <p:spPr>
          <a:xfrm>
            <a:off x="3849624" y="1572768"/>
            <a:ext cx="3310128" cy="1225296"/>
          </a:xfrm>
          <a:prstGeom prst="roundRect">
            <a:avLst>
              <a:gd name="adj" fmla="val 5970"/>
            </a:avLst>
          </a:prstGeom>
          <a:solidFill>
            <a:srgbClr val="FFFFFF"/>
          </a:solidFill>
          <a:ln w="10160">
            <a:solidFill>
              <a:srgbClr val="D8DEE5"/>
            </a:solidFill>
            <a:prstDash val="solid"/>
          </a:ln>
        </p:spPr>
      </p:sp>
      <p:sp>
        <p:nvSpPr>
          <p:cNvPr id="19" name="Text 17"/>
          <p:cNvSpPr/>
          <p:nvPr/>
        </p:nvSpPr>
        <p:spPr>
          <a:xfrm>
            <a:off x="3995928" y="1691640"/>
            <a:ext cx="1097280" cy="228600"/>
          </a:xfrm>
          <a:prstGeom prst="rect">
            <a:avLst/>
          </a:prstGeom>
          <a:noFill/>
          <a:ln/>
        </p:spPr>
        <p:txBody>
          <a:bodyPr wrap="square" lIns="0" tIns="0" rIns="0" bIns="0" rtlCol="0" anchor="ctr">
            <a:normAutofit/>
          </a:bodyPr>
          <a:lstStyle/>
          <a:p>
            <a:pPr algn="l" indent="0" marL="0">
              <a:buNone/>
            </a:pPr>
            <a:r>
              <a:rPr lang="en-US" sz="1100" b="1" dirty="0">
                <a:solidFill>
                  <a:srgbClr val="0B1F33"/>
                </a:solidFill>
                <a:latin typeface="NanumSquare" pitchFamily="34" charset="0"/>
                <a:ea typeface="NanumSquare" pitchFamily="34" charset="-122"/>
                <a:cs typeface="NanumSquare" pitchFamily="34" charset="-120"/>
              </a:rPr>
              <a:t>코스닥</a:t>
            </a:r>
            <a:endParaRPr lang="en-US" sz="1100" dirty="0"/>
          </a:p>
        </p:txBody>
      </p:sp>
      <p:sp>
        <p:nvSpPr>
          <p:cNvPr id="20" name="Text 18"/>
          <p:cNvSpPr/>
          <p:nvPr/>
        </p:nvSpPr>
        <p:spPr>
          <a:xfrm>
            <a:off x="4855464" y="1673352"/>
            <a:ext cx="1554480" cy="274320"/>
          </a:xfrm>
          <a:prstGeom prst="rect">
            <a:avLst/>
          </a:prstGeom>
          <a:noFill/>
          <a:ln/>
        </p:spPr>
        <p:txBody>
          <a:bodyPr wrap="square" lIns="0" tIns="0" rIns="0" bIns="0" rtlCol="0" anchor="ctr">
            <a:normAutofit/>
          </a:bodyPr>
          <a:lstStyle/>
          <a:p>
            <a:pPr algn="r" indent="0" marL="0">
              <a:buNone/>
            </a:pPr>
            <a:r>
              <a:rPr lang="en-US" sz="1500" b="1" dirty="0">
                <a:solidFill>
                  <a:srgbClr val="0B1F33"/>
                </a:solidFill>
                <a:latin typeface="NanumSquare" pitchFamily="34" charset="0"/>
                <a:ea typeface="NanumSquare" pitchFamily="34" charset="-122"/>
                <a:cs typeface="NanumSquare" pitchFamily="34" charset="-120"/>
              </a:rPr>
              <a:t>782.76</a:t>
            </a:r>
            <a:endParaRPr lang="en-US" sz="1500" dirty="0"/>
          </a:p>
        </p:txBody>
      </p:sp>
      <p:sp>
        <p:nvSpPr>
          <p:cNvPr id="21" name="Text 19"/>
          <p:cNvSpPr/>
          <p:nvPr/>
        </p:nvSpPr>
        <p:spPr>
          <a:xfrm>
            <a:off x="6446520" y="1691640"/>
            <a:ext cx="841248" cy="228600"/>
          </a:xfrm>
          <a:prstGeom prst="rect">
            <a:avLst/>
          </a:prstGeom>
          <a:noFill/>
          <a:ln/>
        </p:spPr>
        <p:txBody>
          <a:bodyPr wrap="square" lIns="0" tIns="0" rIns="0" bIns="0" rtlCol="0" anchor="ctr">
            <a:normAutofit/>
          </a:bodyPr>
          <a:lstStyle/>
          <a:p>
            <a:pPr algn="r" indent="0" marL="0">
              <a:buNone/>
            </a:pPr>
            <a:r>
              <a:rPr lang="en-US" sz="1050" b="1" dirty="0">
                <a:solidFill>
                  <a:srgbClr val="3B73B9"/>
                </a:solidFill>
                <a:latin typeface="NanumSquare" pitchFamily="34" charset="0"/>
                <a:ea typeface="NanumSquare" pitchFamily="34" charset="-122"/>
                <a:cs typeface="NanumSquare" pitchFamily="34" charset="-120"/>
              </a:rPr>
              <a:t>-2.08%</a:t>
            </a:r>
            <a:endParaRPr lang="en-US" sz="1050" dirty="0"/>
          </a:p>
        </p:txBody>
      </p:sp>
      <p:sp>
        <p:nvSpPr>
          <p:cNvPr id="22" name="Shape 20"/>
          <p:cNvSpPr/>
          <p:nvPr/>
        </p:nvSpPr>
        <p:spPr>
          <a:xfrm>
            <a:off x="4078224" y="2231136"/>
            <a:ext cx="2852928" cy="0"/>
          </a:xfrm>
          <a:prstGeom prst="line">
            <a:avLst/>
          </a:prstGeom>
          <a:noFill/>
          <a:ln w="38100">
            <a:solidFill>
              <a:srgbClr val="C8D0D8"/>
            </a:solidFill>
            <a:prstDash val="solid"/>
            <a:headEnd type="none"/>
            <a:tailEnd type="none"/>
          </a:ln>
        </p:spPr>
      </p:sp>
      <p:sp>
        <p:nvSpPr>
          <p:cNvPr id="23" name="Shape 21"/>
          <p:cNvSpPr/>
          <p:nvPr/>
        </p:nvSpPr>
        <p:spPr>
          <a:xfrm>
            <a:off x="6759771" y="2121408"/>
            <a:ext cx="0" cy="219456"/>
          </a:xfrm>
          <a:prstGeom prst="line">
            <a:avLst/>
          </a:prstGeom>
          <a:noFill/>
          <a:ln w="17780">
            <a:solidFill>
              <a:srgbClr val="D8A63C"/>
            </a:solidFill>
            <a:prstDash val="solid"/>
          </a:ln>
        </p:spPr>
      </p:sp>
      <p:sp>
        <p:nvSpPr>
          <p:cNvPr id="24" name="Shape 22"/>
          <p:cNvSpPr/>
          <p:nvPr/>
        </p:nvSpPr>
        <p:spPr>
          <a:xfrm>
            <a:off x="6640831" y="2139696"/>
            <a:ext cx="0" cy="182880"/>
          </a:xfrm>
          <a:prstGeom prst="line">
            <a:avLst/>
          </a:prstGeom>
          <a:noFill/>
          <a:ln w="15240">
            <a:solidFill>
              <a:srgbClr val="465866"/>
            </a:solidFill>
            <a:prstDash val="solid"/>
          </a:ln>
        </p:spPr>
      </p:sp>
      <p:sp>
        <p:nvSpPr>
          <p:cNvPr id="25" name="Shape 23"/>
          <p:cNvSpPr/>
          <p:nvPr/>
        </p:nvSpPr>
        <p:spPr>
          <a:xfrm>
            <a:off x="5812153" y="2180844"/>
            <a:ext cx="100584" cy="100584"/>
          </a:xfrm>
          <a:prstGeom prst="ellipse">
            <a:avLst/>
          </a:prstGeom>
          <a:solidFill>
            <a:srgbClr val="3B73B9"/>
          </a:solidFill>
          <a:ln w="10160">
            <a:solidFill>
              <a:srgbClr val="FFFFFF"/>
            </a:solidFill>
            <a:prstDash val="solid"/>
          </a:ln>
        </p:spPr>
      </p:sp>
      <p:sp>
        <p:nvSpPr>
          <p:cNvPr id="26" name="Text 24"/>
          <p:cNvSpPr/>
          <p:nvPr/>
        </p:nvSpPr>
        <p:spPr>
          <a:xfrm>
            <a:off x="4078224" y="2350008"/>
            <a:ext cx="822960" cy="182880"/>
          </a:xfrm>
          <a:prstGeom prst="rect">
            <a:avLst/>
          </a:prstGeom>
          <a:noFill/>
          <a:ln/>
        </p:spPr>
        <p:txBody>
          <a:bodyPr wrap="square" lIns="0" tIns="0" rIns="0" bIns="0" rtlCol="0" anchor="ctr">
            <a:normAutofit/>
          </a:bodyPr>
          <a:lstStyle/>
          <a:p>
            <a:pPr algn="l" indent="0" marL="0">
              <a:buNone/>
            </a:pPr>
            <a:r>
              <a:rPr lang="en-US" sz="670" dirty="0">
                <a:solidFill>
                  <a:srgbClr val="647586"/>
                </a:solidFill>
                <a:latin typeface="Noto Sans CJK KR" pitchFamily="34" charset="0"/>
                <a:ea typeface="Noto Sans CJK KR" pitchFamily="34" charset="-122"/>
                <a:cs typeface="Noto Sans CJK KR" pitchFamily="34" charset="-120"/>
              </a:rPr>
              <a:t>저 750</a:t>
            </a:r>
            <a:endParaRPr lang="en-US" sz="670" dirty="0"/>
          </a:p>
        </p:txBody>
      </p:sp>
      <p:sp>
        <p:nvSpPr>
          <p:cNvPr id="27" name="Text 25"/>
          <p:cNvSpPr/>
          <p:nvPr/>
        </p:nvSpPr>
        <p:spPr>
          <a:xfrm>
            <a:off x="6439731" y="2414016"/>
            <a:ext cx="640080" cy="182880"/>
          </a:xfrm>
          <a:prstGeom prst="rect">
            <a:avLst/>
          </a:prstGeom>
          <a:noFill/>
          <a:ln/>
        </p:spPr>
        <p:txBody>
          <a:bodyPr wrap="square" lIns="0" tIns="0" rIns="0" bIns="0" rtlCol="0" anchor="ctr">
            <a:normAutofit/>
          </a:bodyPr>
          <a:lstStyle/>
          <a:p>
            <a:pPr algn="ctr" indent="0" marL="0">
              <a:buNone/>
            </a:pPr>
            <a:r>
              <a:rPr lang="en-US" sz="650" dirty="0">
                <a:solidFill>
                  <a:srgbClr val="D8A63C"/>
                </a:solidFill>
                <a:latin typeface="Noto Sans CJK KR" pitchFamily="34" charset="0"/>
                <a:ea typeface="Noto Sans CJK KR" pitchFamily="34" charset="-122"/>
                <a:cs typeface="Noto Sans CJK KR" pitchFamily="34" charset="-120"/>
              </a:rPr>
              <a:t>전일 799</a:t>
            </a:r>
            <a:endParaRPr lang="en-US" sz="650" dirty="0"/>
          </a:p>
        </p:txBody>
      </p:sp>
      <p:sp>
        <p:nvSpPr>
          <p:cNvPr id="28" name="Text 26"/>
          <p:cNvSpPr/>
          <p:nvPr/>
        </p:nvSpPr>
        <p:spPr>
          <a:xfrm>
            <a:off x="6348223" y="2002536"/>
            <a:ext cx="585216" cy="182880"/>
          </a:xfrm>
          <a:prstGeom prst="rect">
            <a:avLst/>
          </a:prstGeom>
          <a:noFill/>
          <a:ln/>
        </p:spPr>
        <p:txBody>
          <a:bodyPr wrap="square" lIns="0" tIns="0" rIns="0" bIns="0" rtlCol="0" anchor="ctr">
            <a:normAutofit/>
          </a:bodyPr>
          <a:lstStyle/>
          <a:p>
            <a:pPr algn="ctr" indent="0" marL="0">
              <a:buNone/>
            </a:pPr>
            <a:r>
              <a:rPr lang="en-US" sz="650" dirty="0">
                <a:solidFill>
                  <a:srgbClr val="465866"/>
                </a:solidFill>
                <a:latin typeface="Noto Sans CJK KR" pitchFamily="34" charset="0"/>
                <a:ea typeface="Noto Sans CJK KR" pitchFamily="34" charset="-122"/>
                <a:cs typeface="Noto Sans CJK KR" pitchFamily="34" charset="-120"/>
              </a:rPr>
              <a:t>시가 797</a:t>
            </a:r>
            <a:endParaRPr lang="en-US" sz="650" dirty="0"/>
          </a:p>
        </p:txBody>
      </p:sp>
      <p:sp>
        <p:nvSpPr>
          <p:cNvPr id="29" name="Text 27"/>
          <p:cNvSpPr/>
          <p:nvPr/>
        </p:nvSpPr>
        <p:spPr>
          <a:xfrm>
            <a:off x="6108192" y="2350008"/>
            <a:ext cx="822960" cy="182880"/>
          </a:xfrm>
          <a:prstGeom prst="rect">
            <a:avLst/>
          </a:prstGeom>
          <a:noFill/>
          <a:ln/>
        </p:spPr>
        <p:txBody>
          <a:bodyPr wrap="square" lIns="0" tIns="0" rIns="0" bIns="0" rtlCol="0" anchor="ctr">
            <a:normAutofit/>
          </a:bodyPr>
          <a:lstStyle/>
          <a:p>
            <a:pPr algn="r" indent="0" marL="0">
              <a:buNone/>
            </a:pPr>
            <a:r>
              <a:rPr lang="en-US" sz="670" dirty="0">
                <a:solidFill>
                  <a:srgbClr val="647586"/>
                </a:solidFill>
                <a:latin typeface="Noto Sans CJK KR" pitchFamily="34" charset="0"/>
                <a:ea typeface="Noto Sans CJK KR" pitchFamily="34" charset="-122"/>
                <a:cs typeface="Noto Sans CJK KR" pitchFamily="34" charset="-120"/>
              </a:rPr>
              <a:t>고 803</a:t>
            </a:r>
            <a:endParaRPr lang="en-US" sz="670" dirty="0"/>
          </a:p>
        </p:txBody>
      </p:sp>
      <p:sp>
        <p:nvSpPr>
          <p:cNvPr id="30" name="Text 28"/>
          <p:cNvSpPr/>
          <p:nvPr/>
        </p:nvSpPr>
        <p:spPr>
          <a:xfrm>
            <a:off x="4014216" y="2542032"/>
            <a:ext cx="2980944" cy="173736"/>
          </a:xfrm>
          <a:prstGeom prst="rect">
            <a:avLst/>
          </a:prstGeom>
          <a:noFill/>
          <a:ln/>
        </p:spPr>
        <p:txBody>
          <a:bodyPr wrap="square" lIns="0" tIns="0" rIns="0" bIns="0" rtlCol="0" anchor="ctr">
            <a:normAutofit/>
          </a:bodyPr>
          <a:lstStyle/>
          <a:p>
            <a:pPr algn="r" indent="0" marL="0">
              <a:buNone/>
            </a:pPr>
            <a:r>
              <a:rPr lang="en-US" sz="750" b="1" dirty="0">
                <a:solidFill>
                  <a:srgbClr val="3B73B9"/>
                </a:solidFill>
                <a:latin typeface="NanumSquare" pitchFamily="34" charset="0"/>
                <a:ea typeface="NanumSquare" pitchFamily="34" charset="-122"/>
                <a:cs typeface="NanumSquare" pitchFamily="34" charset="-120"/>
              </a:rPr>
              <a:t>저점 대비 +4.4%</a:t>
            </a:r>
            <a:endParaRPr lang="en-US" sz="750" dirty="0"/>
          </a:p>
        </p:txBody>
      </p:sp>
      <p:sp>
        <p:nvSpPr>
          <p:cNvPr id="31" name="Shape 29"/>
          <p:cNvSpPr/>
          <p:nvPr/>
        </p:nvSpPr>
        <p:spPr>
          <a:xfrm>
            <a:off x="384048" y="2944368"/>
            <a:ext cx="2139696" cy="1133856"/>
          </a:xfrm>
          <a:prstGeom prst="roundRect">
            <a:avLst>
              <a:gd name="adj" fmla="val 6452"/>
            </a:avLst>
          </a:prstGeom>
          <a:solidFill>
            <a:srgbClr val="FFFFFF"/>
          </a:solidFill>
          <a:ln w="10160">
            <a:solidFill>
              <a:srgbClr val="D8DEE5"/>
            </a:solidFill>
            <a:prstDash val="solid"/>
          </a:ln>
        </p:spPr>
      </p:sp>
      <p:sp>
        <p:nvSpPr>
          <p:cNvPr id="32" name="Text 30"/>
          <p:cNvSpPr/>
          <p:nvPr/>
        </p:nvSpPr>
        <p:spPr>
          <a:xfrm>
            <a:off x="512064" y="3035808"/>
            <a:ext cx="1883664" cy="164592"/>
          </a:xfrm>
          <a:prstGeom prst="rect">
            <a:avLst/>
          </a:prstGeom>
          <a:noFill/>
          <a:ln/>
        </p:spPr>
        <p:txBody>
          <a:bodyPr wrap="square" lIns="0" tIns="0" rIns="0" bIns="0" rtlCol="0" anchor="ctr">
            <a:normAutofit/>
          </a:bodyPr>
          <a:lstStyle/>
          <a:p>
            <a:pPr algn="l" indent="0" marL="0">
              <a:buNone/>
            </a:pPr>
            <a:r>
              <a:rPr lang="en-US" sz="750" b="1" dirty="0">
                <a:solidFill>
                  <a:srgbClr val="647586"/>
                </a:solidFill>
                <a:latin typeface="NanumSquare" pitchFamily="34" charset="0"/>
                <a:ea typeface="NanumSquare" pitchFamily="34" charset="-122"/>
                <a:cs typeface="NanumSquare" pitchFamily="34" charset="-120"/>
              </a:rPr>
              <a:t>USD/KRW PROXY</a:t>
            </a:r>
            <a:endParaRPr lang="en-US" sz="750" dirty="0"/>
          </a:p>
        </p:txBody>
      </p:sp>
      <p:sp>
        <p:nvSpPr>
          <p:cNvPr id="33" name="Text 31"/>
          <p:cNvSpPr/>
          <p:nvPr/>
        </p:nvSpPr>
        <p:spPr>
          <a:xfrm>
            <a:off x="512064" y="3264408"/>
            <a:ext cx="1883664" cy="292608"/>
          </a:xfrm>
          <a:prstGeom prst="rect">
            <a:avLst/>
          </a:prstGeom>
          <a:noFill/>
          <a:ln/>
        </p:spPr>
        <p:txBody>
          <a:bodyPr wrap="square" lIns="0" tIns="0" rIns="0" bIns="0" rtlCol="0" anchor="ctr">
            <a:normAutofit/>
          </a:bodyPr>
          <a:lstStyle/>
          <a:p>
            <a:pPr algn="l" indent="0" marL="0">
              <a:buNone/>
            </a:pPr>
            <a:r>
              <a:rPr lang="en-US" sz="1700" b="1" dirty="0">
                <a:solidFill>
                  <a:srgbClr val="0B1F33"/>
                </a:solidFill>
                <a:latin typeface="NanumSquare" pitchFamily="34" charset="0"/>
                <a:ea typeface="NanumSquare" pitchFamily="34" charset="-122"/>
                <a:cs typeface="NanumSquare" pitchFamily="34" charset="-120"/>
              </a:rPr>
              <a:t>1,490.90</a:t>
            </a:r>
            <a:endParaRPr lang="en-US" sz="1700" dirty="0"/>
          </a:p>
        </p:txBody>
      </p:sp>
      <p:sp>
        <p:nvSpPr>
          <p:cNvPr id="34" name="Text 32"/>
          <p:cNvSpPr/>
          <p:nvPr/>
        </p:nvSpPr>
        <p:spPr>
          <a:xfrm>
            <a:off x="512064" y="3602736"/>
            <a:ext cx="1883664" cy="201168"/>
          </a:xfrm>
          <a:prstGeom prst="rect">
            <a:avLst/>
          </a:prstGeom>
          <a:noFill/>
          <a:ln/>
        </p:spPr>
        <p:txBody>
          <a:bodyPr wrap="square" lIns="0" tIns="0" rIns="0" bIns="0" rtlCol="0" anchor="ctr">
            <a:normAutofit/>
          </a:bodyPr>
          <a:lstStyle/>
          <a:p>
            <a:pPr algn="l" indent="0" marL="0">
              <a:buNone/>
            </a:pPr>
            <a:r>
              <a:rPr lang="en-US" sz="900" b="1" dirty="0">
                <a:solidFill>
                  <a:srgbClr val="3B73B9"/>
                </a:solidFill>
                <a:latin typeface="NanumSquare" pitchFamily="34" charset="0"/>
                <a:ea typeface="NanumSquare" pitchFamily="34" charset="-122"/>
                <a:cs typeface="NanumSquare" pitchFamily="34" charset="-120"/>
              </a:rPr>
              <a:t>-0.57%</a:t>
            </a:r>
            <a:endParaRPr lang="en-US" sz="900" dirty="0"/>
          </a:p>
        </p:txBody>
      </p:sp>
      <p:sp>
        <p:nvSpPr>
          <p:cNvPr id="35" name="Text 33"/>
          <p:cNvSpPr/>
          <p:nvPr/>
        </p:nvSpPr>
        <p:spPr>
          <a:xfrm>
            <a:off x="512064" y="3767328"/>
            <a:ext cx="1883664" cy="219456"/>
          </a:xfrm>
          <a:prstGeom prst="rect">
            <a:avLst/>
          </a:prstGeom>
          <a:noFill/>
          <a:ln/>
        </p:spPr>
        <p:txBody>
          <a:bodyPr wrap="square" lIns="0" tIns="0" rIns="0" bIns="0" rtlCol="0" anchor="t">
            <a:normAutofit/>
          </a:bodyPr>
          <a:lstStyle/>
          <a:p>
            <a:pPr algn="l" indent="0" marL="0">
              <a:buNone/>
            </a:pPr>
            <a:r>
              <a:rPr lang="en-US" sz="650" dirty="0">
                <a:solidFill>
                  <a:srgbClr val="647586"/>
                </a:solidFill>
                <a:latin typeface="Noto Sans CJK KR" pitchFamily="34" charset="0"/>
                <a:ea typeface="Noto Sans CJK KR" pitchFamily="34" charset="-122"/>
                <a:cs typeface="Noto Sans CJK KR" pitchFamily="34" charset="-120"/>
              </a:rPr>
              <a:t>하나은행 고시환율 · 14:44</a:t>
            </a:r>
            <a:endParaRPr lang="en-US" sz="650" dirty="0"/>
          </a:p>
        </p:txBody>
      </p:sp>
      <p:sp>
        <p:nvSpPr>
          <p:cNvPr id="36" name="Shape 34"/>
          <p:cNvSpPr/>
          <p:nvPr/>
        </p:nvSpPr>
        <p:spPr>
          <a:xfrm>
            <a:off x="2670048" y="2944368"/>
            <a:ext cx="2139696" cy="1133856"/>
          </a:xfrm>
          <a:prstGeom prst="roundRect">
            <a:avLst>
              <a:gd name="adj" fmla="val 6452"/>
            </a:avLst>
          </a:prstGeom>
          <a:solidFill>
            <a:srgbClr val="FFFFFF"/>
          </a:solidFill>
          <a:ln w="10160">
            <a:solidFill>
              <a:srgbClr val="D8DEE5"/>
            </a:solidFill>
            <a:prstDash val="solid"/>
          </a:ln>
        </p:spPr>
      </p:sp>
      <p:sp>
        <p:nvSpPr>
          <p:cNvPr id="37" name="Text 35"/>
          <p:cNvSpPr/>
          <p:nvPr/>
        </p:nvSpPr>
        <p:spPr>
          <a:xfrm>
            <a:off x="2798064" y="3035808"/>
            <a:ext cx="1883664" cy="164592"/>
          </a:xfrm>
          <a:prstGeom prst="rect">
            <a:avLst/>
          </a:prstGeom>
          <a:noFill/>
          <a:ln/>
        </p:spPr>
        <p:txBody>
          <a:bodyPr wrap="square" lIns="0" tIns="0" rIns="0" bIns="0" rtlCol="0" anchor="ctr">
            <a:normAutofit/>
          </a:bodyPr>
          <a:lstStyle/>
          <a:p>
            <a:pPr algn="l" indent="0" marL="0">
              <a:buNone/>
            </a:pPr>
            <a:r>
              <a:rPr lang="en-US" sz="750" b="1" dirty="0">
                <a:solidFill>
                  <a:srgbClr val="647586"/>
                </a:solidFill>
                <a:latin typeface="NanumSquare" pitchFamily="34" charset="0"/>
                <a:ea typeface="NanumSquare" pitchFamily="34" charset="-122"/>
                <a:cs typeface="NanumSquare" pitchFamily="34" charset="-120"/>
              </a:rPr>
              <a:t>KOSPI 상승 종목 비율</a:t>
            </a:r>
            <a:endParaRPr lang="en-US" sz="750" dirty="0"/>
          </a:p>
        </p:txBody>
      </p:sp>
      <p:sp>
        <p:nvSpPr>
          <p:cNvPr id="38" name="Text 36"/>
          <p:cNvSpPr/>
          <p:nvPr/>
        </p:nvSpPr>
        <p:spPr>
          <a:xfrm>
            <a:off x="2798064" y="3264408"/>
            <a:ext cx="1883664" cy="292608"/>
          </a:xfrm>
          <a:prstGeom prst="rect">
            <a:avLst/>
          </a:prstGeom>
          <a:noFill/>
          <a:ln/>
        </p:spPr>
        <p:txBody>
          <a:bodyPr wrap="square" lIns="0" tIns="0" rIns="0" bIns="0" rtlCol="0" anchor="ctr">
            <a:normAutofit/>
          </a:bodyPr>
          <a:lstStyle/>
          <a:p>
            <a:pPr algn="l" indent="0" marL="0">
              <a:buNone/>
            </a:pPr>
            <a:r>
              <a:rPr lang="en-US" sz="1700" b="1" dirty="0">
                <a:solidFill>
                  <a:srgbClr val="0B1F33"/>
                </a:solidFill>
                <a:latin typeface="NanumSquare" pitchFamily="34" charset="0"/>
                <a:ea typeface="NanumSquare" pitchFamily="34" charset="-122"/>
                <a:cs typeface="NanumSquare" pitchFamily="34" charset="-120"/>
              </a:rPr>
              <a:t>30.9%</a:t>
            </a:r>
            <a:endParaRPr lang="en-US" sz="1700" dirty="0"/>
          </a:p>
        </p:txBody>
      </p:sp>
      <p:sp>
        <p:nvSpPr>
          <p:cNvPr id="39" name="Text 37"/>
          <p:cNvSpPr/>
          <p:nvPr/>
        </p:nvSpPr>
        <p:spPr>
          <a:xfrm>
            <a:off x="2798064" y="3602736"/>
            <a:ext cx="1883664" cy="201168"/>
          </a:xfrm>
          <a:prstGeom prst="rect">
            <a:avLst/>
          </a:prstGeom>
          <a:noFill/>
          <a:ln/>
        </p:spPr>
        <p:txBody>
          <a:bodyPr wrap="square" lIns="0" tIns="0" rIns="0" bIns="0" rtlCol="0" anchor="ctr">
            <a:normAutofit/>
          </a:bodyPr>
          <a:lstStyle/>
          <a:p>
            <a:pPr algn="l" indent="0" marL="0">
              <a:buNone/>
            </a:pPr>
            <a:r>
              <a:rPr lang="en-US" sz="900" b="1" dirty="0">
                <a:solidFill>
                  <a:srgbClr val="3B73B9"/>
                </a:solidFill>
                <a:latin typeface="NanumSquare" pitchFamily="34" charset="0"/>
                <a:ea typeface="NanumSquare" pitchFamily="34" charset="-122"/>
                <a:cs typeface="NanumSquare" pitchFamily="34" charset="-120"/>
              </a:rPr>
              <a:t>272 상승 / 608 하락</a:t>
            </a:r>
            <a:endParaRPr lang="en-US" sz="900" dirty="0"/>
          </a:p>
        </p:txBody>
      </p:sp>
      <p:sp>
        <p:nvSpPr>
          <p:cNvPr id="40" name="Text 38"/>
          <p:cNvSpPr/>
          <p:nvPr/>
        </p:nvSpPr>
        <p:spPr>
          <a:xfrm>
            <a:off x="2798064" y="3767328"/>
            <a:ext cx="1883664" cy="219456"/>
          </a:xfrm>
          <a:prstGeom prst="rect">
            <a:avLst/>
          </a:prstGeom>
          <a:noFill/>
          <a:ln/>
        </p:spPr>
        <p:txBody>
          <a:bodyPr wrap="square" lIns="0" tIns="0" rIns="0" bIns="0" rtlCol="0" anchor="t">
            <a:normAutofit/>
          </a:bodyPr>
          <a:lstStyle/>
          <a:p>
            <a:pPr algn="l" indent="0" marL="0">
              <a:buNone/>
            </a:pPr>
            <a:r>
              <a:rPr lang="en-US" sz="650" dirty="0">
                <a:solidFill>
                  <a:srgbClr val="647586"/>
                </a:solidFill>
                <a:latin typeface="Noto Sans CJK KR" pitchFamily="34" charset="0"/>
                <a:ea typeface="Noto Sans CJK KR" pitchFamily="34" charset="-122"/>
                <a:cs typeface="Noto Sans CJK KR" pitchFamily="34" charset="-120"/>
              </a:rPr>
              <a:t>보합 제외</a:t>
            </a:r>
            <a:endParaRPr lang="en-US" sz="650" dirty="0"/>
          </a:p>
        </p:txBody>
      </p:sp>
      <p:sp>
        <p:nvSpPr>
          <p:cNvPr id="41" name="Shape 39"/>
          <p:cNvSpPr/>
          <p:nvPr/>
        </p:nvSpPr>
        <p:spPr>
          <a:xfrm>
            <a:off x="4956048" y="2944368"/>
            <a:ext cx="2203704" cy="1133856"/>
          </a:xfrm>
          <a:prstGeom prst="roundRect">
            <a:avLst>
              <a:gd name="adj" fmla="val 6452"/>
            </a:avLst>
          </a:prstGeom>
          <a:solidFill>
            <a:srgbClr val="FFFFFF"/>
          </a:solidFill>
          <a:ln w="10160">
            <a:solidFill>
              <a:srgbClr val="D8DEE5"/>
            </a:solidFill>
            <a:prstDash val="solid"/>
          </a:ln>
        </p:spPr>
      </p:sp>
      <p:sp>
        <p:nvSpPr>
          <p:cNvPr id="42" name="Text 40"/>
          <p:cNvSpPr/>
          <p:nvPr/>
        </p:nvSpPr>
        <p:spPr>
          <a:xfrm>
            <a:off x="5084064" y="3035808"/>
            <a:ext cx="1947672" cy="164592"/>
          </a:xfrm>
          <a:prstGeom prst="rect">
            <a:avLst/>
          </a:prstGeom>
          <a:noFill/>
          <a:ln/>
        </p:spPr>
        <p:txBody>
          <a:bodyPr wrap="square" lIns="0" tIns="0" rIns="0" bIns="0" rtlCol="0" anchor="ctr">
            <a:normAutofit/>
          </a:bodyPr>
          <a:lstStyle/>
          <a:p>
            <a:pPr algn="l" indent="0" marL="0">
              <a:buNone/>
            </a:pPr>
            <a:r>
              <a:rPr lang="en-US" sz="750" b="1" dirty="0">
                <a:solidFill>
                  <a:srgbClr val="647586"/>
                </a:solidFill>
                <a:latin typeface="NanumSquare" pitchFamily="34" charset="0"/>
                <a:ea typeface="NanumSquare" pitchFamily="34" charset="-122"/>
                <a:cs typeface="NanumSquare" pitchFamily="34" charset="-120"/>
              </a:rPr>
              <a:t>KOSDAQ 상승 종목 비율</a:t>
            </a:r>
            <a:endParaRPr lang="en-US" sz="750" dirty="0"/>
          </a:p>
        </p:txBody>
      </p:sp>
      <p:sp>
        <p:nvSpPr>
          <p:cNvPr id="43" name="Text 41"/>
          <p:cNvSpPr/>
          <p:nvPr/>
        </p:nvSpPr>
        <p:spPr>
          <a:xfrm>
            <a:off x="5084064" y="3264408"/>
            <a:ext cx="1947672" cy="292608"/>
          </a:xfrm>
          <a:prstGeom prst="rect">
            <a:avLst/>
          </a:prstGeom>
          <a:noFill/>
          <a:ln/>
        </p:spPr>
        <p:txBody>
          <a:bodyPr wrap="square" lIns="0" tIns="0" rIns="0" bIns="0" rtlCol="0" anchor="ctr">
            <a:normAutofit/>
          </a:bodyPr>
          <a:lstStyle/>
          <a:p>
            <a:pPr algn="l" indent="0" marL="0">
              <a:buNone/>
            </a:pPr>
            <a:r>
              <a:rPr lang="en-US" sz="1700" b="1" dirty="0">
                <a:solidFill>
                  <a:srgbClr val="0B1F33"/>
                </a:solidFill>
                <a:latin typeface="NanumSquare" pitchFamily="34" charset="0"/>
                <a:ea typeface="NanumSquare" pitchFamily="34" charset="-122"/>
                <a:cs typeface="NanumSquare" pitchFamily="34" charset="-120"/>
              </a:rPr>
              <a:t>24.6%</a:t>
            </a:r>
            <a:endParaRPr lang="en-US" sz="1700" dirty="0"/>
          </a:p>
        </p:txBody>
      </p:sp>
      <p:sp>
        <p:nvSpPr>
          <p:cNvPr id="44" name="Text 42"/>
          <p:cNvSpPr/>
          <p:nvPr/>
        </p:nvSpPr>
        <p:spPr>
          <a:xfrm>
            <a:off x="5084064" y="3602736"/>
            <a:ext cx="1947672" cy="201168"/>
          </a:xfrm>
          <a:prstGeom prst="rect">
            <a:avLst/>
          </a:prstGeom>
          <a:noFill/>
          <a:ln/>
        </p:spPr>
        <p:txBody>
          <a:bodyPr wrap="square" lIns="0" tIns="0" rIns="0" bIns="0" rtlCol="0" anchor="ctr">
            <a:normAutofit/>
          </a:bodyPr>
          <a:lstStyle/>
          <a:p>
            <a:pPr algn="l" indent="0" marL="0">
              <a:buNone/>
            </a:pPr>
            <a:r>
              <a:rPr lang="en-US" sz="900" b="1" dirty="0">
                <a:solidFill>
                  <a:srgbClr val="3B73B9"/>
                </a:solidFill>
                <a:latin typeface="NanumSquare" pitchFamily="34" charset="0"/>
                <a:ea typeface="NanumSquare" pitchFamily="34" charset="-122"/>
                <a:cs typeface="NanumSquare" pitchFamily="34" charset="-120"/>
              </a:rPr>
              <a:t>409 상승 / 1,254 하락</a:t>
            </a:r>
            <a:endParaRPr lang="en-US" sz="900" dirty="0"/>
          </a:p>
        </p:txBody>
      </p:sp>
      <p:sp>
        <p:nvSpPr>
          <p:cNvPr id="45" name="Text 43"/>
          <p:cNvSpPr/>
          <p:nvPr/>
        </p:nvSpPr>
        <p:spPr>
          <a:xfrm>
            <a:off x="5084064" y="3767328"/>
            <a:ext cx="1947672" cy="219456"/>
          </a:xfrm>
          <a:prstGeom prst="rect">
            <a:avLst/>
          </a:prstGeom>
          <a:noFill/>
          <a:ln/>
        </p:spPr>
        <p:txBody>
          <a:bodyPr wrap="square" lIns="0" tIns="0" rIns="0" bIns="0" rtlCol="0" anchor="t">
            <a:normAutofit/>
          </a:bodyPr>
          <a:lstStyle/>
          <a:p>
            <a:pPr algn="l" indent="0" marL="0">
              <a:buNone/>
            </a:pPr>
            <a:r>
              <a:rPr lang="en-US" sz="650" dirty="0">
                <a:solidFill>
                  <a:srgbClr val="647586"/>
                </a:solidFill>
                <a:latin typeface="Noto Sans CJK KR" pitchFamily="34" charset="0"/>
                <a:ea typeface="Noto Sans CJK KR" pitchFamily="34" charset="-122"/>
                <a:cs typeface="Noto Sans CJK KR" pitchFamily="34" charset="-120"/>
              </a:rPr>
              <a:t>보합 제외</a:t>
            </a:r>
            <a:endParaRPr lang="en-US" sz="650" dirty="0"/>
          </a:p>
        </p:txBody>
      </p:sp>
      <p:sp>
        <p:nvSpPr>
          <p:cNvPr id="46" name="Text 44"/>
          <p:cNvSpPr/>
          <p:nvPr/>
        </p:nvSpPr>
        <p:spPr>
          <a:xfrm>
            <a:off x="384048" y="4352544"/>
            <a:ext cx="3246120" cy="274320"/>
          </a:xfrm>
          <a:prstGeom prst="rect">
            <a:avLst/>
          </a:prstGeom>
          <a:noFill/>
          <a:ln/>
        </p:spPr>
        <p:txBody>
          <a:bodyPr wrap="square" lIns="0" tIns="0" rIns="0" bIns="0" rtlCol="0" anchor="ctr">
            <a:normAutofit/>
          </a:bodyPr>
          <a:lstStyle/>
          <a:p>
            <a:pPr algn="l" indent="0" marL="0">
              <a:buNone/>
            </a:pPr>
            <a:r>
              <a:rPr lang="en-US" sz="1300" b="1" dirty="0">
                <a:solidFill>
                  <a:srgbClr val="0B1F33"/>
                </a:solidFill>
                <a:latin typeface="NanumSquare" pitchFamily="34" charset="0"/>
                <a:ea typeface="NanumSquare" pitchFamily="34" charset="-122"/>
                <a:cs typeface="NanumSquare" pitchFamily="34" charset="-120"/>
              </a:rPr>
              <a:t>오늘 시장 5문장</a:t>
            </a:r>
            <a:endParaRPr lang="en-US" sz="1300" dirty="0"/>
          </a:p>
        </p:txBody>
      </p:sp>
      <p:sp>
        <p:nvSpPr>
          <p:cNvPr id="47" name="Shape 45"/>
          <p:cNvSpPr/>
          <p:nvPr/>
        </p:nvSpPr>
        <p:spPr>
          <a:xfrm>
            <a:off x="420624" y="4786884"/>
            <a:ext cx="50292" cy="50292"/>
          </a:xfrm>
          <a:prstGeom prst="ellipse">
            <a:avLst/>
          </a:prstGeom>
          <a:solidFill>
            <a:srgbClr val="D9534F"/>
          </a:solidFill>
          <a:ln w="12700">
            <a:solidFill>
              <a:srgbClr val="D9534F"/>
            </a:solidFill>
            <a:prstDash val="solid"/>
          </a:ln>
        </p:spPr>
      </p:sp>
      <p:sp>
        <p:nvSpPr>
          <p:cNvPr id="48" name="Text 46"/>
          <p:cNvSpPr/>
          <p:nvPr/>
        </p:nvSpPr>
        <p:spPr>
          <a:xfrm>
            <a:off x="539496" y="4727448"/>
            <a:ext cx="3054096" cy="548640"/>
          </a:xfrm>
          <a:prstGeom prst="rect">
            <a:avLst/>
          </a:prstGeom>
          <a:noFill/>
          <a:ln/>
        </p:spPr>
        <p:txBody>
          <a:bodyPr wrap="square" lIns="0" tIns="0" rIns="0" bIns="0" rtlCol="0" anchor="t">
            <a:normAutofit/>
          </a:bodyPr>
          <a:lstStyle/>
          <a:p>
            <a:pPr algn="l" indent="0" marL="0">
              <a:buNone/>
            </a:pPr>
            <a:r>
              <a:rPr lang="en-US" sz="870" dirty="0">
                <a:solidFill>
                  <a:srgbClr val="17212B"/>
                </a:solidFill>
                <a:latin typeface="Noto Sans CJK KR" pitchFamily="34" charset="0"/>
                <a:ea typeface="Noto Sans CJK KR" pitchFamily="34" charset="-122"/>
                <a:cs typeface="Noto Sans CJK KR" pitchFamily="34" charset="-120"/>
              </a:rPr>
              <a:t>코스피는 +1.61%로 장중 저점 대비 7.26% 반등했지만, 방향성 종목 중 상승 비율은 30.91%에 그쳤다.</a:t>
            </a:r>
            <a:endParaRPr lang="en-US" sz="870" dirty="0"/>
          </a:p>
        </p:txBody>
      </p:sp>
      <p:sp>
        <p:nvSpPr>
          <p:cNvPr id="49" name="Shape 47"/>
          <p:cNvSpPr/>
          <p:nvPr/>
        </p:nvSpPr>
        <p:spPr>
          <a:xfrm>
            <a:off x="420624" y="5481828"/>
            <a:ext cx="50292" cy="50292"/>
          </a:xfrm>
          <a:prstGeom prst="ellipse">
            <a:avLst/>
          </a:prstGeom>
          <a:solidFill>
            <a:srgbClr val="00A6A6"/>
          </a:solidFill>
          <a:ln w="12700">
            <a:solidFill>
              <a:srgbClr val="00A6A6"/>
            </a:solidFill>
            <a:prstDash val="solid"/>
          </a:ln>
        </p:spPr>
      </p:sp>
      <p:sp>
        <p:nvSpPr>
          <p:cNvPr id="50" name="Text 48"/>
          <p:cNvSpPr/>
          <p:nvPr/>
        </p:nvSpPr>
        <p:spPr>
          <a:xfrm>
            <a:off x="539496" y="5422392"/>
            <a:ext cx="3054096" cy="548640"/>
          </a:xfrm>
          <a:prstGeom prst="rect">
            <a:avLst/>
          </a:prstGeom>
          <a:noFill/>
          <a:ln/>
        </p:spPr>
        <p:txBody>
          <a:bodyPr wrap="square" lIns="0" tIns="0" rIns="0" bIns="0" rtlCol="0" anchor="t">
            <a:normAutofit/>
          </a:bodyPr>
          <a:lstStyle/>
          <a:p>
            <a:pPr algn="l" indent="0" marL="0">
              <a:buNone/>
            </a:pPr>
            <a:r>
              <a:rPr lang="en-US" sz="870" dirty="0">
                <a:solidFill>
                  <a:srgbClr val="17212B"/>
                </a:solidFill>
                <a:latin typeface="Noto Sans CJK KR" pitchFamily="34" charset="0"/>
                <a:ea typeface="Noto Sans CJK KR" pitchFamily="34" charset="-122"/>
                <a:cs typeface="Noto Sans CJK KR" pitchFamily="34" charset="-120"/>
              </a:rPr>
              <a:t>코스닥은 매도 사이드카와 52주 저점을 거친 뒤 낙폭을 줄였으나 -2.08%, 상승 종목 비율은 24.59%다.</a:t>
            </a:r>
            <a:endParaRPr lang="en-US" sz="870" dirty="0"/>
          </a:p>
        </p:txBody>
      </p:sp>
      <p:sp>
        <p:nvSpPr>
          <p:cNvPr id="51" name="Shape 49"/>
          <p:cNvSpPr/>
          <p:nvPr/>
        </p:nvSpPr>
        <p:spPr>
          <a:xfrm>
            <a:off x="420624" y="6176772"/>
            <a:ext cx="50292" cy="50292"/>
          </a:xfrm>
          <a:prstGeom prst="ellipse">
            <a:avLst/>
          </a:prstGeom>
          <a:solidFill>
            <a:srgbClr val="00A6A6"/>
          </a:solidFill>
          <a:ln w="12700">
            <a:solidFill>
              <a:srgbClr val="00A6A6"/>
            </a:solidFill>
            <a:prstDash val="solid"/>
          </a:ln>
        </p:spPr>
      </p:sp>
      <p:sp>
        <p:nvSpPr>
          <p:cNvPr id="52" name="Text 50"/>
          <p:cNvSpPr/>
          <p:nvPr/>
        </p:nvSpPr>
        <p:spPr>
          <a:xfrm>
            <a:off x="539496" y="6117336"/>
            <a:ext cx="3054096" cy="548640"/>
          </a:xfrm>
          <a:prstGeom prst="rect">
            <a:avLst/>
          </a:prstGeom>
          <a:noFill/>
          <a:ln/>
        </p:spPr>
        <p:txBody>
          <a:bodyPr wrap="square" lIns="0" tIns="0" rIns="0" bIns="0" rtlCol="0" anchor="t">
            <a:normAutofit/>
          </a:bodyPr>
          <a:lstStyle/>
          <a:p>
            <a:pPr algn="l" indent="0" marL="0">
              <a:buNone/>
            </a:pPr>
            <a:r>
              <a:rPr lang="en-US" sz="870" dirty="0">
                <a:solidFill>
                  <a:srgbClr val="17212B"/>
                </a:solidFill>
                <a:latin typeface="Noto Sans CJK KR" pitchFamily="34" charset="0"/>
                <a:ea typeface="Noto Sans CJK KR" pitchFamily="34" charset="-122"/>
                <a:cs typeface="Noto Sans CJK KR" pitchFamily="34" charset="-120"/>
              </a:rPr>
              <a:t>삼성전자 +3.93%, SK하이닉스 +3.58%와 기관 +3조5,242억원, 프로그램 +9,127억원이 코스피를 지지했다.</a:t>
            </a:r>
            <a:endParaRPr lang="en-US" sz="870" dirty="0"/>
          </a:p>
        </p:txBody>
      </p:sp>
      <p:sp>
        <p:nvSpPr>
          <p:cNvPr id="53" name="Shape 51"/>
          <p:cNvSpPr/>
          <p:nvPr/>
        </p:nvSpPr>
        <p:spPr>
          <a:xfrm>
            <a:off x="420624" y="6871716"/>
            <a:ext cx="50292" cy="50292"/>
          </a:xfrm>
          <a:prstGeom prst="ellipse">
            <a:avLst/>
          </a:prstGeom>
          <a:solidFill>
            <a:srgbClr val="00A6A6"/>
          </a:solidFill>
          <a:ln w="12700">
            <a:solidFill>
              <a:srgbClr val="00A6A6"/>
            </a:solidFill>
            <a:prstDash val="solid"/>
          </a:ln>
        </p:spPr>
      </p:sp>
      <p:sp>
        <p:nvSpPr>
          <p:cNvPr id="54" name="Text 52"/>
          <p:cNvSpPr/>
          <p:nvPr/>
        </p:nvSpPr>
        <p:spPr>
          <a:xfrm>
            <a:off x="539496" y="6812280"/>
            <a:ext cx="3054096" cy="548640"/>
          </a:xfrm>
          <a:prstGeom prst="rect">
            <a:avLst/>
          </a:prstGeom>
          <a:noFill/>
          <a:ln/>
        </p:spPr>
        <p:txBody>
          <a:bodyPr wrap="square" lIns="0" tIns="0" rIns="0" bIns="0" rtlCol="0" anchor="t">
            <a:normAutofit/>
          </a:bodyPr>
          <a:lstStyle/>
          <a:p>
            <a:pPr algn="l" indent="0" marL="0">
              <a:buNone/>
            </a:pPr>
            <a:r>
              <a:rPr lang="en-US" sz="870" dirty="0">
                <a:solidFill>
                  <a:srgbClr val="17212B"/>
                </a:solidFill>
                <a:latin typeface="Noto Sans CJK KR" pitchFamily="34" charset="0"/>
                <a:ea typeface="Noto Sans CJK KR" pitchFamily="34" charset="-122"/>
                <a:cs typeface="Noto Sans CJK KR" pitchFamily="34" charset="-120"/>
              </a:rPr>
              <a:t>USD/KRW 은행 고시환율 프록시는 1,490.90원으로 0.57% 하락해 오전의 환율 부담을 일부 완화했다.</a:t>
            </a:r>
            <a:endParaRPr lang="en-US" sz="870" dirty="0"/>
          </a:p>
        </p:txBody>
      </p:sp>
      <p:sp>
        <p:nvSpPr>
          <p:cNvPr id="55" name="Shape 53"/>
          <p:cNvSpPr/>
          <p:nvPr/>
        </p:nvSpPr>
        <p:spPr>
          <a:xfrm>
            <a:off x="420624" y="7566660"/>
            <a:ext cx="50292" cy="50292"/>
          </a:xfrm>
          <a:prstGeom prst="ellipse">
            <a:avLst/>
          </a:prstGeom>
          <a:solidFill>
            <a:srgbClr val="00A6A6"/>
          </a:solidFill>
          <a:ln w="12700">
            <a:solidFill>
              <a:srgbClr val="00A6A6"/>
            </a:solidFill>
            <a:prstDash val="solid"/>
          </a:ln>
        </p:spPr>
      </p:sp>
      <p:sp>
        <p:nvSpPr>
          <p:cNvPr id="56" name="Text 54"/>
          <p:cNvSpPr/>
          <p:nvPr/>
        </p:nvSpPr>
        <p:spPr>
          <a:xfrm>
            <a:off x="539496" y="7507224"/>
            <a:ext cx="3054096" cy="548640"/>
          </a:xfrm>
          <a:prstGeom prst="rect">
            <a:avLst/>
          </a:prstGeom>
          <a:noFill/>
          <a:ln/>
        </p:spPr>
        <p:txBody>
          <a:bodyPr wrap="square" lIns="0" tIns="0" rIns="0" bIns="0" rtlCol="0" anchor="t">
            <a:normAutofit/>
          </a:bodyPr>
          <a:lstStyle/>
          <a:p>
            <a:pPr algn="l" indent="0" marL="0">
              <a:buNone/>
            </a:pPr>
            <a:r>
              <a:rPr lang="en-US" sz="870" dirty="0">
                <a:solidFill>
                  <a:srgbClr val="17212B"/>
                </a:solidFill>
                <a:latin typeface="Noto Sans CJK KR" pitchFamily="34" charset="0"/>
                <a:ea typeface="Noto Sans CJK KR" pitchFamily="34" charset="-122"/>
                <a:cs typeface="Noto Sans CJK KR" pitchFamily="34" charset="-120"/>
              </a:rPr>
              <a:t>오후 3시 레버리지 ETF 대응 회의, 밤 9시30분 미국 CPI, 15일 ASML 실적이 다음 판단 지점이다.</a:t>
            </a:r>
            <a:endParaRPr lang="en-US" sz="870" dirty="0"/>
          </a:p>
        </p:txBody>
      </p:sp>
      <p:sp>
        <p:nvSpPr>
          <p:cNvPr id="57" name="Text 55"/>
          <p:cNvSpPr/>
          <p:nvPr/>
        </p:nvSpPr>
        <p:spPr>
          <a:xfrm>
            <a:off x="3867912" y="4352544"/>
            <a:ext cx="3291840" cy="274320"/>
          </a:xfrm>
          <a:prstGeom prst="rect">
            <a:avLst/>
          </a:prstGeom>
          <a:noFill/>
          <a:ln/>
        </p:spPr>
        <p:txBody>
          <a:bodyPr wrap="square" lIns="0" tIns="0" rIns="0" bIns="0" rtlCol="0" anchor="ctr">
            <a:normAutofit/>
          </a:bodyPr>
          <a:lstStyle/>
          <a:p>
            <a:pPr algn="l" indent="0" marL="0">
              <a:buNone/>
            </a:pPr>
            <a:r>
              <a:rPr lang="en-US" sz="1300" b="1" dirty="0">
                <a:solidFill>
                  <a:srgbClr val="0B1F33"/>
                </a:solidFill>
                <a:latin typeface="NanumSquare" pitchFamily="34" charset="0"/>
                <a:ea typeface="NanumSquare" pitchFamily="34" charset="-122"/>
                <a:cs typeface="NanumSquare" pitchFamily="34" charset="-120"/>
              </a:rPr>
              <a:t>전일 글로벌 위험 신호</a:t>
            </a:r>
            <a:endParaRPr lang="en-US" sz="1300" dirty="0"/>
          </a:p>
        </p:txBody>
      </p:sp>
      <p:sp>
        <p:nvSpPr>
          <p:cNvPr id="58" name="Shape 56"/>
          <p:cNvSpPr/>
          <p:nvPr/>
        </p:nvSpPr>
        <p:spPr>
          <a:xfrm>
            <a:off x="3867912" y="4736592"/>
            <a:ext cx="1545336" cy="896112"/>
          </a:xfrm>
          <a:prstGeom prst="roundRect">
            <a:avLst>
              <a:gd name="adj" fmla="val 8163"/>
            </a:avLst>
          </a:prstGeom>
          <a:solidFill>
            <a:srgbClr val="E5EDF8"/>
          </a:solidFill>
          <a:ln w="10160">
            <a:solidFill>
              <a:srgbClr val="D8DEE5"/>
            </a:solidFill>
            <a:prstDash val="solid"/>
          </a:ln>
        </p:spPr>
      </p:sp>
      <p:sp>
        <p:nvSpPr>
          <p:cNvPr id="59" name="Text 57"/>
          <p:cNvSpPr/>
          <p:nvPr/>
        </p:nvSpPr>
        <p:spPr>
          <a:xfrm>
            <a:off x="3977640" y="4828032"/>
            <a:ext cx="1325880" cy="164592"/>
          </a:xfrm>
          <a:prstGeom prst="rect">
            <a:avLst/>
          </a:prstGeom>
          <a:noFill/>
          <a:ln/>
        </p:spPr>
        <p:txBody>
          <a:bodyPr wrap="square" lIns="0" tIns="0" rIns="0" bIns="0" rtlCol="0" anchor="ctr">
            <a:normAutofit/>
          </a:bodyPr>
          <a:lstStyle/>
          <a:p>
            <a:pPr algn="l" indent="0" marL="0">
              <a:buNone/>
            </a:pPr>
            <a:r>
              <a:rPr lang="en-US" sz="750" b="1" dirty="0">
                <a:solidFill>
                  <a:srgbClr val="647586"/>
                </a:solidFill>
                <a:latin typeface="NanumSquare" pitchFamily="34" charset="0"/>
                <a:ea typeface="NanumSquare" pitchFamily="34" charset="-122"/>
                <a:cs typeface="NanumSquare" pitchFamily="34" charset="-120"/>
              </a:rPr>
              <a:t>S&amp;P 500</a:t>
            </a:r>
            <a:endParaRPr lang="en-US" sz="750" dirty="0"/>
          </a:p>
        </p:txBody>
      </p:sp>
      <p:sp>
        <p:nvSpPr>
          <p:cNvPr id="60" name="Text 58"/>
          <p:cNvSpPr/>
          <p:nvPr/>
        </p:nvSpPr>
        <p:spPr>
          <a:xfrm>
            <a:off x="3977640" y="5029200"/>
            <a:ext cx="1325880" cy="274320"/>
          </a:xfrm>
          <a:prstGeom prst="rect">
            <a:avLst/>
          </a:prstGeom>
          <a:noFill/>
          <a:ln/>
        </p:spPr>
        <p:txBody>
          <a:bodyPr wrap="square" lIns="0" tIns="0" rIns="0" bIns="0" rtlCol="0" anchor="ctr">
            <a:normAutofit/>
          </a:bodyPr>
          <a:lstStyle/>
          <a:p>
            <a:pPr algn="l" indent="0" marL="0">
              <a:buNone/>
            </a:pPr>
            <a:r>
              <a:rPr lang="en-US" sz="1500" b="1" dirty="0">
                <a:solidFill>
                  <a:srgbClr val="3B73B9"/>
                </a:solidFill>
                <a:latin typeface="NanumSquare" pitchFamily="34" charset="0"/>
                <a:ea typeface="NanumSquare" pitchFamily="34" charset="-122"/>
                <a:cs typeface="NanumSquare" pitchFamily="34" charset="-120"/>
              </a:rPr>
              <a:t>-0.8%</a:t>
            </a:r>
            <a:endParaRPr lang="en-US" sz="1500" dirty="0"/>
          </a:p>
        </p:txBody>
      </p:sp>
      <p:sp>
        <p:nvSpPr>
          <p:cNvPr id="61" name="Text 59"/>
          <p:cNvSpPr/>
          <p:nvPr/>
        </p:nvSpPr>
        <p:spPr>
          <a:xfrm>
            <a:off x="3977640" y="5367528"/>
            <a:ext cx="1325880" cy="155448"/>
          </a:xfrm>
          <a:prstGeom prst="rect">
            <a:avLst/>
          </a:prstGeom>
          <a:noFill/>
          <a:ln/>
        </p:spPr>
        <p:txBody>
          <a:bodyPr wrap="square" lIns="0" tIns="0" rIns="0" bIns="0" rtlCol="0" anchor="ctr">
            <a:normAutofit/>
          </a:bodyPr>
          <a:lstStyle/>
          <a:p>
            <a:pPr algn="l" indent="0" marL="0">
              <a:buNone/>
            </a:pPr>
            <a:r>
              <a:rPr lang="en-US" sz="680" dirty="0">
                <a:solidFill>
                  <a:srgbClr val="465866"/>
                </a:solidFill>
                <a:latin typeface="Noto Sans CJK KR" pitchFamily="34" charset="0"/>
                <a:ea typeface="Noto Sans CJK KR" pitchFamily="34" charset="-122"/>
                <a:cs typeface="Noto Sans CJK KR" pitchFamily="34" charset="-120"/>
              </a:rPr>
              <a:t>미국 대형주</a:t>
            </a:r>
            <a:endParaRPr lang="en-US" sz="680" dirty="0"/>
          </a:p>
        </p:txBody>
      </p:sp>
      <p:sp>
        <p:nvSpPr>
          <p:cNvPr id="62" name="Shape 60"/>
          <p:cNvSpPr/>
          <p:nvPr/>
        </p:nvSpPr>
        <p:spPr>
          <a:xfrm>
            <a:off x="5550408" y="4736592"/>
            <a:ext cx="1545336" cy="896112"/>
          </a:xfrm>
          <a:prstGeom prst="roundRect">
            <a:avLst>
              <a:gd name="adj" fmla="val 8163"/>
            </a:avLst>
          </a:prstGeom>
          <a:solidFill>
            <a:srgbClr val="E5EDF8"/>
          </a:solidFill>
          <a:ln w="10160">
            <a:solidFill>
              <a:srgbClr val="D8DEE5"/>
            </a:solidFill>
            <a:prstDash val="solid"/>
          </a:ln>
        </p:spPr>
      </p:sp>
      <p:sp>
        <p:nvSpPr>
          <p:cNvPr id="63" name="Text 61"/>
          <p:cNvSpPr/>
          <p:nvPr/>
        </p:nvSpPr>
        <p:spPr>
          <a:xfrm>
            <a:off x="5660136" y="4828032"/>
            <a:ext cx="1325880" cy="164592"/>
          </a:xfrm>
          <a:prstGeom prst="rect">
            <a:avLst/>
          </a:prstGeom>
          <a:noFill/>
          <a:ln/>
        </p:spPr>
        <p:txBody>
          <a:bodyPr wrap="square" lIns="0" tIns="0" rIns="0" bIns="0" rtlCol="0" anchor="ctr">
            <a:normAutofit/>
          </a:bodyPr>
          <a:lstStyle/>
          <a:p>
            <a:pPr algn="l" indent="0" marL="0">
              <a:buNone/>
            </a:pPr>
            <a:r>
              <a:rPr lang="en-US" sz="750" b="1" dirty="0">
                <a:solidFill>
                  <a:srgbClr val="647586"/>
                </a:solidFill>
                <a:latin typeface="NanumSquare" pitchFamily="34" charset="0"/>
                <a:ea typeface="NanumSquare" pitchFamily="34" charset="-122"/>
                <a:cs typeface="NanumSquare" pitchFamily="34" charset="-120"/>
              </a:rPr>
              <a:t>NASDAQ</a:t>
            </a:r>
            <a:endParaRPr lang="en-US" sz="750" dirty="0"/>
          </a:p>
        </p:txBody>
      </p:sp>
      <p:sp>
        <p:nvSpPr>
          <p:cNvPr id="64" name="Text 62"/>
          <p:cNvSpPr/>
          <p:nvPr/>
        </p:nvSpPr>
        <p:spPr>
          <a:xfrm>
            <a:off x="5660136" y="5029200"/>
            <a:ext cx="1325880" cy="274320"/>
          </a:xfrm>
          <a:prstGeom prst="rect">
            <a:avLst/>
          </a:prstGeom>
          <a:noFill/>
          <a:ln/>
        </p:spPr>
        <p:txBody>
          <a:bodyPr wrap="square" lIns="0" tIns="0" rIns="0" bIns="0" rtlCol="0" anchor="ctr">
            <a:normAutofit/>
          </a:bodyPr>
          <a:lstStyle/>
          <a:p>
            <a:pPr algn="l" indent="0" marL="0">
              <a:buNone/>
            </a:pPr>
            <a:r>
              <a:rPr lang="en-US" sz="1500" b="1" dirty="0">
                <a:solidFill>
                  <a:srgbClr val="3B73B9"/>
                </a:solidFill>
                <a:latin typeface="NanumSquare" pitchFamily="34" charset="0"/>
                <a:ea typeface="NanumSquare" pitchFamily="34" charset="-122"/>
                <a:cs typeface="NanumSquare" pitchFamily="34" charset="-120"/>
              </a:rPr>
              <a:t>-1.6%</a:t>
            </a:r>
            <a:endParaRPr lang="en-US" sz="1500" dirty="0"/>
          </a:p>
        </p:txBody>
      </p:sp>
      <p:sp>
        <p:nvSpPr>
          <p:cNvPr id="65" name="Text 63"/>
          <p:cNvSpPr/>
          <p:nvPr/>
        </p:nvSpPr>
        <p:spPr>
          <a:xfrm>
            <a:off x="5660136" y="5367528"/>
            <a:ext cx="1325880" cy="155448"/>
          </a:xfrm>
          <a:prstGeom prst="rect">
            <a:avLst/>
          </a:prstGeom>
          <a:noFill/>
          <a:ln/>
        </p:spPr>
        <p:txBody>
          <a:bodyPr wrap="square" lIns="0" tIns="0" rIns="0" bIns="0" rtlCol="0" anchor="ctr">
            <a:normAutofit/>
          </a:bodyPr>
          <a:lstStyle/>
          <a:p>
            <a:pPr algn="l" indent="0" marL="0">
              <a:buNone/>
            </a:pPr>
            <a:r>
              <a:rPr lang="en-US" sz="680" dirty="0">
                <a:solidFill>
                  <a:srgbClr val="465866"/>
                </a:solidFill>
                <a:latin typeface="Noto Sans CJK KR" pitchFamily="34" charset="0"/>
                <a:ea typeface="Noto Sans CJK KR" pitchFamily="34" charset="-122"/>
                <a:cs typeface="Noto Sans CJK KR" pitchFamily="34" charset="-120"/>
              </a:rPr>
              <a:t>성장주</a:t>
            </a:r>
            <a:endParaRPr lang="en-US" sz="680" dirty="0"/>
          </a:p>
        </p:txBody>
      </p:sp>
      <p:sp>
        <p:nvSpPr>
          <p:cNvPr id="66" name="Shape 64"/>
          <p:cNvSpPr/>
          <p:nvPr/>
        </p:nvSpPr>
        <p:spPr>
          <a:xfrm>
            <a:off x="3867912" y="5815584"/>
            <a:ext cx="1545336" cy="896112"/>
          </a:xfrm>
          <a:prstGeom prst="roundRect">
            <a:avLst>
              <a:gd name="adj" fmla="val 8163"/>
            </a:avLst>
          </a:prstGeom>
          <a:solidFill>
            <a:srgbClr val="E5EDF8"/>
          </a:solidFill>
          <a:ln w="10160">
            <a:solidFill>
              <a:srgbClr val="D8DEE5"/>
            </a:solidFill>
            <a:prstDash val="solid"/>
          </a:ln>
        </p:spPr>
      </p:sp>
      <p:sp>
        <p:nvSpPr>
          <p:cNvPr id="67" name="Text 65"/>
          <p:cNvSpPr/>
          <p:nvPr/>
        </p:nvSpPr>
        <p:spPr>
          <a:xfrm>
            <a:off x="3977640" y="5907024"/>
            <a:ext cx="1325880" cy="164592"/>
          </a:xfrm>
          <a:prstGeom prst="rect">
            <a:avLst/>
          </a:prstGeom>
          <a:noFill/>
          <a:ln/>
        </p:spPr>
        <p:txBody>
          <a:bodyPr wrap="square" lIns="0" tIns="0" rIns="0" bIns="0" rtlCol="0" anchor="ctr">
            <a:normAutofit/>
          </a:bodyPr>
          <a:lstStyle/>
          <a:p>
            <a:pPr algn="l" indent="0" marL="0">
              <a:buNone/>
            </a:pPr>
            <a:r>
              <a:rPr lang="en-US" sz="750" b="1" dirty="0">
                <a:solidFill>
                  <a:srgbClr val="647586"/>
                </a:solidFill>
                <a:latin typeface="NanumSquare" pitchFamily="34" charset="0"/>
                <a:ea typeface="NanumSquare" pitchFamily="34" charset="-122"/>
                <a:cs typeface="NanumSquare" pitchFamily="34" charset="-120"/>
              </a:rPr>
              <a:t>SOX</a:t>
            </a:r>
            <a:endParaRPr lang="en-US" sz="750" dirty="0"/>
          </a:p>
        </p:txBody>
      </p:sp>
      <p:sp>
        <p:nvSpPr>
          <p:cNvPr id="68" name="Text 66"/>
          <p:cNvSpPr/>
          <p:nvPr/>
        </p:nvSpPr>
        <p:spPr>
          <a:xfrm>
            <a:off x="3977640" y="6108192"/>
            <a:ext cx="1325880" cy="274320"/>
          </a:xfrm>
          <a:prstGeom prst="rect">
            <a:avLst/>
          </a:prstGeom>
          <a:noFill/>
          <a:ln/>
        </p:spPr>
        <p:txBody>
          <a:bodyPr wrap="square" lIns="0" tIns="0" rIns="0" bIns="0" rtlCol="0" anchor="ctr">
            <a:normAutofit/>
          </a:bodyPr>
          <a:lstStyle/>
          <a:p>
            <a:pPr algn="l" indent="0" marL="0">
              <a:buNone/>
            </a:pPr>
            <a:r>
              <a:rPr lang="en-US" sz="1500" b="1" dirty="0">
                <a:solidFill>
                  <a:srgbClr val="3B73B9"/>
                </a:solidFill>
                <a:latin typeface="NanumSquare" pitchFamily="34" charset="0"/>
                <a:ea typeface="NanumSquare" pitchFamily="34" charset="-122"/>
                <a:cs typeface="NanumSquare" pitchFamily="34" charset="-120"/>
              </a:rPr>
              <a:t>-4.8%</a:t>
            </a:r>
            <a:endParaRPr lang="en-US" sz="1500" dirty="0"/>
          </a:p>
        </p:txBody>
      </p:sp>
      <p:sp>
        <p:nvSpPr>
          <p:cNvPr id="69" name="Text 67"/>
          <p:cNvSpPr/>
          <p:nvPr/>
        </p:nvSpPr>
        <p:spPr>
          <a:xfrm>
            <a:off x="3977640" y="6446520"/>
            <a:ext cx="1325880" cy="155448"/>
          </a:xfrm>
          <a:prstGeom prst="rect">
            <a:avLst/>
          </a:prstGeom>
          <a:noFill/>
          <a:ln/>
        </p:spPr>
        <p:txBody>
          <a:bodyPr wrap="square" lIns="0" tIns="0" rIns="0" bIns="0" rtlCol="0" anchor="ctr">
            <a:normAutofit/>
          </a:bodyPr>
          <a:lstStyle/>
          <a:p>
            <a:pPr algn="l" indent="0" marL="0">
              <a:buNone/>
            </a:pPr>
            <a:r>
              <a:rPr lang="en-US" sz="680" dirty="0">
                <a:solidFill>
                  <a:srgbClr val="465866"/>
                </a:solidFill>
                <a:latin typeface="Noto Sans CJK KR" pitchFamily="34" charset="0"/>
                <a:ea typeface="Noto Sans CJK KR" pitchFamily="34" charset="-122"/>
                <a:cs typeface="Noto Sans CJK KR" pitchFamily="34" charset="-120"/>
              </a:rPr>
              <a:t>반도체</a:t>
            </a:r>
            <a:endParaRPr lang="en-US" sz="680" dirty="0"/>
          </a:p>
        </p:txBody>
      </p:sp>
      <p:sp>
        <p:nvSpPr>
          <p:cNvPr id="70" name="Shape 68"/>
          <p:cNvSpPr/>
          <p:nvPr/>
        </p:nvSpPr>
        <p:spPr>
          <a:xfrm>
            <a:off x="5550408" y="5815584"/>
            <a:ext cx="1545336" cy="896112"/>
          </a:xfrm>
          <a:prstGeom prst="roundRect">
            <a:avLst>
              <a:gd name="adj" fmla="val 8163"/>
            </a:avLst>
          </a:prstGeom>
          <a:solidFill>
            <a:srgbClr val="FBE7E5"/>
          </a:solidFill>
          <a:ln w="10160">
            <a:solidFill>
              <a:srgbClr val="D8DEE5"/>
            </a:solidFill>
            <a:prstDash val="solid"/>
          </a:ln>
        </p:spPr>
      </p:sp>
      <p:sp>
        <p:nvSpPr>
          <p:cNvPr id="71" name="Text 69"/>
          <p:cNvSpPr/>
          <p:nvPr/>
        </p:nvSpPr>
        <p:spPr>
          <a:xfrm>
            <a:off x="5660136" y="5907024"/>
            <a:ext cx="1325880" cy="164592"/>
          </a:xfrm>
          <a:prstGeom prst="rect">
            <a:avLst/>
          </a:prstGeom>
          <a:noFill/>
          <a:ln/>
        </p:spPr>
        <p:txBody>
          <a:bodyPr wrap="square" lIns="0" tIns="0" rIns="0" bIns="0" rtlCol="0" anchor="ctr">
            <a:normAutofit/>
          </a:bodyPr>
          <a:lstStyle/>
          <a:p>
            <a:pPr algn="l" indent="0" marL="0">
              <a:buNone/>
            </a:pPr>
            <a:r>
              <a:rPr lang="en-US" sz="750" b="1" dirty="0">
                <a:solidFill>
                  <a:srgbClr val="647586"/>
                </a:solidFill>
                <a:latin typeface="NanumSquare" pitchFamily="34" charset="0"/>
                <a:ea typeface="NanumSquare" pitchFamily="34" charset="-122"/>
                <a:cs typeface="NanumSquare" pitchFamily="34" charset="-120"/>
              </a:rPr>
              <a:t>WTI</a:t>
            </a:r>
            <a:endParaRPr lang="en-US" sz="750" dirty="0"/>
          </a:p>
        </p:txBody>
      </p:sp>
      <p:sp>
        <p:nvSpPr>
          <p:cNvPr id="72" name="Text 70"/>
          <p:cNvSpPr/>
          <p:nvPr/>
        </p:nvSpPr>
        <p:spPr>
          <a:xfrm>
            <a:off x="5660136" y="6108192"/>
            <a:ext cx="1325880" cy="274320"/>
          </a:xfrm>
          <a:prstGeom prst="rect">
            <a:avLst/>
          </a:prstGeom>
          <a:noFill/>
          <a:ln/>
        </p:spPr>
        <p:txBody>
          <a:bodyPr wrap="square" lIns="0" tIns="0" rIns="0" bIns="0" rtlCol="0" anchor="ctr">
            <a:normAutofit/>
          </a:bodyPr>
          <a:lstStyle/>
          <a:p>
            <a:pPr algn="l" indent="0" marL="0">
              <a:buNone/>
            </a:pPr>
            <a:r>
              <a:rPr lang="en-US" sz="1500" b="1" dirty="0">
                <a:solidFill>
                  <a:srgbClr val="D9534F"/>
                </a:solidFill>
                <a:latin typeface="NanumSquare" pitchFamily="34" charset="0"/>
                <a:ea typeface="NanumSquare" pitchFamily="34" charset="-122"/>
                <a:cs typeface="NanumSquare" pitchFamily="34" charset="-120"/>
              </a:rPr>
              <a:t>+9.4%</a:t>
            </a:r>
            <a:endParaRPr lang="en-US" sz="1500" dirty="0"/>
          </a:p>
        </p:txBody>
      </p:sp>
      <p:sp>
        <p:nvSpPr>
          <p:cNvPr id="73" name="Text 71"/>
          <p:cNvSpPr/>
          <p:nvPr/>
        </p:nvSpPr>
        <p:spPr>
          <a:xfrm>
            <a:off x="5660136" y="6446520"/>
            <a:ext cx="1325880" cy="155448"/>
          </a:xfrm>
          <a:prstGeom prst="rect">
            <a:avLst/>
          </a:prstGeom>
          <a:noFill/>
          <a:ln/>
        </p:spPr>
        <p:txBody>
          <a:bodyPr wrap="square" lIns="0" tIns="0" rIns="0" bIns="0" rtlCol="0" anchor="ctr">
            <a:normAutofit/>
          </a:bodyPr>
          <a:lstStyle/>
          <a:p>
            <a:pPr algn="l" indent="0" marL="0">
              <a:buNone/>
            </a:pPr>
            <a:r>
              <a:rPr lang="en-US" sz="680" dirty="0">
                <a:solidFill>
                  <a:srgbClr val="465866"/>
                </a:solidFill>
                <a:latin typeface="Noto Sans CJK KR" pitchFamily="34" charset="0"/>
                <a:ea typeface="Noto Sans CJK KR" pitchFamily="34" charset="-122"/>
                <a:cs typeface="Noto Sans CJK KR" pitchFamily="34" charset="-120"/>
              </a:rPr>
              <a:t>$78.1/bbl</a:t>
            </a:r>
            <a:endParaRPr lang="en-US" sz="680" dirty="0"/>
          </a:p>
        </p:txBody>
      </p:sp>
      <p:sp>
        <p:nvSpPr>
          <p:cNvPr id="74" name="Shape 72"/>
          <p:cNvSpPr/>
          <p:nvPr/>
        </p:nvSpPr>
        <p:spPr>
          <a:xfrm>
            <a:off x="3867912" y="6894576"/>
            <a:ext cx="1545336" cy="896112"/>
          </a:xfrm>
          <a:prstGeom prst="roundRect">
            <a:avLst>
              <a:gd name="adj" fmla="val 8163"/>
            </a:avLst>
          </a:prstGeom>
          <a:solidFill>
            <a:srgbClr val="FBE7E5"/>
          </a:solidFill>
          <a:ln w="10160">
            <a:solidFill>
              <a:srgbClr val="D8DEE5"/>
            </a:solidFill>
            <a:prstDash val="solid"/>
          </a:ln>
        </p:spPr>
      </p:sp>
      <p:sp>
        <p:nvSpPr>
          <p:cNvPr id="75" name="Text 73"/>
          <p:cNvSpPr/>
          <p:nvPr/>
        </p:nvSpPr>
        <p:spPr>
          <a:xfrm>
            <a:off x="3977640" y="6986016"/>
            <a:ext cx="1325880" cy="164592"/>
          </a:xfrm>
          <a:prstGeom prst="rect">
            <a:avLst/>
          </a:prstGeom>
          <a:noFill/>
          <a:ln/>
        </p:spPr>
        <p:txBody>
          <a:bodyPr wrap="square" lIns="0" tIns="0" rIns="0" bIns="0" rtlCol="0" anchor="ctr">
            <a:normAutofit/>
          </a:bodyPr>
          <a:lstStyle/>
          <a:p>
            <a:pPr algn="l" indent="0" marL="0">
              <a:buNone/>
            </a:pPr>
            <a:r>
              <a:rPr lang="en-US" sz="750" b="1" dirty="0">
                <a:solidFill>
                  <a:srgbClr val="647586"/>
                </a:solidFill>
                <a:latin typeface="NanumSquare" pitchFamily="34" charset="0"/>
                <a:ea typeface="NanumSquare" pitchFamily="34" charset="-122"/>
                <a:cs typeface="NanumSquare" pitchFamily="34" charset="-120"/>
              </a:rPr>
              <a:t>US 10Y</a:t>
            </a:r>
            <a:endParaRPr lang="en-US" sz="750" dirty="0"/>
          </a:p>
        </p:txBody>
      </p:sp>
      <p:sp>
        <p:nvSpPr>
          <p:cNvPr id="76" name="Text 74"/>
          <p:cNvSpPr/>
          <p:nvPr/>
        </p:nvSpPr>
        <p:spPr>
          <a:xfrm>
            <a:off x="3977640" y="7187184"/>
            <a:ext cx="1325880" cy="274320"/>
          </a:xfrm>
          <a:prstGeom prst="rect">
            <a:avLst/>
          </a:prstGeom>
          <a:noFill/>
          <a:ln/>
        </p:spPr>
        <p:txBody>
          <a:bodyPr wrap="square" lIns="0" tIns="0" rIns="0" bIns="0" rtlCol="0" anchor="ctr">
            <a:normAutofit/>
          </a:bodyPr>
          <a:lstStyle/>
          <a:p>
            <a:pPr algn="l" indent="0" marL="0">
              <a:buNone/>
            </a:pPr>
            <a:r>
              <a:rPr lang="en-US" sz="1500" b="1" dirty="0">
                <a:solidFill>
                  <a:srgbClr val="D9534F"/>
                </a:solidFill>
                <a:latin typeface="NanumSquare" pitchFamily="34" charset="0"/>
                <a:ea typeface="NanumSquare" pitchFamily="34" charset="-122"/>
                <a:cs typeface="NanumSquare" pitchFamily="34" charset="-120"/>
              </a:rPr>
              <a:t>4.616%</a:t>
            </a:r>
            <a:endParaRPr lang="en-US" sz="1500" dirty="0"/>
          </a:p>
        </p:txBody>
      </p:sp>
      <p:sp>
        <p:nvSpPr>
          <p:cNvPr id="77" name="Text 75"/>
          <p:cNvSpPr/>
          <p:nvPr/>
        </p:nvSpPr>
        <p:spPr>
          <a:xfrm>
            <a:off x="3977640" y="7525512"/>
            <a:ext cx="1325880" cy="155448"/>
          </a:xfrm>
          <a:prstGeom prst="rect">
            <a:avLst/>
          </a:prstGeom>
          <a:noFill/>
          <a:ln/>
        </p:spPr>
        <p:txBody>
          <a:bodyPr wrap="square" lIns="0" tIns="0" rIns="0" bIns="0" rtlCol="0" anchor="ctr">
            <a:normAutofit/>
          </a:bodyPr>
          <a:lstStyle/>
          <a:p>
            <a:pPr algn="l" indent="0" marL="0">
              <a:buNone/>
            </a:pPr>
            <a:r>
              <a:rPr lang="en-US" sz="680" dirty="0">
                <a:solidFill>
                  <a:srgbClr val="465866"/>
                </a:solidFill>
                <a:latin typeface="Noto Sans CJK KR" pitchFamily="34" charset="0"/>
                <a:ea typeface="Noto Sans CJK KR" pitchFamily="34" charset="-122"/>
                <a:cs typeface="Noto Sans CJK KR" pitchFamily="34" charset="-120"/>
              </a:rPr>
              <a:t>+1.2bp</a:t>
            </a:r>
            <a:endParaRPr lang="en-US" sz="680" dirty="0"/>
          </a:p>
        </p:txBody>
      </p:sp>
      <p:sp>
        <p:nvSpPr>
          <p:cNvPr id="78" name="Shape 76"/>
          <p:cNvSpPr/>
          <p:nvPr/>
        </p:nvSpPr>
        <p:spPr>
          <a:xfrm>
            <a:off x="5550408" y="6894576"/>
            <a:ext cx="1545336" cy="896112"/>
          </a:xfrm>
          <a:prstGeom prst="roundRect">
            <a:avLst>
              <a:gd name="adj" fmla="val 8163"/>
            </a:avLst>
          </a:prstGeom>
          <a:solidFill>
            <a:srgbClr val="FBE7E5"/>
          </a:solidFill>
          <a:ln w="10160">
            <a:solidFill>
              <a:srgbClr val="D8DEE5"/>
            </a:solidFill>
            <a:prstDash val="solid"/>
          </a:ln>
        </p:spPr>
      </p:sp>
      <p:sp>
        <p:nvSpPr>
          <p:cNvPr id="79" name="Text 77"/>
          <p:cNvSpPr/>
          <p:nvPr/>
        </p:nvSpPr>
        <p:spPr>
          <a:xfrm>
            <a:off x="5660136" y="6986016"/>
            <a:ext cx="1325880" cy="164592"/>
          </a:xfrm>
          <a:prstGeom prst="rect">
            <a:avLst/>
          </a:prstGeom>
          <a:noFill/>
          <a:ln/>
        </p:spPr>
        <p:txBody>
          <a:bodyPr wrap="square" lIns="0" tIns="0" rIns="0" bIns="0" rtlCol="0" anchor="ctr">
            <a:normAutofit/>
          </a:bodyPr>
          <a:lstStyle/>
          <a:p>
            <a:pPr algn="l" indent="0" marL="0">
              <a:buNone/>
            </a:pPr>
            <a:r>
              <a:rPr lang="en-US" sz="750" b="1" dirty="0">
                <a:solidFill>
                  <a:srgbClr val="647586"/>
                </a:solidFill>
                <a:latin typeface="NanumSquare" pitchFamily="34" charset="0"/>
                <a:ea typeface="NanumSquare" pitchFamily="34" charset="-122"/>
                <a:cs typeface="NanumSquare" pitchFamily="34" charset="-120"/>
              </a:rPr>
              <a:t>DXY</a:t>
            </a:r>
            <a:endParaRPr lang="en-US" sz="750" dirty="0"/>
          </a:p>
        </p:txBody>
      </p:sp>
      <p:sp>
        <p:nvSpPr>
          <p:cNvPr id="80" name="Text 78"/>
          <p:cNvSpPr/>
          <p:nvPr/>
        </p:nvSpPr>
        <p:spPr>
          <a:xfrm>
            <a:off x="5660136" y="7187184"/>
            <a:ext cx="1325880" cy="274320"/>
          </a:xfrm>
          <a:prstGeom prst="rect">
            <a:avLst/>
          </a:prstGeom>
          <a:noFill/>
          <a:ln/>
        </p:spPr>
        <p:txBody>
          <a:bodyPr wrap="square" lIns="0" tIns="0" rIns="0" bIns="0" rtlCol="0" anchor="ctr">
            <a:normAutofit/>
          </a:bodyPr>
          <a:lstStyle/>
          <a:p>
            <a:pPr algn="l" indent="0" marL="0">
              <a:buNone/>
            </a:pPr>
            <a:r>
              <a:rPr lang="en-US" sz="1500" b="1" dirty="0">
                <a:solidFill>
                  <a:srgbClr val="D9534F"/>
                </a:solidFill>
                <a:latin typeface="NanumSquare" pitchFamily="34" charset="0"/>
                <a:ea typeface="NanumSquare" pitchFamily="34" charset="-122"/>
                <a:cs typeface="NanumSquare" pitchFamily="34" charset="-120"/>
              </a:rPr>
              <a:t>101.24</a:t>
            </a:r>
            <a:endParaRPr lang="en-US" sz="1500" dirty="0"/>
          </a:p>
        </p:txBody>
      </p:sp>
      <p:sp>
        <p:nvSpPr>
          <p:cNvPr id="81" name="Text 79"/>
          <p:cNvSpPr/>
          <p:nvPr/>
        </p:nvSpPr>
        <p:spPr>
          <a:xfrm>
            <a:off x="5660136" y="7525512"/>
            <a:ext cx="1325880" cy="155448"/>
          </a:xfrm>
          <a:prstGeom prst="rect">
            <a:avLst/>
          </a:prstGeom>
          <a:noFill/>
          <a:ln/>
        </p:spPr>
        <p:txBody>
          <a:bodyPr wrap="square" lIns="0" tIns="0" rIns="0" bIns="0" rtlCol="0" anchor="ctr">
            <a:normAutofit/>
          </a:bodyPr>
          <a:lstStyle/>
          <a:p>
            <a:pPr algn="l" indent="0" marL="0">
              <a:buNone/>
            </a:pPr>
            <a:r>
              <a:rPr lang="en-US" sz="680" dirty="0">
                <a:solidFill>
                  <a:srgbClr val="465866"/>
                </a:solidFill>
                <a:latin typeface="Noto Sans CJK KR" pitchFamily="34" charset="0"/>
                <a:ea typeface="Noto Sans CJK KR" pitchFamily="34" charset="-122"/>
                <a:cs typeface="Noto Sans CJK KR" pitchFamily="34" charset="-120"/>
              </a:rPr>
              <a:t>+0.3%</a:t>
            </a:r>
            <a:endParaRPr lang="en-US" sz="680" dirty="0"/>
          </a:p>
        </p:txBody>
      </p:sp>
      <p:sp>
        <p:nvSpPr>
          <p:cNvPr id="82" name="Shape 80"/>
          <p:cNvSpPr/>
          <p:nvPr/>
        </p:nvSpPr>
        <p:spPr>
          <a:xfrm>
            <a:off x="3867912" y="8101584"/>
            <a:ext cx="3291840" cy="1143000"/>
          </a:xfrm>
          <a:prstGeom prst="roundRect">
            <a:avLst>
              <a:gd name="adj" fmla="val 6400"/>
            </a:avLst>
          </a:prstGeom>
          <a:solidFill>
            <a:srgbClr val="0B1F33"/>
          </a:solidFill>
          <a:ln w="10160">
            <a:solidFill>
              <a:srgbClr val="0B1F33"/>
            </a:solidFill>
            <a:prstDash val="solid"/>
          </a:ln>
        </p:spPr>
      </p:sp>
      <p:sp>
        <p:nvSpPr>
          <p:cNvPr id="83" name="Text 81"/>
          <p:cNvSpPr/>
          <p:nvPr/>
        </p:nvSpPr>
        <p:spPr>
          <a:xfrm>
            <a:off x="4050792" y="8257032"/>
            <a:ext cx="1097280" cy="164592"/>
          </a:xfrm>
          <a:prstGeom prst="rect">
            <a:avLst/>
          </a:prstGeom>
          <a:noFill/>
          <a:ln/>
        </p:spPr>
        <p:txBody>
          <a:bodyPr wrap="square" lIns="0" tIns="0" rIns="0" bIns="0" rtlCol="0" anchor="ctr">
            <a:normAutofit/>
          </a:bodyPr>
          <a:lstStyle/>
          <a:p>
            <a:pPr algn="l" indent="0" marL="0">
              <a:buNone/>
            </a:pPr>
            <a:r>
              <a:rPr lang="en-US" sz="700" b="1" spc="100" kern="0" dirty="0">
                <a:solidFill>
                  <a:srgbClr val="8FE0D8"/>
                </a:solidFill>
                <a:latin typeface="NanumSquare" pitchFamily="34" charset="0"/>
                <a:ea typeface="NanumSquare" pitchFamily="34" charset="-122"/>
                <a:cs typeface="NanumSquare" pitchFamily="34" charset="-120"/>
              </a:rPr>
              <a:t>PAGE THESIS</a:t>
            </a:r>
            <a:endParaRPr lang="en-US" sz="700" dirty="0"/>
          </a:p>
        </p:txBody>
      </p:sp>
      <p:sp>
        <p:nvSpPr>
          <p:cNvPr id="84" name="Text 82"/>
          <p:cNvSpPr/>
          <p:nvPr/>
        </p:nvSpPr>
        <p:spPr>
          <a:xfrm>
            <a:off x="4050792" y="8503920"/>
            <a:ext cx="2788920" cy="530352"/>
          </a:xfrm>
          <a:prstGeom prst="rect">
            <a:avLst/>
          </a:prstGeom>
          <a:noFill/>
          <a:ln/>
        </p:spPr>
        <p:txBody>
          <a:bodyPr wrap="square" lIns="0" tIns="0" rIns="0" bIns="0" rtlCol="0" anchor="t">
            <a:normAutofit/>
          </a:bodyPr>
          <a:lstStyle/>
          <a:p>
            <a:pPr algn="l" indent="0" marL="0">
              <a:buNone/>
            </a:pPr>
            <a:r>
              <a:rPr lang="en-US" sz="1700" b="1" dirty="0">
                <a:solidFill>
                  <a:srgbClr val="FFFFFF"/>
                </a:solidFill>
                <a:latin typeface="NanumSquare" pitchFamily="34" charset="0"/>
                <a:ea typeface="NanumSquare" pitchFamily="34" charset="-122"/>
                <a:cs typeface="NanumSquare" pitchFamily="34" charset="-120"/>
              </a:rPr>
              <a:t>반등은 지수에,</a:t>
            </a:r>
            <a:endParaRPr lang="en-US" sz="1700" dirty="0"/>
          </a:p>
          <a:p>
            <a:pPr algn="l" indent="0" marL="0">
              <a:buNone/>
            </a:pPr>
            <a:r>
              <a:rPr lang="en-US" sz="1700" b="1" dirty="0">
                <a:solidFill>
                  <a:srgbClr val="FFFFFF"/>
                </a:solidFill>
                <a:latin typeface="NanumSquare" pitchFamily="34" charset="0"/>
                <a:ea typeface="NanumSquare" pitchFamily="34" charset="-122"/>
                <a:cs typeface="NanumSquare" pitchFamily="34" charset="-120"/>
              </a:rPr>
              <a:t>불안은 시장 전체에.</a:t>
            </a:r>
            <a:endParaRPr lang="en-US" sz="1700" dirty="0"/>
          </a:p>
        </p:txBody>
      </p:sp>
      <p:sp>
        <p:nvSpPr>
          <p:cNvPr id="85" name="Text 83"/>
          <p:cNvSpPr/>
          <p:nvPr/>
        </p:nvSpPr>
        <p:spPr>
          <a:xfrm>
            <a:off x="4050792" y="9025128"/>
            <a:ext cx="2743200" cy="182880"/>
          </a:xfrm>
          <a:prstGeom prst="rect">
            <a:avLst/>
          </a:prstGeom>
          <a:noFill/>
          <a:ln/>
        </p:spPr>
        <p:txBody>
          <a:bodyPr wrap="square" lIns="0" tIns="0" rIns="0" bIns="0" rtlCol="0" anchor="ctr">
            <a:normAutofit/>
          </a:bodyPr>
          <a:lstStyle/>
          <a:p>
            <a:pPr algn="l" indent="0" marL="0">
              <a:buNone/>
            </a:pPr>
            <a:r>
              <a:rPr lang="en-US" sz="720" dirty="0">
                <a:solidFill>
                  <a:srgbClr val="D3DEE8"/>
                </a:solidFill>
                <a:latin typeface="Noto Sans CJK KR" pitchFamily="34" charset="0"/>
                <a:ea typeface="Noto Sans CJK KR" pitchFamily="34" charset="-122"/>
                <a:cs typeface="Noto Sans CJK KR" pitchFamily="34" charset="-120"/>
              </a:rPr>
              <a:t>코스피의 강한 복원과 코스닥·시장 폭의 약세를 함께 본다.</a:t>
            </a:r>
            <a:endParaRPr lang="en-US" sz="720" dirty="0"/>
          </a:p>
        </p:txBody>
      </p:sp>
      <p:sp>
        <p:nvSpPr>
          <p:cNvPr id="86" name="Text 84"/>
          <p:cNvSpPr/>
          <p:nvPr/>
        </p:nvSpPr>
        <p:spPr>
          <a:xfrm>
            <a:off x="384048" y="10277856"/>
            <a:ext cx="5989320" cy="182880"/>
          </a:xfrm>
          <a:prstGeom prst="rect">
            <a:avLst/>
          </a:prstGeom>
          <a:noFill/>
          <a:ln/>
        </p:spPr>
        <p:txBody>
          <a:bodyPr wrap="square" lIns="0" tIns="0" rIns="0" bIns="0" rtlCol="0" anchor="t">
            <a:normAutofit/>
          </a:bodyPr>
          <a:lstStyle/>
          <a:p>
            <a:pPr algn="l" indent="0" marL="0">
              <a:buNone/>
            </a:pPr>
            <a:r>
              <a:rPr lang="en-US" sz="650" dirty="0">
                <a:solidFill>
                  <a:srgbClr val="647586"/>
                </a:solidFill>
                <a:latin typeface="Noto Sans CJK KR" pitchFamily="34" charset="0"/>
                <a:ea typeface="Noto Sans CJK KR" pitchFamily="34" charset="-122"/>
                <a:cs typeface="Noto Sans CJK KR" pitchFamily="34" charset="-120"/>
              </a:rPr>
              <a:t>Sources: Naver Finance snapshots; Shinhan Daily Market Digest (user-provided reference). Prototype only.</a:t>
            </a:r>
            <a:endParaRPr lang="en-US" sz="650" dirty="0"/>
          </a:p>
        </p:txBody>
      </p:sp>
      <p:sp>
        <p:nvSpPr>
          <p:cNvPr id="87" name="Text 85"/>
          <p:cNvSpPr/>
          <p:nvPr/>
        </p:nvSpPr>
        <p:spPr>
          <a:xfrm>
            <a:off x="5715000" y="10040112"/>
            <a:ext cx="1444752" cy="164592"/>
          </a:xfrm>
          <a:prstGeom prst="rect">
            <a:avLst/>
          </a:prstGeom>
          <a:noFill/>
          <a:ln/>
        </p:spPr>
        <p:txBody>
          <a:bodyPr wrap="square" lIns="0" tIns="0" rIns="0" bIns="0" rtlCol="0" anchor="ctr">
            <a:normAutofit/>
          </a:bodyPr>
          <a:lstStyle/>
          <a:p>
            <a:pPr algn="r" indent="0" marL="0">
              <a:buNone/>
            </a:pPr>
            <a:r>
              <a:rPr lang="en-US" sz="680" b="1" dirty="0">
                <a:solidFill>
                  <a:srgbClr val="647586"/>
                </a:solidFill>
                <a:latin typeface="NanumSquare" pitchFamily="34" charset="0"/>
                <a:ea typeface="NanumSquare" pitchFamily="34" charset="-122"/>
                <a:cs typeface="NanumSquare" pitchFamily="34" charset="-120"/>
              </a:rPr>
              <a:t>시장 14:28-14:30 · FX 14:44 KST</a:t>
            </a:r>
            <a:endParaRPr lang="en-US" sz="680" dirty="0"/>
          </a:p>
        </p:txBody>
      </p:sp>
      <p:sp>
        <p:nvSpPr>
          <p:cNvPr id="25" name="Slide Number Placeholder 0"/>
          <p:cNvSpPr>
            <a:spLocks noGrp="1"/>
          </p:cNvSpPr>
          <p:nvPr>
            <p:ph type="sldNum" sz="quarter" idx="4294967295"/>
          </p:nvPr>
        </p:nvSpPr>
        <p:spPr>
          <a:xfrm>
            <a:off x="6830568" y="1031443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586"/>
                </a:solidFill>
                <a:latin typeface="NanumSquare"/>
                <a:ea typeface="NanumSquare"/>
                <a:cs typeface="NanumSquare"/>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84048" y="512064"/>
            <a:ext cx="1325880" cy="164592"/>
          </a:xfrm>
          <a:prstGeom prst="rect">
            <a:avLst/>
          </a:prstGeom>
          <a:noFill/>
          <a:ln/>
        </p:spPr>
        <p:txBody>
          <a:bodyPr wrap="square" lIns="0" tIns="0" rIns="0" bIns="0" rtlCol="0" anchor="ctr">
            <a:normAutofit/>
          </a:bodyPr>
          <a:lstStyle/>
          <a:p>
            <a:pPr algn="l" indent="0" marL="0">
              <a:buNone/>
            </a:pPr>
            <a:r>
              <a:rPr lang="en-US" sz="750" b="1" spc="110" kern="0" dirty="0">
                <a:solidFill>
                  <a:srgbClr val="00A6A6"/>
                </a:solidFill>
                <a:latin typeface="NanumSquare" pitchFamily="34" charset="0"/>
                <a:ea typeface="NanumSquare" pitchFamily="34" charset="-122"/>
                <a:cs typeface="NanumSquare" pitchFamily="34" charset="-120"/>
              </a:rPr>
              <a:t>KOREA MARKET STRUCTURE</a:t>
            </a:r>
            <a:endParaRPr lang="en-US" sz="750" dirty="0"/>
          </a:p>
        </p:txBody>
      </p:sp>
      <p:sp>
        <p:nvSpPr>
          <p:cNvPr id="3" name="Text 1"/>
          <p:cNvSpPr/>
          <p:nvPr/>
        </p:nvSpPr>
        <p:spPr>
          <a:xfrm>
            <a:off x="384048" y="713232"/>
            <a:ext cx="6629400" cy="420624"/>
          </a:xfrm>
          <a:prstGeom prst="rect">
            <a:avLst/>
          </a:prstGeom>
          <a:noFill/>
          <a:ln/>
        </p:spPr>
        <p:txBody>
          <a:bodyPr wrap="square" lIns="0" tIns="0" rIns="0" bIns="0" rtlCol="0" anchor="t">
            <a:normAutofit/>
          </a:bodyPr>
          <a:lstStyle/>
          <a:p>
            <a:pPr algn="l" indent="0" marL="0">
              <a:buNone/>
            </a:pPr>
            <a:r>
              <a:rPr lang="en-US" sz="2200" b="1" dirty="0">
                <a:solidFill>
                  <a:srgbClr val="0B1F33"/>
                </a:solidFill>
                <a:latin typeface="NanumSquare" pitchFamily="34" charset="0"/>
                <a:ea typeface="NanumSquare" pitchFamily="34" charset="-122"/>
                <a:cs typeface="NanumSquare" pitchFamily="34" charset="-120"/>
              </a:rPr>
              <a:t>반등의 질은 좁다</a:t>
            </a:r>
            <a:endParaRPr lang="en-US" sz="2200" dirty="0"/>
          </a:p>
        </p:txBody>
      </p:sp>
      <p:sp>
        <p:nvSpPr>
          <p:cNvPr id="4" name="Text 2"/>
          <p:cNvSpPr/>
          <p:nvPr/>
        </p:nvSpPr>
        <p:spPr>
          <a:xfrm>
            <a:off x="384048" y="1124712"/>
            <a:ext cx="6629400" cy="365760"/>
          </a:xfrm>
          <a:prstGeom prst="rect">
            <a:avLst/>
          </a:prstGeom>
          <a:noFill/>
          <a:ln/>
        </p:spPr>
        <p:txBody>
          <a:bodyPr wrap="square" lIns="0" tIns="0" rIns="0" bIns="0" rtlCol="0" anchor="t">
            <a:normAutofit/>
          </a:bodyPr>
          <a:lstStyle/>
          <a:p>
            <a:pPr algn="l" indent="0" marL="0">
              <a:buNone/>
            </a:pPr>
            <a:r>
              <a:rPr lang="en-US" sz="940" dirty="0">
                <a:solidFill>
                  <a:srgbClr val="465866"/>
                </a:solidFill>
                <a:latin typeface="Noto Sans CJK KR" pitchFamily="34" charset="0"/>
                <a:ea typeface="Noto Sans CJK KR" pitchFamily="34" charset="-122"/>
                <a:cs typeface="Noto Sans CJK KR" pitchFamily="34" charset="-120"/>
              </a:rPr>
              <a:t>지수 수준, 시장 폭, 수급, 대표 종목을 한 화면에서 비교한다.</a:t>
            </a:r>
            <a:endParaRPr lang="en-US" sz="940" dirty="0"/>
          </a:p>
        </p:txBody>
      </p:sp>
      <p:sp>
        <p:nvSpPr>
          <p:cNvPr id="5" name="Shape 3"/>
          <p:cNvSpPr/>
          <p:nvPr/>
        </p:nvSpPr>
        <p:spPr>
          <a:xfrm>
            <a:off x="384048" y="1554480"/>
            <a:ext cx="3310128" cy="1225296"/>
          </a:xfrm>
          <a:prstGeom prst="roundRect">
            <a:avLst>
              <a:gd name="adj" fmla="val 5970"/>
            </a:avLst>
          </a:prstGeom>
          <a:solidFill>
            <a:srgbClr val="FFFFFF"/>
          </a:solidFill>
          <a:ln w="10160">
            <a:solidFill>
              <a:srgbClr val="D8DEE5"/>
            </a:solidFill>
            <a:prstDash val="solid"/>
          </a:ln>
        </p:spPr>
      </p:sp>
      <p:sp>
        <p:nvSpPr>
          <p:cNvPr id="6" name="Text 4"/>
          <p:cNvSpPr/>
          <p:nvPr/>
        </p:nvSpPr>
        <p:spPr>
          <a:xfrm>
            <a:off x="530352" y="1673352"/>
            <a:ext cx="1097280" cy="228600"/>
          </a:xfrm>
          <a:prstGeom prst="rect">
            <a:avLst/>
          </a:prstGeom>
          <a:noFill/>
          <a:ln/>
        </p:spPr>
        <p:txBody>
          <a:bodyPr wrap="square" lIns="0" tIns="0" rIns="0" bIns="0" rtlCol="0" anchor="ctr">
            <a:normAutofit/>
          </a:bodyPr>
          <a:lstStyle/>
          <a:p>
            <a:pPr algn="l" indent="0" marL="0">
              <a:buNone/>
            </a:pPr>
            <a:r>
              <a:rPr lang="en-US" sz="1100" b="1" dirty="0">
                <a:solidFill>
                  <a:srgbClr val="0B1F33"/>
                </a:solidFill>
                <a:latin typeface="NanumSquare" pitchFamily="34" charset="0"/>
                <a:ea typeface="NanumSquare" pitchFamily="34" charset="-122"/>
                <a:cs typeface="NanumSquare" pitchFamily="34" charset="-120"/>
              </a:rPr>
              <a:t>코스피</a:t>
            </a:r>
            <a:endParaRPr lang="en-US" sz="1100" dirty="0"/>
          </a:p>
        </p:txBody>
      </p:sp>
      <p:sp>
        <p:nvSpPr>
          <p:cNvPr id="7" name="Text 5"/>
          <p:cNvSpPr/>
          <p:nvPr/>
        </p:nvSpPr>
        <p:spPr>
          <a:xfrm>
            <a:off x="1389888" y="1655064"/>
            <a:ext cx="1554480" cy="274320"/>
          </a:xfrm>
          <a:prstGeom prst="rect">
            <a:avLst/>
          </a:prstGeom>
          <a:noFill/>
          <a:ln/>
        </p:spPr>
        <p:txBody>
          <a:bodyPr wrap="square" lIns="0" tIns="0" rIns="0" bIns="0" rtlCol="0" anchor="ctr">
            <a:normAutofit/>
          </a:bodyPr>
          <a:lstStyle/>
          <a:p>
            <a:pPr algn="r" indent="0" marL="0">
              <a:buNone/>
            </a:pPr>
            <a:r>
              <a:rPr lang="en-US" sz="1500" b="1" dirty="0">
                <a:solidFill>
                  <a:srgbClr val="0B1F33"/>
                </a:solidFill>
                <a:latin typeface="NanumSquare" pitchFamily="34" charset="0"/>
                <a:ea typeface="NanumSquare" pitchFamily="34" charset="-122"/>
                <a:cs typeface="NanumSquare" pitchFamily="34" charset="-120"/>
              </a:rPr>
              <a:t>6,916.73</a:t>
            </a:r>
            <a:endParaRPr lang="en-US" sz="1500" dirty="0"/>
          </a:p>
        </p:txBody>
      </p:sp>
      <p:sp>
        <p:nvSpPr>
          <p:cNvPr id="8" name="Text 6"/>
          <p:cNvSpPr/>
          <p:nvPr/>
        </p:nvSpPr>
        <p:spPr>
          <a:xfrm>
            <a:off x="2980944" y="1673352"/>
            <a:ext cx="841248" cy="228600"/>
          </a:xfrm>
          <a:prstGeom prst="rect">
            <a:avLst/>
          </a:prstGeom>
          <a:noFill/>
          <a:ln/>
        </p:spPr>
        <p:txBody>
          <a:bodyPr wrap="square" lIns="0" tIns="0" rIns="0" bIns="0" rtlCol="0" anchor="ctr">
            <a:normAutofit/>
          </a:bodyPr>
          <a:lstStyle/>
          <a:p>
            <a:pPr algn="r" indent="0" marL="0">
              <a:buNone/>
            </a:pPr>
            <a:r>
              <a:rPr lang="en-US" sz="1050" b="1" dirty="0">
                <a:solidFill>
                  <a:srgbClr val="D9534F"/>
                </a:solidFill>
                <a:latin typeface="NanumSquare" pitchFamily="34" charset="0"/>
                <a:ea typeface="NanumSquare" pitchFamily="34" charset="-122"/>
                <a:cs typeface="NanumSquare" pitchFamily="34" charset="-120"/>
              </a:rPr>
              <a:t>+1.61%</a:t>
            </a:r>
            <a:endParaRPr lang="en-US" sz="1050" dirty="0"/>
          </a:p>
        </p:txBody>
      </p:sp>
      <p:sp>
        <p:nvSpPr>
          <p:cNvPr id="9" name="Shape 7"/>
          <p:cNvSpPr/>
          <p:nvPr/>
        </p:nvSpPr>
        <p:spPr>
          <a:xfrm>
            <a:off x="612648" y="2212848"/>
            <a:ext cx="2852928" cy="0"/>
          </a:xfrm>
          <a:prstGeom prst="line">
            <a:avLst/>
          </a:prstGeom>
          <a:noFill/>
          <a:ln w="38100">
            <a:solidFill>
              <a:srgbClr val="C8D0D8"/>
            </a:solidFill>
            <a:prstDash val="solid"/>
            <a:headEnd type="none"/>
            <a:tailEnd type="none"/>
          </a:ln>
        </p:spPr>
      </p:sp>
      <p:sp>
        <p:nvSpPr>
          <p:cNvPr id="10" name="Shape 8"/>
          <p:cNvSpPr/>
          <p:nvPr/>
        </p:nvSpPr>
        <p:spPr>
          <a:xfrm>
            <a:off x="2536250" y="2103120"/>
            <a:ext cx="0" cy="219456"/>
          </a:xfrm>
          <a:prstGeom prst="line">
            <a:avLst/>
          </a:prstGeom>
          <a:noFill/>
          <a:ln w="17780">
            <a:solidFill>
              <a:srgbClr val="D8A63C"/>
            </a:solidFill>
            <a:prstDash val="solid"/>
          </a:ln>
        </p:spPr>
      </p:sp>
      <p:sp>
        <p:nvSpPr>
          <p:cNvPr id="11" name="Shape 9"/>
          <p:cNvSpPr/>
          <p:nvPr/>
        </p:nvSpPr>
        <p:spPr>
          <a:xfrm>
            <a:off x="2332807" y="2121408"/>
            <a:ext cx="0" cy="182880"/>
          </a:xfrm>
          <a:prstGeom prst="line">
            <a:avLst/>
          </a:prstGeom>
          <a:noFill/>
          <a:ln w="15240">
            <a:solidFill>
              <a:srgbClr val="465866"/>
            </a:solidFill>
            <a:prstDash val="solid"/>
          </a:ln>
        </p:spPr>
      </p:sp>
      <p:sp>
        <p:nvSpPr>
          <p:cNvPr id="12" name="Shape 10"/>
          <p:cNvSpPr/>
          <p:nvPr/>
        </p:nvSpPr>
        <p:spPr>
          <a:xfrm>
            <a:off x="3075786" y="2162556"/>
            <a:ext cx="100584" cy="100584"/>
          </a:xfrm>
          <a:prstGeom prst="ellipse">
            <a:avLst/>
          </a:prstGeom>
          <a:solidFill>
            <a:srgbClr val="D9534F"/>
          </a:solidFill>
          <a:ln w="10160">
            <a:solidFill>
              <a:srgbClr val="FFFFFF"/>
            </a:solidFill>
            <a:prstDash val="solid"/>
          </a:ln>
        </p:spPr>
      </p:sp>
      <p:sp>
        <p:nvSpPr>
          <p:cNvPr id="13" name="Text 11"/>
          <p:cNvSpPr/>
          <p:nvPr/>
        </p:nvSpPr>
        <p:spPr>
          <a:xfrm>
            <a:off x="612648" y="2331720"/>
            <a:ext cx="822960" cy="182880"/>
          </a:xfrm>
          <a:prstGeom prst="rect">
            <a:avLst/>
          </a:prstGeom>
          <a:noFill/>
          <a:ln/>
        </p:spPr>
        <p:txBody>
          <a:bodyPr wrap="square" lIns="0" tIns="0" rIns="0" bIns="0" rtlCol="0" anchor="ctr">
            <a:normAutofit/>
          </a:bodyPr>
          <a:lstStyle/>
          <a:p>
            <a:pPr algn="l" indent="0" marL="0">
              <a:buNone/>
            </a:pPr>
            <a:r>
              <a:rPr lang="en-US" sz="670" dirty="0">
                <a:solidFill>
                  <a:srgbClr val="647586"/>
                </a:solidFill>
                <a:latin typeface="Noto Sans CJK KR" pitchFamily="34" charset="0"/>
                <a:ea typeface="Noto Sans CJK KR" pitchFamily="34" charset="-122"/>
                <a:cs typeface="Noto Sans CJK KR" pitchFamily="34" charset="-120"/>
              </a:rPr>
              <a:t>저 6,449</a:t>
            </a:r>
            <a:endParaRPr lang="en-US" sz="670" dirty="0"/>
          </a:p>
        </p:txBody>
      </p:sp>
      <p:sp>
        <p:nvSpPr>
          <p:cNvPr id="14" name="Text 12"/>
          <p:cNvSpPr/>
          <p:nvPr/>
        </p:nvSpPr>
        <p:spPr>
          <a:xfrm>
            <a:off x="2216210" y="2395728"/>
            <a:ext cx="640080" cy="182880"/>
          </a:xfrm>
          <a:prstGeom prst="rect">
            <a:avLst/>
          </a:prstGeom>
          <a:noFill/>
          <a:ln/>
        </p:spPr>
        <p:txBody>
          <a:bodyPr wrap="square" lIns="0" tIns="0" rIns="0" bIns="0" rtlCol="0" anchor="ctr">
            <a:normAutofit/>
          </a:bodyPr>
          <a:lstStyle/>
          <a:p>
            <a:pPr algn="ctr" indent="0" marL="0">
              <a:buNone/>
            </a:pPr>
            <a:r>
              <a:rPr lang="en-US" sz="650" dirty="0">
                <a:solidFill>
                  <a:srgbClr val="D8A63C"/>
                </a:solidFill>
                <a:latin typeface="Noto Sans CJK KR" pitchFamily="34" charset="0"/>
                <a:ea typeface="Noto Sans CJK KR" pitchFamily="34" charset="-122"/>
                <a:cs typeface="Noto Sans CJK KR" pitchFamily="34" charset="-120"/>
              </a:rPr>
              <a:t>전일 6,807</a:t>
            </a:r>
            <a:endParaRPr lang="en-US" sz="650" dirty="0"/>
          </a:p>
        </p:txBody>
      </p:sp>
      <p:sp>
        <p:nvSpPr>
          <p:cNvPr id="15" name="Text 13"/>
          <p:cNvSpPr/>
          <p:nvPr/>
        </p:nvSpPr>
        <p:spPr>
          <a:xfrm>
            <a:off x="2040199" y="1984248"/>
            <a:ext cx="585216" cy="182880"/>
          </a:xfrm>
          <a:prstGeom prst="rect">
            <a:avLst/>
          </a:prstGeom>
          <a:noFill/>
          <a:ln/>
        </p:spPr>
        <p:txBody>
          <a:bodyPr wrap="square" lIns="0" tIns="0" rIns="0" bIns="0" rtlCol="0" anchor="ctr">
            <a:normAutofit/>
          </a:bodyPr>
          <a:lstStyle/>
          <a:p>
            <a:pPr algn="ctr" indent="0" marL="0">
              <a:buNone/>
            </a:pPr>
            <a:r>
              <a:rPr lang="en-US" sz="650" dirty="0">
                <a:solidFill>
                  <a:srgbClr val="465866"/>
                </a:solidFill>
                <a:latin typeface="Noto Sans CJK KR" pitchFamily="34" charset="0"/>
                <a:ea typeface="Noto Sans CJK KR" pitchFamily="34" charset="-122"/>
                <a:cs typeface="Noto Sans CJK KR" pitchFamily="34" charset="-120"/>
              </a:rPr>
              <a:t>시가 6,769</a:t>
            </a:r>
            <a:endParaRPr lang="en-US" sz="650" dirty="0"/>
          </a:p>
        </p:txBody>
      </p:sp>
      <p:sp>
        <p:nvSpPr>
          <p:cNvPr id="16" name="Text 14"/>
          <p:cNvSpPr/>
          <p:nvPr/>
        </p:nvSpPr>
        <p:spPr>
          <a:xfrm>
            <a:off x="2642616" y="2331720"/>
            <a:ext cx="822960" cy="182880"/>
          </a:xfrm>
          <a:prstGeom prst="rect">
            <a:avLst/>
          </a:prstGeom>
          <a:noFill/>
          <a:ln/>
        </p:spPr>
        <p:txBody>
          <a:bodyPr wrap="square" lIns="0" tIns="0" rIns="0" bIns="0" rtlCol="0" anchor="ctr">
            <a:normAutofit/>
          </a:bodyPr>
          <a:lstStyle/>
          <a:p>
            <a:pPr algn="r" indent="0" marL="0">
              <a:buNone/>
            </a:pPr>
            <a:r>
              <a:rPr lang="en-US" sz="670" dirty="0">
                <a:solidFill>
                  <a:srgbClr val="647586"/>
                </a:solidFill>
                <a:latin typeface="Noto Sans CJK KR" pitchFamily="34" charset="0"/>
                <a:ea typeface="Noto Sans CJK KR" pitchFamily="34" charset="-122"/>
                <a:cs typeface="Noto Sans CJK KR" pitchFamily="34" charset="-120"/>
              </a:rPr>
              <a:t>고 6,980</a:t>
            </a:r>
            <a:endParaRPr lang="en-US" sz="670" dirty="0"/>
          </a:p>
        </p:txBody>
      </p:sp>
      <p:sp>
        <p:nvSpPr>
          <p:cNvPr id="17" name="Text 15"/>
          <p:cNvSpPr/>
          <p:nvPr/>
        </p:nvSpPr>
        <p:spPr>
          <a:xfrm>
            <a:off x="548640" y="2523744"/>
            <a:ext cx="2980944" cy="173736"/>
          </a:xfrm>
          <a:prstGeom prst="rect">
            <a:avLst/>
          </a:prstGeom>
          <a:noFill/>
          <a:ln/>
        </p:spPr>
        <p:txBody>
          <a:bodyPr wrap="square" lIns="0" tIns="0" rIns="0" bIns="0" rtlCol="0" anchor="ctr">
            <a:normAutofit/>
          </a:bodyPr>
          <a:lstStyle/>
          <a:p>
            <a:pPr algn="r" indent="0" marL="0">
              <a:buNone/>
            </a:pPr>
            <a:r>
              <a:rPr lang="en-US" sz="750" b="1" dirty="0">
                <a:solidFill>
                  <a:srgbClr val="D9534F"/>
                </a:solidFill>
                <a:latin typeface="NanumSquare" pitchFamily="34" charset="0"/>
                <a:ea typeface="NanumSquare" pitchFamily="34" charset="-122"/>
                <a:cs typeface="NanumSquare" pitchFamily="34" charset="-120"/>
              </a:rPr>
              <a:t>저점 대비 +7.3%</a:t>
            </a:r>
            <a:endParaRPr lang="en-US" sz="750" dirty="0"/>
          </a:p>
        </p:txBody>
      </p:sp>
      <p:sp>
        <p:nvSpPr>
          <p:cNvPr id="18" name="Shape 16"/>
          <p:cNvSpPr/>
          <p:nvPr/>
        </p:nvSpPr>
        <p:spPr>
          <a:xfrm>
            <a:off x="3849624" y="1554480"/>
            <a:ext cx="3310128" cy="1225296"/>
          </a:xfrm>
          <a:prstGeom prst="roundRect">
            <a:avLst>
              <a:gd name="adj" fmla="val 5970"/>
            </a:avLst>
          </a:prstGeom>
          <a:solidFill>
            <a:srgbClr val="FFFFFF"/>
          </a:solidFill>
          <a:ln w="10160">
            <a:solidFill>
              <a:srgbClr val="D8DEE5"/>
            </a:solidFill>
            <a:prstDash val="solid"/>
          </a:ln>
        </p:spPr>
      </p:sp>
      <p:sp>
        <p:nvSpPr>
          <p:cNvPr id="19" name="Text 17"/>
          <p:cNvSpPr/>
          <p:nvPr/>
        </p:nvSpPr>
        <p:spPr>
          <a:xfrm>
            <a:off x="3995928" y="1673352"/>
            <a:ext cx="1097280" cy="228600"/>
          </a:xfrm>
          <a:prstGeom prst="rect">
            <a:avLst/>
          </a:prstGeom>
          <a:noFill/>
          <a:ln/>
        </p:spPr>
        <p:txBody>
          <a:bodyPr wrap="square" lIns="0" tIns="0" rIns="0" bIns="0" rtlCol="0" anchor="ctr">
            <a:normAutofit/>
          </a:bodyPr>
          <a:lstStyle/>
          <a:p>
            <a:pPr algn="l" indent="0" marL="0">
              <a:buNone/>
            </a:pPr>
            <a:r>
              <a:rPr lang="en-US" sz="1100" b="1" dirty="0">
                <a:solidFill>
                  <a:srgbClr val="0B1F33"/>
                </a:solidFill>
                <a:latin typeface="NanumSquare" pitchFamily="34" charset="0"/>
                <a:ea typeface="NanumSquare" pitchFamily="34" charset="-122"/>
                <a:cs typeface="NanumSquare" pitchFamily="34" charset="-120"/>
              </a:rPr>
              <a:t>코스닥</a:t>
            </a:r>
            <a:endParaRPr lang="en-US" sz="1100" dirty="0"/>
          </a:p>
        </p:txBody>
      </p:sp>
      <p:sp>
        <p:nvSpPr>
          <p:cNvPr id="20" name="Text 18"/>
          <p:cNvSpPr/>
          <p:nvPr/>
        </p:nvSpPr>
        <p:spPr>
          <a:xfrm>
            <a:off x="4855464" y="1655064"/>
            <a:ext cx="1554480" cy="274320"/>
          </a:xfrm>
          <a:prstGeom prst="rect">
            <a:avLst/>
          </a:prstGeom>
          <a:noFill/>
          <a:ln/>
        </p:spPr>
        <p:txBody>
          <a:bodyPr wrap="square" lIns="0" tIns="0" rIns="0" bIns="0" rtlCol="0" anchor="ctr">
            <a:normAutofit/>
          </a:bodyPr>
          <a:lstStyle/>
          <a:p>
            <a:pPr algn="r" indent="0" marL="0">
              <a:buNone/>
            </a:pPr>
            <a:r>
              <a:rPr lang="en-US" sz="1500" b="1" dirty="0">
                <a:solidFill>
                  <a:srgbClr val="0B1F33"/>
                </a:solidFill>
                <a:latin typeface="NanumSquare" pitchFamily="34" charset="0"/>
                <a:ea typeface="NanumSquare" pitchFamily="34" charset="-122"/>
                <a:cs typeface="NanumSquare" pitchFamily="34" charset="-120"/>
              </a:rPr>
              <a:t>782.76</a:t>
            </a:r>
            <a:endParaRPr lang="en-US" sz="1500" dirty="0"/>
          </a:p>
        </p:txBody>
      </p:sp>
      <p:sp>
        <p:nvSpPr>
          <p:cNvPr id="21" name="Text 19"/>
          <p:cNvSpPr/>
          <p:nvPr/>
        </p:nvSpPr>
        <p:spPr>
          <a:xfrm>
            <a:off x="6446520" y="1673352"/>
            <a:ext cx="841248" cy="228600"/>
          </a:xfrm>
          <a:prstGeom prst="rect">
            <a:avLst/>
          </a:prstGeom>
          <a:noFill/>
          <a:ln/>
        </p:spPr>
        <p:txBody>
          <a:bodyPr wrap="square" lIns="0" tIns="0" rIns="0" bIns="0" rtlCol="0" anchor="ctr">
            <a:normAutofit/>
          </a:bodyPr>
          <a:lstStyle/>
          <a:p>
            <a:pPr algn="r" indent="0" marL="0">
              <a:buNone/>
            </a:pPr>
            <a:r>
              <a:rPr lang="en-US" sz="1050" b="1" dirty="0">
                <a:solidFill>
                  <a:srgbClr val="3B73B9"/>
                </a:solidFill>
                <a:latin typeface="NanumSquare" pitchFamily="34" charset="0"/>
                <a:ea typeface="NanumSquare" pitchFamily="34" charset="-122"/>
                <a:cs typeface="NanumSquare" pitchFamily="34" charset="-120"/>
              </a:rPr>
              <a:t>-2.08%</a:t>
            </a:r>
            <a:endParaRPr lang="en-US" sz="1050" dirty="0"/>
          </a:p>
        </p:txBody>
      </p:sp>
      <p:sp>
        <p:nvSpPr>
          <p:cNvPr id="22" name="Shape 20"/>
          <p:cNvSpPr/>
          <p:nvPr/>
        </p:nvSpPr>
        <p:spPr>
          <a:xfrm>
            <a:off x="4078224" y="2212848"/>
            <a:ext cx="2852928" cy="0"/>
          </a:xfrm>
          <a:prstGeom prst="line">
            <a:avLst/>
          </a:prstGeom>
          <a:noFill/>
          <a:ln w="38100">
            <a:solidFill>
              <a:srgbClr val="C8D0D8"/>
            </a:solidFill>
            <a:prstDash val="solid"/>
            <a:headEnd type="none"/>
            <a:tailEnd type="none"/>
          </a:ln>
        </p:spPr>
      </p:sp>
      <p:sp>
        <p:nvSpPr>
          <p:cNvPr id="23" name="Shape 21"/>
          <p:cNvSpPr/>
          <p:nvPr/>
        </p:nvSpPr>
        <p:spPr>
          <a:xfrm>
            <a:off x="6759771" y="2103120"/>
            <a:ext cx="0" cy="219456"/>
          </a:xfrm>
          <a:prstGeom prst="line">
            <a:avLst/>
          </a:prstGeom>
          <a:noFill/>
          <a:ln w="17780">
            <a:solidFill>
              <a:srgbClr val="D8A63C"/>
            </a:solidFill>
            <a:prstDash val="solid"/>
          </a:ln>
        </p:spPr>
      </p:sp>
      <p:sp>
        <p:nvSpPr>
          <p:cNvPr id="24" name="Shape 22"/>
          <p:cNvSpPr/>
          <p:nvPr/>
        </p:nvSpPr>
        <p:spPr>
          <a:xfrm>
            <a:off x="6640831" y="2121408"/>
            <a:ext cx="0" cy="182880"/>
          </a:xfrm>
          <a:prstGeom prst="line">
            <a:avLst/>
          </a:prstGeom>
          <a:noFill/>
          <a:ln w="15240">
            <a:solidFill>
              <a:srgbClr val="465866"/>
            </a:solidFill>
            <a:prstDash val="solid"/>
          </a:ln>
        </p:spPr>
      </p:sp>
      <p:sp>
        <p:nvSpPr>
          <p:cNvPr id="25" name="Shape 23"/>
          <p:cNvSpPr/>
          <p:nvPr/>
        </p:nvSpPr>
        <p:spPr>
          <a:xfrm>
            <a:off x="5812153" y="2162556"/>
            <a:ext cx="100584" cy="100584"/>
          </a:xfrm>
          <a:prstGeom prst="ellipse">
            <a:avLst/>
          </a:prstGeom>
          <a:solidFill>
            <a:srgbClr val="3B73B9"/>
          </a:solidFill>
          <a:ln w="10160">
            <a:solidFill>
              <a:srgbClr val="FFFFFF"/>
            </a:solidFill>
            <a:prstDash val="solid"/>
          </a:ln>
        </p:spPr>
      </p:sp>
      <p:sp>
        <p:nvSpPr>
          <p:cNvPr id="26" name="Text 24"/>
          <p:cNvSpPr/>
          <p:nvPr/>
        </p:nvSpPr>
        <p:spPr>
          <a:xfrm>
            <a:off x="4078224" y="2331720"/>
            <a:ext cx="822960" cy="182880"/>
          </a:xfrm>
          <a:prstGeom prst="rect">
            <a:avLst/>
          </a:prstGeom>
          <a:noFill/>
          <a:ln/>
        </p:spPr>
        <p:txBody>
          <a:bodyPr wrap="square" lIns="0" tIns="0" rIns="0" bIns="0" rtlCol="0" anchor="ctr">
            <a:normAutofit/>
          </a:bodyPr>
          <a:lstStyle/>
          <a:p>
            <a:pPr algn="l" indent="0" marL="0">
              <a:buNone/>
            </a:pPr>
            <a:r>
              <a:rPr lang="en-US" sz="670" dirty="0">
                <a:solidFill>
                  <a:srgbClr val="647586"/>
                </a:solidFill>
                <a:latin typeface="Noto Sans CJK KR" pitchFamily="34" charset="0"/>
                <a:ea typeface="Noto Sans CJK KR" pitchFamily="34" charset="-122"/>
                <a:cs typeface="Noto Sans CJK KR" pitchFamily="34" charset="-120"/>
              </a:rPr>
              <a:t>저 750</a:t>
            </a:r>
            <a:endParaRPr lang="en-US" sz="670" dirty="0"/>
          </a:p>
        </p:txBody>
      </p:sp>
      <p:sp>
        <p:nvSpPr>
          <p:cNvPr id="27" name="Text 25"/>
          <p:cNvSpPr/>
          <p:nvPr/>
        </p:nvSpPr>
        <p:spPr>
          <a:xfrm>
            <a:off x="6439731" y="2395728"/>
            <a:ext cx="640080" cy="182880"/>
          </a:xfrm>
          <a:prstGeom prst="rect">
            <a:avLst/>
          </a:prstGeom>
          <a:noFill/>
          <a:ln/>
        </p:spPr>
        <p:txBody>
          <a:bodyPr wrap="square" lIns="0" tIns="0" rIns="0" bIns="0" rtlCol="0" anchor="ctr">
            <a:normAutofit/>
          </a:bodyPr>
          <a:lstStyle/>
          <a:p>
            <a:pPr algn="ctr" indent="0" marL="0">
              <a:buNone/>
            </a:pPr>
            <a:r>
              <a:rPr lang="en-US" sz="650" dirty="0">
                <a:solidFill>
                  <a:srgbClr val="D8A63C"/>
                </a:solidFill>
                <a:latin typeface="Noto Sans CJK KR" pitchFamily="34" charset="0"/>
                <a:ea typeface="Noto Sans CJK KR" pitchFamily="34" charset="-122"/>
                <a:cs typeface="Noto Sans CJK KR" pitchFamily="34" charset="-120"/>
              </a:rPr>
              <a:t>전일 799</a:t>
            </a:r>
            <a:endParaRPr lang="en-US" sz="650" dirty="0"/>
          </a:p>
        </p:txBody>
      </p:sp>
      <p:sp>
        <p:nvSpPr>
          <p:cNvPr id="28" name="Text 26"/>
          <p:cNvSpPr/>
          <p:nvPr/>
        </p:nvSpPr>
        <p:spPr>
          <a:xfrm>
            <a:off x="6348223" y="1984248"/>
            <a:ext cx="585216" cy="182880"/>
          </a:xfrm>
          <a:prstGeom prst="rect">
            <a:avLst/>
          </a:prstGeom>
          <a:noFill/>
          <a:ln/>
        </p:spPr>
        <p:txBody>
          <a:bodyPr wrap="square" lIns="0" tIns="0" rIns="0" bIns="0" rtlCol="0" anchor="ctr">
            <a:normAutofit/>
          </a:bodyPr>
          <a:lstStyle/>
          <a:p>
            <a:pPr algn="ctr" indent="0" marL="0">
              <a:buNone/>
            </a:pPr>
            <a:r>
              <a:rPr lang="en-US" sz="650" dirty="0">
                <a:solidFill>
                  <a:srgbClr val="465866"/>
                </a:solidFill>
                <a:latin typeface="Noto Sans CJK KR" pitchFamily="34" charset="0"/>
                <a:ea typeface="Noto Sans CJK KR" pitchFamily="34" charset="-122"/>
                <a:cs typeface="Noto Sans CJK KR" pitchFamily="34" charset="-120"/>
              </a:rPr>
              <a:t>시가 797</a:t>
            </a:r>
            <a:endParaRPr lang="en-US" sz="650" dirty="0"/>
          </a:p>
        </p:txBody>
      </p:sp>
      <p:sp>
        <p:nvSpPr>
          <p:cNvPr id="29" name="Text 27"/>
          <p:cNvSpPr/>
          <p:nvPr/>
        </p:nvSpPr>
        <p:spPr>
          <a:xfrm>
            <a:off x="6108192" y="2331720"/>
            <a:ext cx="822960" cy="182880"/>
          </a:xfrm>
          <a:prstGeom prst="rect">
            <a:avLst/>
          </a:prstGeom>
          <a:noFill/>
          <a:ln/>
        </p:spPr>
        <p:txBody>
          <a:bodyPr wrap="square" lIns="0" tIns="0" rIns="0" bIns="0" rtlCol="0" anchor="ctr">
            <a:normAutofit/>
          </a:bodyPr>
          <a:lstStyle/>
          <a:p>
            <a:pPr algn="r" indent="0" marL="0">
              <a:buNone/>
            </a:pPr>
            <a:r>
              <a:rPr lang="en-US" sz="670" dirty="0">
                <a:solidFill>
                  <a:srgbClr val="647586"/>
                </a:solidFill>
                <a:latin typeface="Noto Sans CJK KR" pitchFamily="34" charset="0"/>
                <a:ea typeface="Noto Sans CJK KR" pitchFamily="34" charset="-122"/>
                <a:cs typeface="Noto Sans CJK KR" pitchFamily="34" charset="-120"/>
              </a:rPr>
              <a:t>고 803</a:t>
            </a:r>
            <a:endParaRPr lang="en-US" sz="670" dirty="0"/>
          </a:p>
        </p:txBody>
      </p:sp>
      <p:sp>
        <p:nvSpPr>
          <p:cNvPr id="30" name="Text 28"/>
          <p:cNvSpPr/>
          <p:nvPr/>
        </p:nvSpPr>
        <p:spPr>
          <a:xfrm>
            <a:off x="4014216" y="2523744"/>
            <a:ext cx="2980944" cy="173736"/>
          </a:xfrm>
          <a:prstGeom prst="rect">
            <a:avLst/>
          </a:prstGeom>
          <a:noFill/>
          <a:ln/>
        </p:spPr>
        <p:txBody>
          <a:bodyPr wrap="square" lIns="0" tIns="0" rIns="0" bIns="0" rtlCol="0" anchor="ctr">
            <a:normAutofit/>
          </a:bodyPr>
          <a:lstStyle/>
          <a:p>
            <a:pPr algn="r" indent="0" marL="0">
              <a:buNone/>
            </a:pPr>
            <a:r>
              <a:rPr lang="en-US" sz="750" b="1" dirty="0">
                <a:solidFill>
                  <a:srgbClr val="3B73B9"/>
                </a:solidFill>
                <a:latin typeface="NanumSquare" pitchFamily="34" charset="0"/>
                <a:ea typeface="NanumSquare" pitchFamily="34" charset="-122"/>
                <a:cs typeface="NanumSquare" pitchFamily="34" charset="-120"/>
              </a:rPr>
              <a:t>저점 대비 +4.4%</a:t>
            </a:r>
            <a:endParaRPr lang="en-US" sz="750" dirty="0"/>
          </a:p>
        </p:txBody>
      </p:sp>
      <p:sp>
        <p:nvSpPr>
          <p:cNvPr id="31" name="Text 29"/>
          <p:cNvSpPr/>
          <p:nvPr/>
        </p:nvSpPr>
        <p:spPr>
          <a:xfrm>
            <a:off x="384048" y="3008376"/>
            <a:ext cx="3310128" cy="256032"/>
          </a:xfrm>
          <a:prstGeom prst="rect">
            <a:avLst/>
          </a:prstGeom>
          <a:noFill/>
          <a:ln/>
        </p:spPr>
        <p:txBody>
          <a:bodyPr wrap="square" lIns="0" tIns="0" rIns="0" bIns="0" rtlCol="0" anchor="ctr">
            <a:normAutofit/>
          </a:bodyPr>
          <a:lstStyle/>
          <a:p>
            <a:pPr algn="l" indent="0" marL="0">
              <a:buNone/>
            </a:pPr>
            <a:r>
              <a:rPr lang="en-US" sz="1250" b="1" dirty="0">
                <a:solidFill>
                  <a:srgbClr val="0B1F33"/>
                </a:solidFill>
                <a:latin typeface="NanumSquare" pitchFamily="34" charset="0"/>
                <a:ea typeface="NanumSquare" pitchFamily="34" charset="-122"/>
                <a:cs typeface="NanumSquare" pitchFamily="34" charset="-120"/>
              </a:rPr>
              <a:t>시장 폭</a:t>
            </a:r>
            <a:endParaRPr lang="en-US" sz="1250" dirty="0"/>
          </a:p>
        </p:txBody>
      </p:sp>
      <p:sp>
        <p:nvSpPr>
          <p:cNvPr id="32" name="Shape 30"/>
          <p:cNvSpPr/>
          <p:nvPr/>
        </p:nvSpPr>
        <p:spPr>
          <a:xfrm>
            <a:off x="384048" y="3337560"/>
            <a:ext cx="3310128" cy="1033272"/>
          </a:xfrm>
          <a:prstGeom prst="roundRect">
            <a:avLst>
              <a:gd name="adj" fmla="val 7080"/>
            </a:avLst>
          </a:prstGeom>
          <a:solidFill>
            <a:srgbClr val="FFFFFF"/>
          </a:solidFill>
          <a:ln w="10160">
            <a:solidFill>
              <a:srgbClr val="D8DEE5"/>
            </a:solidFill>
            <a:prstDash val="solid"/>
          </a:ln>
        </p:spPr>
      </p:sp>
      <p:sp>
        <p:nvSpPr>
          <p:cNvPr id="33" name="Text 31"/>
          <p:cNvSpPr/>
          <p:nvPr/>
        </p:nvSpPr>
        <p:spPr>
          <a:xfrm>
            <a:off x="521208" y="3429000"/>
            <a:ext cx="685800" cy="201168"/>
          </a:xfrm>
          <a:prstGeom prst="rect">
            <a:avLst/>
          </a:prstGeom>
          <a:noFill/>
          <a:ln/>
        </p:spPr>
        <p:txBody>
          <a:bodyPr wrap="square" lIns="0" tIns="0" rIns="0" bIns="0" rtlCol="0" anchor="ctr">
            <a:normAutofit/>
          </a:bodyPr>
          <a:lstStyle/>
          <a:p>
            <a:pPr algn="l" indent="0" marL="0">
              <a:buNone/>
            </a:pPr>
            <a:r>
              <a:rPr lang="en-US" sz="950" b="1" dirty="0">
                <a:solidFill>
                  <a:srgbClr val="0B1F33"/>
                </a:solidFill>
                <a:latin typeface="NanumSquare" pitchFamily="34" charset="0"/>
                <a:ea typeface="NanumSquare" pitchFamily="34" charset="-122"/>
                <a:cs typeface="NanumSquare" pitchFamily="34" charset="-120"/>
              </a:rPr>
              <a:t>KOSPI</a:t>
            </a:r>
            <a:endParaRPr lang="en-US" sz="950" dirty="0"/>
          </a:p>
        </p:txBody>
      </p:sp>
      <p:sp>
        <p:nvSpPr>
          <p:cNvPr id="34" name="Text 32"/>
          <p:cNvSpPr/>
          <p:nvPr/>
        </p:nvSpPr>
        <p:spPr>
          <a:xfrm>
            <a:off x="1252728" y="3429000"/>
            <a:ext cx="2304288" cy="201168"/>
          </a:xfrm>
          <a:prstGeom prst="rect">
            <a:avLst/>
          </a:prstGeom>
          <a:noFill/>
          <a:ln/>
        </p:spPr>
        <p:txBody>
          <a:bodyPr wrap="square" lIns="0" tIns="0" rIns="0" bIns="0" rtlCol="0" anchor="ctr">
            <a:normAutofit/>
          </a:bodyPr>
          <a:lstStyle/>
          <a:p>
            <a:pPr algn="r" indent="0" marL="0">
              <a:buNone/>
            </a:pPr>
            <a:r>
              <a:rPr lang="en-US" sz="740" dirty="0">
                <a:solidFill>
                  <a:srgbClr val="647586"/>
                </a:solidFill>
                <a:latin typeface="Noto Sans CJK KR" pitchFamily="34" charset="0"/>
                <a:ea typeface="Noto Sans CJK KR" pitchFamily="34" charset="-122"/>
                <a:cs typeface="Noto Sans CJK KR" pitchFamily="34" charset="-120"/>
              </a:rPr>
              <a:t>상승 272 · 보합 32 · 하락 608</a:t>
            </a:r>
            <a:endParaRPr lang="en-US" sz="740" dirty="0"/>
          </a:p>
        </p:txBody>
      </p:sp>
      <p:sp>
        <p:nvSpPr>
          <p:cNvPr id="35" name="Shape 33"/>
          <p:cNvSpPr/>
          <p:nvPr/>
        </p:nvSpPr>
        <p:spPr>
          <a:xfrm>
            <a:off x="548640" y="3794760"/>
            <a:ext cx="889053" cy="164592"/>
          </a:xfrm>
          <a:prstGeom prst="rect">
            <a:avLst/>
          </a:prstGeom>
          <a:solidFill>
            <a:srgbClr val="D9534F"/>
          </a:solidFill>
          <a:ln w="12700">
            <a:solidFill>
              <a:srgbClr val="D9534F"/>
            </a:solidFill>
            <a:prstDash val="solid"/>
          </a:ln>
        </p:spPr>
      </p:sp>
      <p:sp>
        <p:nvSpPr>
          <p:cNvPr id="36" name="Shape 34"/>
          <p:cNvSpPr/>
          <p:nvPr/>
        </p:nvSpPr>
        <p:spPr>
          <a:xfrm>
            <a:off x="1437693" y="3794760"/>
            <a:ext cx="104595" cy="164592"/>
          </a:xfrm>
          <a:prstGeom prst="rect">
            <a:avLst/>
          </a:prstGeom>
          <a:solidFill>
            <a:srgbClr val="C5CCD3"/>
          </a:solidFill>
          <a:ln w="12700">
            <a:solidFill>
              <a:srgbClr val="C5CCD3"/>
            </a:solidFill>
            <a:prstDash val="solid"/>
          </a:ln>
        </p:spPr>
      </p:sp>
      <p:sp>
        <p:nvSpPr>
          <p:cNvPr id="37" name="Shape 35"/>
          <p:cNvSpPr/>
          <p:nvPr/>
        </p:nvSpPr>
        <p:spPr>
          <a:xfrm>
            <a:off x="1542288" y="3794760"/>
            <a:ext cx="1987296" cy="164592"/>
          </a:xfrm>
          <a:prstGeom prst="rect">
            <a:avLst/>
          </a:prstGeom>
          <a:solidFill>
            <a:srgbClr val="3B73B9"/>
          </a:solidFill>
          <a:ln w="12700">
            <a:solidFill>
              <a:srgbClr val="3B73B9"/>
            </a:solidFill>
            <a:prstDash val="solid"/>
          </a:ln>
        </p:spPr>
      </p:sp>
      <p:sp>
        <p:nvSpPr>
          <p:cNvPr id="38" name="Text 36"/>
          <p:cNvSpPr/>
          <p:nvPr/>
        </p:nvSpPr>
        <p:spPr>
          <a:xfrm>
            <a:off x="548640" y="4032504"/>
            <a:ext cx="2980944" cy="201168"/>
          </a:xfrm>
          <a:prstGeom prst="rect">
            <a:avLst/>
          </a:prstGeom>
          <a:noFill/>
          <a:ln/>
        </p:spPr>
        <p:txBody>
          <a:bodyPr wrap="square" lIns="0" tIns="0" rIns="0" bIns="0" rtlCol="0" anchor="ctr">
            <a:normAutofit/>
          </a:bodyPr>
          <a:lstStyle/>
          <a:p>
            <a:pPr algn="l" indent="0" marL="0">
              <a:buNone/>
            </a:pPr>
            <a:r>
              <a:rPr lang="en-US" sz="900" b="1" dirty="0">
                <a:solidFill>
                  <a:srgbClr val="3B73B9"/>
                </a:solidFill>
                <a:latin typeface="NanumSquare" pitchFamily="34" charset="0"/>
                <a:ea typeface="NanumSquare" pitchFamily="34" charset="-122"/>
                <a:cs typeface="NanumSquare" pitchFamily="34" charset="-120"/>
              </a:rPr>
              <a:t>상승 비율 30.9%</a:t>
            </a:r>
            <a:endParaRPr lang="en-US" sz="900" dirty="0"/>
          </a:p>
        </p:txBody>
      </p:sp>
      <p:sp>
        <p:nvSpPr>
          <p:cNvPr id="39" name="Shape 37"/>
          <p:cNvSpPr/>
          <p:nvPr/>
        </p:nvSpPr>
        <p:spPr>
          <a:xfrm>
            <a:off x="384048" y="4507992"/>
            <a:ext cx="3310128" cy="1033272"/>
          </a:xfrm>
          <a:prstGeom prst="roundRect">
            <a:avLst>
              <a:gd name="adj" fmla="val 7080"/>
            </a:avLst>
          </a:prstGeom>
          <a:solidFill>
            <a:srgbClr val="FFFFFF"/>
          </a:solidFill>
          <a:ln w="10160">
            <a:solidFill>
              <a:srgbClr val="D8DEE5"/>
            </a:solidFill>
            <a:prstDash val="solid"/>
          </a:ln>
        </p:spPr>
      </p:sp>
      <p:sp>
        <p:nvSpPr>
          <p:cNvPr id="40" name="Text 38"/>
          <p:cNvSpPr/>
          <p:nvPr/>
        </p:nvSpPr>
        <p:spPr>
          <a:xfrm>
            <a:off x="521208" y="4599432"/>
            <a:ext cx="685800" cy="201168"/>
          </a:xfrm>
          <a:prstGeom prst="rect">
            <a:avLst/>
          </a:prstGeom>
          <a:noFill/>
          <a:ln/>
        </p:spPr>
        <p:txBody>
          <a:bodyPr wrap="square" lIns="0" tIns="0" rIns="0" bIns="0" rtlCol="0" anchor="ctr">
            <a:normAutofit/>
          </a:bodyPr>
          <a:lstStyle/>
          <a:p>
            <a:pPr algn="l" indent="0" marL="0">
              <a:buNone/>
            </a:pPr>
            <a:r>
              <a:rPr lang="en-US" sz="950" b="1" dirty="0">
                <a:solidFill>
                  <a:srgbClr val="0B1F33"/>
                </a:solidFill>
                <a:latin typeface="NanumSquare" pitchFamily="34" charset="0"/>
                <a:ea typeface="NanumSquare" pitchFamily="34" charset="-122"/>
                <a:cs typeface="NanumSquare" pitchFamily="34" charset="-120"/>
              </a:rPr>
              <a:t>KOSDAQ</a:t>
            </a:r>
            <a:endParaRPr lang="en-US" sz="950" dirty="0"/>
          </a:p>
        </p:txBody>
      </p:sp>
      <p:sp>
        <p:nvSpPr>
          <p:cNvPr id="41" name="Text 39"/>
          <p:cNvSpPr/>
          <p:nvPr/>
        </p:nvSpPr>
        <p:spPr>
          <a:xfrm>
            <a:off x="1252728" y="4599432"/>
            <a:ext cx="2304288" cy="201168"/>
          </a:xfrm>
          <a:prstGeom prst="rect">
            <a:avLst/>
          </a:prstGeom>
          <a:noFill/>
          <a:ln/>
        </p:spPr>
        <p:txBody>
          <a:bodyPr wrap="square" lIns="0" tIns="0" rIns="0" bIns="0" rtlCol="0" anchor="ctr">
            <a:normAutofit/>
          </a:bodyPr>
          <a:lstStyle/>
          <a:p>
            <a:pPr algn="r" indent="0" marL="0">
              <a:buNone/>
            </a:pPr>
            <a:r>
              <a:rPr lang="en-US" sz="740" dirty="0">
                <a:solidFill>
                  <a:srgbClr val="647586"/>
                </a:solidFill>
                <a:latin typeface="Noto Sans CJK KR" pitchFamily="34" charset="0"/>
                <a:ea typeface="Noto Sans CJK KR" pitchFamily="34" charset="-122"/>
                <a:cs typeface="Noto Sans CJK KR" pitchFamily="34" charset="-120"/>
              </a:rPr>
              <a:t>상승 409 · 보합 76 · 하락 1254</a:t>
            </a:r>
            <a:endParaRPr lang="en-US" sz="740" dirty="0"/>
          </a:p>
        </p:txBody>
      </p:sp>
      <p:sp>
        <p:nvSpPr>
          <p:cNvPr id="42" name="Shape 40"/>
          <p:cNvSpPr/>
          <p:nvPr/>
        </p:nvSpPr>
        <p:spPr>
          <a:xfrm>
            <a:off x="548640" y="4965192"/>
            <a:ext cx="701096" cy="164592"/>
          </a:xfrm>
          <a:prstGeom prst="rect">
            <a:avLst/>
          </a:prstGeom>
          <a:solidFill>
            <a:srgbClr val="D9534F"/>
          </a:solidFill>
          <a:ln w="12700">
            <a:solidFill>
              <a:srgbClr val="D9534F"/>
            </a:solidFill>
            <a:prstDash val="solid"/>
          </a:ln>
        </p:spPr>
      </p:sp>
      <p:sp>
        <p:nvSpPr>
          <p:cNvPr id="43" name="Shape 41"/>
          <p:cNvSpPr/>
          <p:nvPr/>
        </p:nvSpPr>
        <p:spPr>
          <a:xfrm>
            <a:off x="1249736" y="4965192"/>
            <a:ext cx="130277" cy="164592"/>
          </a:xfrm>
          <a:prstGeom prst="rect">
            <a:avLst/>
          </a:prstGeom>
          <a:solidFill>
            <a:srgbClr val="C5CCD3"/>
          </a:solidFill>
          <a:ln w="12700">
            <a:solidFill>
              <a:srgbClr val="C5CCD3"/>
            </a:solidFill>
            <a:prstDash val="solid"/>
          </a:ln>
        </p:spPr>
      </p:sp>
      <p:sp>
        <p:nvSpPr>
          <p:cNvPr id="44" name="Shape 42"/>
          <p:cNvSpPr/>
          <p:nvPr/>
        </p:nvSpPr>
        <p:spPr>
          <a:xfrm>
            <a:off x="1380013" y="4965192"/>
            <a:ext cx="2149571" cy="164592"/>
          </a:xfrm>
          <a:prstGeom prst="rect">
            <a:avLst/>
          </a:prstGeom>
          <a:solidFill>
            <a:srgbClr val="3B73B9"/>
          </a:solidFill>
          <a:ln w="12700">
            <a:solidFill>
              <a:srgbClr val="3B73B9"/>
            </a:solidFill>
            <a:prstDash val="solid"/>
          </a:ln>
        </p:spPr>
      </p:sp>
      <p:sp>
        <p:nvSpPr>
          <p:cNvPr id="45" name="Text 43"/>
          <p:cNvSpPr/>
          <p:nvPr/>
        </p:nvSpPr>
        <p:spPr>
          <a:xfrm>
            <a:off x="548640" y="5202936"/>
            <a:ext cx="2980944" cy="201168"/>
          </a:xfrm>
          <a:prstGeom prst="rect">
            <a:avLst/>
          </a:prstGeom>
          <a:noFill/>
          <a:ln/>
        </p:spPr>
        <p:txBody>
          <a:bodyPr wrap="square" lIns="0" tIns="0" rIns="0" bIns="0" rtlCol="0" anchor="ctr">
            <a:normAutofit/>
          </a:bodyPr>
          <a:lstStyle/>
          <a:p>
            <a:pPr algn="l" indent="0" marL="0">
              <a:buNone/>
            </a:pPr>
            <a:r>
              <a:rPr lang="en-US" sz="900" b="1" dirty="0">
                <a:solidFill>
                  <a:srgbClr val="3B73B9"/>
                </a:solidFill>
                <a:latin typeface="NanumSquare" pitchFamily="34" charset="0"/>
                <a:ea typeface="NanumSquare" pitchFamily="34" charset="-122"/>
                <a:cs typeface="NanumSquare" pitchFamily="34" charset="-120"/>
              </a:rPr>
              <a:t>상승 비율 24.6%</a:t>
            </a:r>
            <a:endParaRPr lang="en-US" sz="900" dirty="0"/>
          </a:p>
        </p:txBody>
      </p:sp>
      <p:sp>
        <p:nvSpPr>
          <p:cNvPr id="46" name="Text 44"/>
          <p:cNvSpPr/>
          <p:nvPr/>
        </p:nvSpPr>
        <p:spPr>
          <a:xfrm>
            <a:off x="3849624" y="3008376"/>
            <a:ext cx="3310128" cy="256032"/>
          </a:xfrm>
          <a:prstGeom prst="rect">
            <a:avLst/>
          </a:prstGeom>
          <a:noFill/>
          <a:ln/>
        </p:spPr>
        <p:txBody>
          <a:bodyPr wrap="square" lIns="0" tIns="0" rIns="0" bIns="0" rtlCol="0" anchor="ctr">
            <a:normAutofit/>
          </a:bodyPr>
          <a:lstStyle/>
          <a:p>
            <a:pPr algn="l" indent="0" marL="0">
              <a:buNone/>
            </a:pPr>
            <a:r>
              <a:rPr lang="en-US" sz="1250" b="1" dirty="0">
                <a:solidFill>
                  <a:srgbClr val="0B1F33"/>
                </a:solidFill>
                <a:latin typeface="NanumSquare" pitchFamily="34" charset="0"/>
                <a:ea typeface="NanumSquare" pitchFamily="34" charset="-122"/>
                <a:cs typeface="NanumSquare" pitchFamily="34" charset="-120"/>
              </a:rPr>
              <a:t>투자자·프로그램 누적 순매수</a:t>
            </a:r>
            <a:endParaRPr lang="en-US" sz="1250" dirty="0"/>
          </a:p>
        </p:txBody>
      </p:sp>
      <p:sp>
        <p:nvSpPr>
          <p:cNvPr id="47" name="Shape 45"/>
          <p:cNvSpPr/>
          <p:nvPr/>
        </p:nvSpPr>
        <p:spPr>
          <a:xfrm>
            <a:off x="3849624" y="3337560"/>
            <a:ext cx="3310128" cy="2203704"/>
          </a:xfrm>
          <a:prstGeom prst="roundRect">
            <a:avLst>
              <a:gd name="adj" fmla="val 3320"/>
            </a:avLst>
          </a:prstGeom>
          <a:solidFill>
            <a:srgbClr val="FFFFFF"/>
          </a:solidFill>
          <a:ln w="10160">
            <a:solidFill>
              <a:srgbClr val="D8DEE5"/>
            </a:solidFill>
            <a:prstDash val="solid"/>
          </a:ln>
        </p:spPr>
      </p:sp>
      <p:sp>
        <p:nvSpPr>
          <p:cNvPr id="48" name="Text 46"/>
          <p:cNvSpPr/>
          <p:nvPr/>
        </p:nvSpPr>
        <p:spPr>
          <a:xfrm>
            <a:off x="3995928" y="3511296"/>
            <a:ext cx="1115568" cy="164592"/>
          </a:xfrm>
          <a:prstGeom prst="rect">
            <a:avLst/>
          </a:prstGeom>
          <a:noFill/>
          <a:ln/>
        </p:spPr>
        <p:txBody>
          <a:bodyPr wrap="square" lIns="0" tIns="0" rIns="0" bIns="0" rtlCol="0" anchor="ctr">
            <a:normAutofit/>
          </a:bodyPr>
          <a:lstStyle/>
          <a:p>
            <a:pPr algn="l" indent="0" marL="0">
              <a:buNone/>
            </a:pPr>
            <a:r>
              <a:rPr lang="en-US" sz="720" dirty="0">
                <a:solidFill>
                  <a:srgbClr val="465866"/>
                </a:solidFill>
                <a:latin typeface="Noto Sans CJK KR" pitchFamily="34" charset="0"/>
                <a:ea typeface="Noto Sans CJK KR" pitchFamily="34" charset="-122"/>
                <a:cs typeface="Noto Sans CJK KR" pitchFamily="34" charset="-120"/>
              </a:rPr>
              <a:t>KOSPI 개인</a:t>
            </a:r>
            <a:endParaRPr lang="en-US" sz="720" dirty="0"/>
          </a:p>
        </p:txBody>
      </p:sp>
      <p:sp>
        <p:nvSpPr>
          <p:cNvPr id="49" name="Shape 47"/>
          <p:cNvSpPr/>
          <p:nvPr/>
        </p:nvSpPr>
        <p:spPr>
          <a:xfrm>
            <a:off x="5650992" y="3593592"/>
            <a:ext cx="0" cy="164592"/>
          </a:xfrm>
          <a:prstGeom prst="line">
            <a:avLst/>
          </a:prstGeom>
          <a:noFill/>
          <a:ln w="10160">
            <a:solidFill>
              <a:srgbClr val="AEB9C3"/>
            </a:solidFill>
            <a:prstDash val="solid"/>
          </a:ln>
        </p:spPr>
      </p:sp>
      <p:sp>
        <p:nvSpPr>
          <p:cNvPr id="50" name="Shape 48"/>
          <p:cNvSpPr/>
          <p:nvPr/>
        </p:nvSpPr>
        <p:spPr>
          <a:xfrm>
            <a:off x="4486178" y="3538728"/>
            <a:ext cx="1164814" cy="109728"/>
          </a:xfrm>
          <a:prstGeom prst="rect">
            <a:avLst/>
          </a:prstGeom>
          <a:solidFill>
            <a:srgbClr val="3B73B9"/>
          </a:solidFill>
          <a:ln w="12700">
            <a:solidFill>
              <a:srgbClr val="3B73B9"/>
            </a:solidFill>
            <a:prstDash val="solid"/>
          </a:ln>
        </p:spPr>
      </p:sp>
      <p:sp>
        <p:nvSpPr>
          <p:cNvPr id="51" name="Text 49"/>
          <p:cNvSpPr/>
          <p:nvPr/>
        </p:nvSpPr>
        <p:spPr>
          <a:xfrm>
            <a:off x="6473952" y="3511296"/>
            <a:ext cx="530352" cy="164592"/>
          </a:xfrm>
          <a:prstGeom prst="rect">
            <a:avLst/>
          </a:prstGeom>
          <a:noFill/>
          <a:ln/>
        </p:spPr>
        <p:txBody>
          <a:bodyPr wrap="square" lIns="0" tIns="0" rIns="0" bIns="0" rtlCol="0" anchor="ctr">
            <a:normAutofit/>
          </a:bodyPr>
          <a:lstStyle/>
          <a:p>
            <a:pPr algn="r" indent="0" marL="0">
              <a:buNone/>
            </a:pPr>
            <a:r>
              <a:rPr lang="en-US" sz="700" b="1" dirty="0">
                <a:solidFill>
                  <a:srgbClr val="3B73B9"/>
                </a:solidFill>
                <a:latin typeface="NanumSquare" pitchFamily="34" charset="0"/>
                <a:ea typeface="NanumSquare" pitchFamily="34" charset="-122"/>
                <a:cs typeface="NanumSquare" pitchFamily="34" charset="-120"/>
              </a:rPr>
              <a:t>-39,808억</a:t>
            </a:r>
            <a:endParaRPr lang="en-US" sz="700" dirty="0"/>
          </a:p>
        </p:txBody>
      </p:sp>
      <p:sp>
        <p:nvSpPr>
          <p:cNvPr id="52" name="Text 50"/>
          <p:cNvSpPr/>
          <p:nvPr/>
        </p:nvSpPr>
        <p:spPr>
          <a:xfrm>
            <a:off x="3995928" y="3776472"/>
            <a:ext cx="1115568" cy="164592"/>
          </a:xfrm>
          <a:prstGeom prst="rect">
            <a:avLst/>
          </a:prstGeom>
          <a:noFill/>
          <a:ln/>
        </p:spPr>
        <p:txBody>
          <a:bodyPr wrap="square" lIns="0" tIns="0" rIns="0" bIns="0" rtlCol="0" anchor="ctr">
            <a:normAutofit/>
          </a:bodyPr>
          <a:lstStyle/>
          <a:p>
            <a:pPr algn="l" indent="0" marL="0">
              <a:buNone/>
            </a:pPr>
            <a:r>
              <a:rPr lang="en-US" sz="720" dirty="0">
                <a:solidFill>
                  <a:srgbClr val="465866"/>
                </a:solidFill>
                <a:latin typeface="Noto Sans CJK KR" pitchFamily="34" charset="0"/>
                <a:ea typeface="Noto Sans CJK KR" pitchFamily="34" charset="-122"/>
                <a:cs typeface="Noto Sans CJK KR" pitchFamily="34" charset="-120"/>
              </a:rPr>
              <a:t>KOSPI 외국인</a:t>
            </a:r>
            <a:endParaRPr lang="en-US" sz="720" dirty="0"/>
          </a:p>
        </p:txBody>
      </p:sp>
      <p:sp>
        <p:nvSpPr>
          <p:cNvPr id="53" name="Shape 51"/>
          <p:cNvSpPr/>
          <p:nvPr/>
        </p:nvSpPr>
        <p:spPr>
          <a:xfrm>
            <a:off x="5650992" y="3858768"/>
            <a:ext cx="0" cy="164592"/>
          </a:xfrm>
          <a:prstGeom prst="line">
            <a:avLst/>
          </a:prstGeom>
          <a:noFill/>
          <a:ln w="10160">
            <a:solidFill>
              <a:srgbClr val="AEB9C3"/>
            </a:solidFill>
            <a:prstDash val="solid"/>
          </a:ln>
        </p:spPr>
      </p:sp>
      <p:sp>
        <p:nvSpPr>
          <p:cNvPr id="54" name="Shape 52"/>
          <p:cNvSpPr/>
          <p:nvPr/>
        </p:nvSpPr>
        <p:spPr>
          <a:xfrm>
            <a:off x="5650992" y="3803904"/>
            <a:ext cx="141564" cy="109728"/>
          </a:xfrm>
          <a:prstGeom prst="rect">
            <a:avLst/>
          </a:prstGeom>
          <a:solidFill>
            <a:srgbClr val="D9534F"/>
          </a:solidFill>
          <a:ln w="12700">
            <a:solidFill>
              <a:srgbClr val="D9534F"/>
            </a:solidFill>
            <a:prstDash val="solid"/>
          </a:ln>
        </p:spPr>
      </p:sp>
      <p:sp>
        <p:nvSpPr>
          <p:cNvPr id="55" name="Text 53"/>
          <p:cNvSpPr/>
          <p:nvPr/>
        </p:nvSpPr>
        <p:spPr>
          <a:xfrm>
            <a:off x="6473952" y="3776472"/>
            <a:ext cx="530352" cy="164592"/>
          </a:xfrm>
          <a:prstGeom prst="rect">
            <a:avLst/>
          </a:prstGeom>
          <a:noFill/>
          <a:ln/>
        </p:spPr>
        <p:txBody>
          <a:bodyPr wrap="square" lIns="0" tIns="0" rIns="0" bIns="0" rtlCol="0" anchor="ctr">
            <a:normAutofit/>
          </a:bodyPr>
          <a:lstStyle/>
          <a:p>
            <a:pPr algn="r" indent="0" marL="0">
              <a:buNone/>
            </a:pPr>
            <a:r>
              <a:rPr lang="en-US" sz="700" b="1" dirty="0">
                <a:solidFill>
                  <a:srgbClr val="D9534F"/>
                </a:solidFill>
                <a:latin typeface="NanumSquare" pitchFamily="34" charset="0"/>
                <a:ea typeface="NanumSquare" pitchFamily="34" charset="-122"/>
                <a:cs typeface="NanumSquare" pitchFamily="34" charset="-120"/>
              </a:rPr>
              <a:t>+4,838억</a:t>
            </a:r>
            <a:endParaRPr lang="en-US" sz="700" dirty="0"/>
          </a:p>
        </p:txBody>
      </p:sp>
      <p:sp>
        <p:nvSpPr>
          <p:cNvPr id="56" name="Text 54"/>
          <p:cNvSpPr/>
          <p:nvPr/>
        </p:nvSpPr>
        <p:spPr>
          <a:xfrm>
            <a:off x="3995928" y="4041648"/>
            <a:ext cx="1115568" cy="164592"/>
          </a:xfrm>
          <a:prstGeom prst="rect">
            <a:avLst/>
          </a:prstGeom>
          <a:noFill/>
          <a:ln/>
        </p:spPr>
        <p:txBody>
          <a:bodyPr wrap="square" lIns="0" tIns="0" rIns="0" bIns="0" rtlCol="0" anchor="ctr">
            <a:normAutofit/>
          </a:bodyPr>
          <a:lstStyle/>
          <a:p>
            <a:pPr algn="l" indent="0" marL="0">
              <a:buNone/>
            </a:pPr>
            <a:r>
              <a:rPr lang="en-US" sz="720" dirty="0">
                <a:solidFill>
                  <a:srgbClr val="465866"/>
                </a:solidFill>
                <a:latin typeface="Noto Sans CJK KR" pitchFamily="34" charset="0"/>
                <a:ea typeface="Noto Sans CJK KR" pitchFamily="34" charset="-122"/>
                <a:cs typeface="Noto Sans CJK KR" pitchFamily="34" charset="-120"/>
              </a:rPr>
              <a:t>KOSPI 기관</a:t>
            </a:r>
            <a:endParaRPr lang="en-US" sz="720" dirty="0"/>
          </a:p>
        </p:txBody>
      </p:sp>
      <p:sp>
        <p:nvSpPr>
          <p:cNvPr id="57" name="Shape 55"/>
          <p:cNvSpPr/>
          <p:nvPr/>
        </p:nvSpPr>
        <p:spPr>
          <a:xfrm>
            <a:off x="5650992" y="4123944"/>
            <a:ext cx="0" cy="164592"/>
          </a:xfrm>
          <a:prstGeom prst="line">
            <a:avLst/>
          </a:prstGeom>
          <a:noFill/>
          <a:ln w="10160">
            <a:solidFill>
              <a:srgbClr val="AEB9C3"/>
            </a:solidFill>
            <a:prstDash val="solid"/>
          </a:ln>
        </p:spPr>
      </p:sp>
      <p:sp>
        <p:nvSpPr>
          <p:cNvPr id="58" name="Shape 56"/>
          <p:cNvSpPr/>
          <p:nvPr/>
        </p:nvSpPr>
        <p:spPr>
          <a:xfrm>
            <a:off x="5650992" y="4069080"/>
            <a:ext cx="1031209" cy="109728"/>
          </a:xfrm>
          <a:prstGeom prst="rect">
            <a:avLst/>
          </a:prstGeom>
          <a:solidFill>
            <a:srgbClr val="D9534F"/>
          </a:solidFill>
          <a:ln w="12700">
            <a:solidFill>
              <a:srgbClr val="D9534F"/>
            </a:solidFill>
            <a:prstDash val="solid"/>
          </a:ln>
        </p:spPr>
      </p:sp>
      <p:sp>
        <p:nvSpPr>
          <p:cNvPr id="59" name="Text 57"/>
          <p:cNvSpPr/>
          <p:nvPr/>
        </p:nvSpPr>
        <p:spPr>
          <a:xfrm>
            <a:off x="6473952" y="4041648"/>
            <a:ext cx="530352" cy="164592"/>
          </a:xfrm>
          <a:prstGeom prst="rect">
            <a:avLst/>
          </a:prstGeom>
          <a:noFill/>
          <a:ln/>
        </p:spPr>
        <p:txBody>
          <a:bodyPr wrap="square" lIns="0" tIns="0" rIns="0" bIns="0" rtlCol="0" anchor="ctr">
            <a:normAutofit/>
          </a:bodyPr>
          <a:lstStyle/>
          <a:p>
            <a:pPr algn="r" indent="0" marL="0">
              <a:buNone/>
            </a:pPr>
            <a:r>
              <a:rPr lang="en-US" sz="700" b="1" dirty="0">
                <a:solidFill>
                  <a:srgbClr val="D9534F"/>
                </a:solidFill>
                <a:latin typeface="NanumSquare" pitchFamily="34" charset="0"/>
                <a:ea typeface="NanumSquare" pitchFamily="34" charset="-122"/>
                <a:cs typeface="NanumSquare" pitchFamily="34" charset="-120"/>
              </a:rPr>
              <a:t>+35,242억</a:t>
            </a:r>
            <a:endParaRPr lang="en-US" sz="700" dirty="0"/>
          </a:p>
        </p:txBody>
      </p:sp>
      <p:sp>
        <p:nvSpPr>
          <p:cNvPr id="60" name="Text 58"/>
          <p:cNvSpPr/>
          <p:nvPr/>
        </p:nvSpPr>
        <p:spPr>
          <a:xfrm>
            <a:off x="3995928" y="4306824"/>
            <a:ext cx="1115568" cy="164592"/>
          </a:xfrm>
          <a:prstGeom prst="rect">
            <a:avLst/>
          </a:prstGeom>
          <a:noFill/>
          <a:ln/>
        </p:spPr>
        <p:txBody>
          <a:bodyPr wrap="square" lIns="0" tIns="0" rIns="0" bIns="0" rtlCol="0" anchor="ctr">
            <a:normAutofit/>
          </a:bodyPr>
          <a:lstStyle/>
          <a:p>
            <a:pPr algn="l" indent="0" marL="0">
              <a:buNone/>
            </a:pPr>
            <a:r>
              <a:rPr lang="en-US" sz="720" dirty="0">
                <a:solidFill>
                  <a:srgbClr val="465866"/>
                </a:solidFill>
                <a:latin typeface="Noto Sans CJK KR" pitchFamily="34" charset="0"/>
                <a:ea typeface="Noto Sans CJK KR" pitchFamily="34" charset="-122"/>
                <a:cs typeface="Noto Sans CJK KR" pitchFamily="34" charset="-120"/>
              </a:rPr>
              <a:t>KOSPI 프로그램</a:t>
            </a:r>
            <a:endParaRPr lang="en-US" sz="720" dirty="0"/>
          </a:p>
        </p:txBody>
      </p:sp>
      <p:sp>
        <p:nvSpPr>
          <p:cNvPr id="61" name="Shape 59"/>
          <p:cNvSpPr/>
          <p:nvPr/>
        </p:nvSpPr>
        <p:spPr>
          <a:xfrm>
            <a:off x="5650992" y="4389120"/>
            <a:ext cx="0" cy="164592"/>
          </a:xfrm>
          <a:prstGeom prst="line">
            <a:avLst/>
          </a:prstGeom>
          <a:noFill/>
          <a:ln w="10160">
            <a:solidFill>
              <a:srgbClr val="AEB9C3"/>
            </a:solidFill>
            <a:prstDash val="solid"/>
          </a:ln>
        </p:spPr>
      </p:sp>
      <p:sp>
        <p:nvSpPr>
          <p:cNvPr id="62" name="Shape 60"/>
          <p:cNvSpPr/>
          <p:nvPr/>
        </p:nvSpPr>
        <p:spPr>
          <a:xfrm>
            <a:off x="5650992" y="4334256"/>
            <a:ext cx="267063" cy="109728"/>
          </a:xfrm>
          <a:prstGeom prst="rect">
            <a:avLst/>
          </a:prstGeom>
          <a:solidFill>
            <a:srgbClr val="D9534F"/>
          </a:solidFill>
          <a:ln w="12700">
            <a:solidFill>
              <a:srgbClr val="D9534F"/>
            </a:solidFill>
            <a:prstDash val="solid"/>
          </a:ln>
        </p:spPr>
      </p:sp>
      <p:sp>
        <p:nvSpPr>
          <p:cNvPr id="63" name="Text 61"/>
          <p:cNvSpPr/>
          <p:nvPr/>
        </p:nvSpPr>
        <p:spPr>
          <a:xfrm>
            <a:off x="6473952" y="4306824"/>
            <a:ext cx="530352" cy="164592"/>
          </a:xfrm>
          <a:prstGeom prst="rect">
            <a:avLst/>
          </a:prstGeom>
          <a:noFill/>
          <a:ln/>
        </p:spPr>
        <p:txBody>
          <a:bodyPr wrap="square" lIns="0" tIns="0" rIns="0" bIns="0" rtlCol="0" anchor="ctr">
            <a:normAutofit/>
          </a:bodyPr>
          <a:lstStyle/>
          <a:p>
            <a:pPr algn="r" indent="0" marL="0">
              <a:buNone/>
            </a:pPr>
            <a:r>
              <a:rPr lang="en-US" sz="700" b="1" dirty="0">
                <a:solidFill>
                  <a:srgbClr val="D9534F"/>
                </a:solidFill>
                <a:latin typeface="NanumSquare" pitchFamily="34" charset="0"/>
                <a:ea typeface="NanumSquare" pitchFamily="34" charset="-122"/>
                <a:cs typeface="NanumSquare" pitchFamily="34" charset="-120"/>
              </a:rPr>
              <a:t>+9,127억</a:t>
            </a:r>
            <a:endParaRPr lang="en-US" sz="700" dirty="0"/>
          </a:p>
        </p:txBody>
      </p:sp>
      <p:sp>
        <p:nvSpPr>
          <p:cNvPr id="64" name="Text 62"/>
          <p:cNvSpPr/>
          <p:nvPr/>
        </p:nvSpPr>
        <p:spPr>
          <a:xfrm>
            <a:off x="3995928" y="4572000"/>
            <a:ext cx="1115568" cy="164592"/>
          </a:xfrm>
          <a:prstGeom prst="rect">
            <a:avLst/>
          </a:prstGeom>
          <a:noFill/>
          <a:ln/>
        </p:spPr>
        <p:txBody>
          <a:bodyPr wrap="square" lIns="0" tIns="0" rIns="0" bIns="0" rtlCol="0" anchor="ctr">
            <a:normAutofit/>
          </a:bodyPr>
          <a:lstStyle/>
          <a:p>
            <a:pPr algn="l" indent="0" marL="0">
              <a:buNone/>
            </a:pPr>
            <a:r>
              <a:rPr lang="en-US" sz="720" dirty="0">
                <a:solidFill>
                  <a:srgbClr val="465866"/>
                </a:solidFill>
                <a:latin typeface="Noto Sans CJK KR" pitchFamily="34" charset="0"/>
                <a:ea typeface="Noto Sans CJK KR" pitchFamily="34" charset="-122"/>
                <a:cs typeface="Noto Sans CJK KR" pitchFamily="34" charset="-120"/>
              </a:rPr>
              <a:t>KOSDAQ 외국인</a:t>
            </a:r>
            <a:endParaRPr lang="en-US" sz="720" dirty="0"/>
          </a:p>
        </p:txBody>
      </p:sp>
      <p:sp>
        <p:nvSpPr>
          <p:cNvPr id="65" name="Shape 63"/>
          <p:cNvSpPr/>
          <p:nvPr/>
        </p:nvSpPr>
        <p:spPr>
          <a:xfrm>
            <a:off x="5650992" y="4654296"/>
            <a:ext cx="0" cy="164592"/>
          </a:xfrm>
          <a:prstGeom prst="line">
            <a:avLst/>
          </a:prstGeom>
          <a:noFill/>
          <a:ln w="10160">
            <a:solidFill>
              <a:srgbClr val="AEB9C3"/>
            </a:solidFill>
            <a:prstDash val="solid"/>
          </a:ln>
        </p:spPr>
      </p:sp>
      <p:sp>
        <p:nvSpPr>
          <p:cNvPr id="66" name="Shape 64"/>
          <p:cNvSpPr/>
          <p:nvPr/>
        </p:nvSpPr>
        <p:spPr>
          <a:xfrm>
            <a:off x="5599142" y="4599432"/>
            <a:ext cx="51850" cy="109728"/>
          </a:xfrm>
          <a:prstGeom prst="rect">
            <a:avLst/>
          </a:prstGeom>
          <a:solidFill>
            <a:srgbClr val="3B73B9"/>
          </a:solidFill>
          <a:ln w="12700">
            <a:solidFill>
              <a:srgbClr val="3B73B9"/>
            </a:solidFill>
            <a:prstDash val="solid"/>
          </a:ln>
        </p:spPr>
      </p:sp>
      <p:sp>
        <p:nvSpPr>
          <p:cNvPr id="67" name="Text 65"/>
          <p:cNvSpPr/>
          <p:nvPr/>
        </p:nvSpPr>
        <p:spPr>
          <a:xfrm>
            <a:off x="6473952" y="4572000"/>
            <a:ext cx="530352" cy="164592"/>
          </a:xfrm>
          <a:prstGeom prst="rect">
            <a:avLst/>
          </a:prstGeom>
          <a:noFill/>
          <a:ln/>
        </p:spPr>
        <p:txBody>
          <a:bodyPr wrap="square" lIns="0" tIns="0" rIns="0" bIns="0" rtlCol="0" anchor="ctr">
            <a:normAutofit/>
          </a:bodyPr>
          <a:lstStyle/>
          <a:p>
            <a:pPr algn="r" indent="0" marL="0">
              <a:buNone/>
            </a:pPr>
            <a:r>
              <a:rPr lang="en-US" sz="700" b="1" dirty="0">
                <a:solidFill>
                  <a:srgbClr val="3B73B9"/>
                </a:solidFill>
                <a:latin typeface="NanumSquare" pitchFamily="34" charset="0"/>
                <a:ea typeface="NanumSquare" pitchFamily="34" charset="-122"/>
                <a:cs typeface="NanumSquare" pitchFamily="34" charset="-120"/>
              </a:rPr>
              <a:t>-1,772억</a:t>
            </a:r>
            <a:endParaRPr lang="en-US" sz="700" dirty="0"/>
          </a:p>
        </p:txBody>
      </p:sp>
      <p:sp>
        <p:nvSpPr>
          <p:cNvPr id="68" name="Text 66"/>
          <p:cNvSpPr/>
          <p:nvPr/>
        </p:nvSpPr>
        <p:spPr>
          <a:xfrm>
            <a:off x="3995928" y="4837176"/>
            <a:ext cx="1115568" cy="164592"/>
          </a:xfrm>
          <a:prstGeom prst="rect">
            <a:avLst/>
          </a:prstGeom>
          <a:noFill/>
          <a:ln/>
        </p:spPr>
        <p:txBody>
          <a:bodyPr wrap="square" lIns="0" tIns="0" rIns="0" bIns="0" rtlCol="0" anchor="ctr">
            <a:normAutofit/>
          </a:bodyPr>
          <a:lstStyle/>
          <a:p>
            <a:pPr algn="l" indent="0" marL="0">
              <a:buNone/>
            </a:pPr>
            <a:r>
              <a:rPr lang="en-US" sz="720" dirty="0">
                <a:solidFill>
                  <a:srgbClr val="465866"/>
                </a:solidFill>
                <a:latin typeface="Noto Sans CJK KR" pitchFamily="34" charset="0"/>
                <a:ea typeface="Noto Sans CJK KR" pitchFamily="34" charset="-122"/>
                <a:cs typeface="Noto Sans CJK KR" pitchFamily="34" charset="-120"/>
              </a:rPr>
              <a:t>KOSDAQ 기관</a:t>
            </a:r>
            <a:endParaRPr lang="en-US" sz="720" dirty="0"/>
          </a:p>
        </p:txBody>
      </p:sp>
      <p:sp>
        <p:nvSpPr>
          <p:cNvPr id="69" name="Shape 67"/>
          <p:cNvSpPr/>
          <p:nvPr/>
        </p:nvSpPr>
        <p:spPr>
          <a:xfrm>
            <a:off x="5650992" y="4919472"/>
            <a:ext cx="0" cy="164592"/>
          </a:xfrm>
          <a:prstGeom prst="line">
            <a:avLst/>
          </a:prstGeom>
          <a:noFill/>
          <a:ln w="10160">
            <a:solidFill>
              <a:srgbClr val="AEB9C3"/>
            </a:solidFill>
            <a:prstDash val="solid"/>
          </a:ln>
        </p:spPr>
      </p:sp>
      <p:sp>
        <p:nvSpPr>
          <p:cNvPr id="70" name="Shape 68"/>
          <p:cNvSpPr/>
          <p:nvPr/>
        </p:nvSpPr>
        <p:spPr>
          <a:xfrm>
            <a:off x="5650992" y="4864608"/>
            <a:ext cx="29817" cy="109728"/>
          </a:xfrm>
          <a:prstGeom prst="rect">
            <a:avLst/>
          </a:prstGeom>
          <a:solidFill>
            <a:srgbClr val="D9534F"/>
          </a:solidFill>
          <a:ln w="12700">
            <a:solidFill>
              <a:srgbClr val="D9534F"/>
            </a:solidFill>
            <a:prstDash val="solid"/>
          </a:ln>
        </p:spPr>
      </p:sp>
      <p:sp>
        <p:nvSpPr>
          <p:cNvPr id="71" name="Text 69"/>
          <p:cNvSpPr/>
          <p:nvPr/>
        </p:nvSpPr>
        <p:spPr>
          <a:xfrm>
            <a:off x="6473952" y="4837176"/>
            <a:ext cx="530352" cy="164592"/>
          </a:xfrm>
          <a:prstGeom prst="rect">
            <a:avLst/>
          </a:prstGeom>
          <a:noFill/>
          <a:ln/>
        </p:spPr>
        <p:txBody>
          <a:bodyPr wrap="square" lIns="0" tIns="0" rIns="0" bIns="0" rtlCol="0" anchor="ctr">
            <a:normAutofit/>
          </a:bodyPr>
          <a:lstStyle/>
          <a:p>
            <a:pPr algn="r" indent="0" marL="0">
              <a:buNone/>
            </a:pPr>
            <a:r>
              <a:rPr lang="en-US" sz="700" b="1" dirty="0">
                <a:solidFill>
                  <a:srgbClr val="D9534F"/>
                </a:solidFill>
                <a:latin typeface="NanumSquare" pitchFamily="34" charset="0"/>
                <a:ea typeface="NanumSquare" pitchFamily="34" charset="-122"/>
                <a:cs typeface="NanumSquare" pitchFamily="34" charset="-120"/>
              </a:rPr>
              <a:t>+1,019억</a:t>
            </a:r>
            <a:endParaRPr lang="en-US" sz="700" dirty="0"/>
          </a:p>
        </p:txBody>
      </p:sp>
      <p:sp>
        <p:nvSpPr>
          <p:cNvPr id="72" name="Text 70"/>
          <p:cNvSpPr/>
          <p:nvPr/>
        </p:nvSpPr>
        <p:spPr>
          <a:xfrm>
            <a:off x="3995928" y="5102352"/>
            <a:ext cx="1115568" cy="164592"/>
          </a:xfrm>
          <a:prstGeom prst="rect">
            <a:avLst/>
          </a:prstGeom>
          <a:noFill/>
          <a:ln/>
        </p:spPr>
        <p:txBody>
          <a:bodyPr wrap="square" lIns="0" tIns="0" rIns="0" bIns="0" rtlCol="0" anchor="ctr">
            <a:normAutofit/>
          </a:bodyPr>
          <a:lstStyle/>
          <a:p>
            <a:pPr algn="l" indent="0" marL="0">
              <a:buNone/>
            </a:pPr>
            <a:r>
              <a:rPr lang="en-US" sz="720" dirty="0">
                <a:solidFill>
                  <a:srgbClr val="465866"/>
                </a:solidFill>
                <a:latin typeface="Noto Sans CJK KR" pitchFamily="34" charset="0"/>
                <a:ea typeface="Noto Sans CJK KR" pitchFamily="34" charset="-122"/>
                <a:cs typeface="Noto Sans CJK KR" pitchFamily="34" charset="-120"/>
              </a:rPr>
              <a:t>KOSDAQ 프로그램</a:t>
            </a:r>
            <a:endParaRPr lang="en-US" sz="720" dirty="0"/>
          </a:p>
        </p:txBody>
      </p:sp>
      <p:sp>
        <p:nvSpPr>
          <p:cNvPr id="73" name="Shape 71"/>
          <p:cNvSpPr/>
          <p:nvPr/>
        </p:nvSpPr>
        <p:spPr>
          <a:xfrm>
            <a:off x="5650992" y="5184648"/>
            <a:ext cx="0" cy="164592"/>
          </a:xfrm>
          <a:prstGeom prst="line">
            <a:avLst/>
          </a:prstGeom>
          <a:noFill/>
          <a:ln w="10160">
            <a:solidFill>
              <a:srgbClr val="AEB9C3"/>
            </a:solidFill>
            <a:prstDash val="solid"/>
          </a:ln>
        </p:spPr>
      </p:sp>
      <p:sp>
        <p:nvSpPr>
          <p:cNvPr id="74" name="Shape 72"/>
          <p:cNvSpPr/>
          <p:nvPr/>
        </p:nvSpPr>
        <p:spPr>
          <a:xfrm>
            <a:off x="5613597" y="5129784"/>
            <a:ext cx="37395" cy="109728"/>
          </a:xfrm>
          <a:prstGeom prst="rect">
            <a:avLst/>
          </a:prstGeom>
          <a:solidFill>
            <a:srgbClr val="3B73B9"/>
          </a:solidFill>
          <a:ln w="12700">
            <a:solidFill>
              <a:srgbClr val="3B73B9"/>
            </a:solidFill>
            <a:prstDash val="solid"/>
          </a:ln>
        </p:spPr>
      </p:sp>
      <p:sp>
        <p:nvSpPr>
          <p:cNvPr id="75" name="Text 73"/>
          <p:cNvSpPr/>
          <p:nvPr/>
        </p:nvSpPr>
        <p:spPr>
          <a:xfrm>
            <a:off x="6473952" y="5102352"/>
            <a:ext cx="530352" cy="164592"/>
          </a:xfrm>
          <a:prstGeom prst="rect">
            <a:avLst/>
          </a:prstGeom>
          <a:noFill/>
          <a:ln/>
        </p:spPr>
        <p:txBody>
          <a:bodyPr wrap="square" lIns="0" tIns="0" rIns="0" bIns="0" rtlCol="0" anchor="ctr">
            <a:normAutofit/>
          </a:bodyPr>
          <a:lstStyle/>
          <a:p>
            <a:pPr algn="r" indent="0" marL="0">
              <a:buNone/>
            </a:pPr>
            <a:r>
              <a:rPr lang="en-US" sz="700" b="1" dirty="0">
                <a:solidFill>
                  <a:srgbClr val="3B73B9"/>
                </a:solidFill>
                <a:latin typeface="NanumSquare" pitchFamily="34" charset="0"/>
                <a:ea typeface="NanumSquare" pitchFamily="34" charset="-122"/>
                <a:cs typeface="NanumSquare" pitchFamily="34" charset="-120"/>
              </a:rPr>
              <a:t>-1,278억</a:t>
            </a:r>
            <a:endParaRPr lang="en-US" sz="700" dirty="0"/>
          </a:p>
        </p:txBody>
      </p:sp>
      <p:sp>
        <p:nvSpPr>
          <p:cNvPr id="76" name="Text 74"/>
          <p:cNvSpPr/>
          <p:nvPr/>
        </p:nvSpPr>
        <p:spPr>
          <a:xfrm>
            <a:off x="4005072" y="5303520"/>
            <a:ext cx="2871216" cy="137160"/>
          </a:xfrm>
          <a:prstGeom prst="rect">
            <a:avLst/>
          </a:prstGeom>
          <a:noFill/>
          <a:ln/>
        </p:spPr>
        <p:txBody>
          <a:bodyPr wrap="square" lIns="0" tIns="0" rIns="0" bIns="0" rtlCol="0" anchor="ctr">
            <a:normAutofit/>
          </a:bodyPr>
          <a:lstStyle/>
          <a:p>
            <a:pPr algn="r" indent="0" marL="0">
              <a:buNone/>
            </a:pPr>
            <a:r>
              <a:rPr lang="en-US" sz="630" dirty="0">
                <a:solidFill>
                  <a:srgbClr val="647586"/>
                </a:solidFill>
                <a:latin typeface="Noto Sans CJK KR" pitchFamily="34" charset="0"/>
                <a:ea typeface="Noto Sans CJK KR" pitchFamily="34" charset="-122"/>
                <a:cs typeface="Noto Sans CJK KR" pitchFamily="34" charset="-120"/>
              </a:rPr>
              <a:t>단위: 억원 · 공개 페이지 표시값</a:t>
            </a:r>
            <a:endParaRPr lang="en-US" sz="630" dirty="0"/>
          </a:p>
        </p:txBody>
      </p:sp>
      <p:sp>
        <p:nvSpPr>
          <p:cNvPr id="77" name="Text 75"/>
          <p:cNvSpPr/>
          <p:nvPr/>
        </p:nvSpPr>
        <p:spPr>
          <a:xfrm>
            <a:off x="384048" y="5870448"/>
            <a:ext cx="6775704" cy="256032"/>
          </a:xfrm>
          <a:prstGeom prst="rect">
            <a:avLst/>
          </a:prstGeom>
          <a:noFill/>
          <a:ln/>
        </p:spPr>
        <p:txBody>
          <a:bodyPr wrap="square" lIns="0" tIns="0" rIns="0" bIns="0" rtlCol="0" anchor="ctr">
            <a:normAutofit/>
          </a:bodyPr>
          <a:lstStyle/>
          <a:p>
            <a:pPr algn="l" indent="0" marL="0">
              <a:buNone/>
            </a:pPr>
            <a:r>
              <a:rPr lang="en-US" sz="1250" b="1" dirty="0">
                <a:solidFill>
                  <a:srgbClr val="0B1F33"/>
                </a:solidFill>
                <a:latin typeface="NanumSquare" pitchFamily="34" charset="0"/>
                <a:ea typeface="NanumSquare" pitchFamily="34" charset="-122"/>
                <a:cs typeface="NanumSquare" pitchFamily="34" charset="-120"/>
              </a:rPr>
              <a:t>시가총액 상위·핵심 종목</a:t>
            </a:r>
            <a:endParaRPr lang="en-US" sz="1250" dirty="0"/>
          </a:p>
        </p:txBody>
      </p:sp>
      <p:sp>
        <p:nvSpPr>
          <p:cNvPr id="78" name="Shape 76"/>
          <p:cNvSpPr/>
          <p:nvPr/>
        </p:nvSpPr>
        <p:spPr>
          <a:xfrm>
            <a:off x="384048" y="6236208"/>
            <a:ext cx="1252728" cy="795528"/>
          </a:xfrm>
          <a:prstGeom prst="roundRect">
            <a:avLst>
              <a:gd name="adj" fmla="val 9195"/>
            </a:avLst>
          </a:prstGeom>
          <a:solidFill>
            <a:srgbClr val="FBE7E5"/>
          </a:solidFill>
          <a:ln w="10160">
            <a:solidFill>
              <a:srgbClr val="FBE7E5"/>
            </a:solidFill>
            <a:prstDash val="solid"/>
          </a:ln>
        </p:spPr>
      </p:sp>
      <p:sp>
        <p:nvSpPr>
          <p:cNvPr id="79" name="Text 77"/>
          <p:cNvSpPr/>
          <p:nvPr/>
        </p:nvSpPr>
        <p:spPr>
          <a:xfrm>
            <a:off x="475488" y="6327648"/>
            <a:ext cx="1069848" cy="201168"/>
          </a:xfrm>
          <a:prstGeom prst="rect">
            <a:avLst/>
          </a:prstGeom>
          <a:noFill/>
          <a:ln/>
        </p:spPr>
        <p:txBody>
          <a:bodyPr wrap="square" lIns="0" tIns="0" rIns="0" bIns="0" rtlCol="0" anchor="ctr">
            <a:normAutofit/>
          </a:bodyPr>
          <a:lstStyle/>
          <a:p>
            <a:pPr algn="l" indent="0" marL="0">
              <a:buNone/>
            </a:pPr>
            <a:r>
              <a:rPr lang="en-US" sz="740" b="1" dirty="0">
                <a:solidFill>
                  <a:srgbClr val="0B1F33"/>
                </a:solidFill>
                <a:latin typeface="NanumSquare" pitchFamily="34" charset="0"/>
                <a:ea typeface="NanumSquare" pitchFamily="34" charset="-122"/>
                <a:cs typeface="NanumSquare" pitchFamily="34" charset="-120"/>
              </a:rPr>
              <a:t>삼성전자</a:t>
            </a:r>
            <a:endParaRPr lang="en-US" sz="740" dirty="0"/>
          </a:p>
        </p:txBody>
      </p:sp>
      <p:sp>
        <p:nvSpPr>
          <p:cNvPr id="80" name="Text 78"/>
          <p:cNvSpPr/>
          <p:nvPr/>
        </p:nvSpPr>
        <p:spPr>
          <a:xfrm>
            <a:off x="475488" y="6601968"/>
            <a:ext cx="1069848" cy="256032"/>
          </a:xfrm>
          <a:prstGeom prst="rect">
            <a:avLst/>
          </a:prstGeom>
          <a:noFill/>
          <a:ln/>
        </p:spPr>
        <p:txBody>
          <a:bodyPr wrap="square" lIns="0" tIns="0" rIns="0" bIns="0" rtlCol="0" anchor="ctr">
            <a:normAutofit/>
          </a:bodyPr>
          <a:lstStyle/>
          <a:p>
            <a:pPr algn="l" indent="0" marL="0">
              <a:buNone/>
            </a:pPr>
            <a:r>
              <a:rPr lang="en-US" sz="1230" b="1" dirty="0">
                <a:solidFill>
                  <a:srgbClr val="D9534F"/>
                </a:solidFill>
                <a:latin typeface="NanumSquare" pitchFamily="34" charset="0"/>
                <a:ea typeface="NanumSquare" pitchFamily="34" charset="-122"/>
                <a:cs typeface="NanumSquare" pitchFamily="34" charset="-120"/>
              </a:rPr>
              <a:t>+3.93%</a:t>
            </a:r>
            <a:endParaRPr lang="en-US" sz="1230" dirty="0"/>
          </a:p>
        </p:txBody>
      </p:sp>
      <p:sp>
        <p:nvSpPr>
          <p:cNvPr id="81" name="Shape 79"/>
          <p:cNvSpPr/>
          <p:nvPr/>
        </p:nvSpPr>
        <p:spPr>
          <a:xfrm>
            <a:off x="1755648" y="6236208"/>
            <a:ext cx="1252728" cy="795528"/>
          </a:xfrm>
          <a:prstGeom prst="roundRect">
            <a:avLst>
              <a:gd name="adj" fmla="val 9195"/>
            </a:avLst>
          </a:prstGeom>
          <a:solidFill>
            <a:srgbClr val="FBE7E5"/>
          </a:solidFill>
          <a:ln w="10160">
            <a:solidFill>
              <a:srgbClr val="FBE7E5"/>
            </a:solidFill>
            <a:prstDash val="solid"/>
          </a:ln>
        </p:spPr>
      </p:sp>
      <p:sp>
        <p:nvSpPr>
          <p:cNvPr id="82" name="Text 80"/>
          <p:cNvSpPr/>
          <p:nvPr/>
        </p:nvSpPr>
        <p:spPr>
          <a:xfrm>
            <a:off x="1847088" y="6327648"/>
            <a:ext cx="1069848" cy="201168"/>
          </a:xfrm>
          <a:prstGeom prst="rect">
            <a:avLst/>
          </a:prstGeom>
          <a:noFill/>
          <a:ln/>
        </p:spPr>
        <p:txBody>
          <a:bodyPr wrap="square" lIns="0" tIns="0" rIns="0" bIns="0" rtlCol="0" anchor="ctr">
            <a:normAutofit/>
          </a:bodyPr>
          <a:lstStyle/>
          <a:p>
            <a:pPr algn="l" indent="0" marL="0">
              <a:buNone/>
            </a:pPr>
            <a:r>
              <a:rPr lang="en-US" sz="740" b="1" dirty="0">
                <a:solidFill>
                  <a:srgbClr val="0B1F33"/>
                </a:solidFill>
                <a:latin typeface="NanumSquare" pitchFamily="34" charset="0"/>
                <a:ea typeface="NanumSquare" pitchFamily="34" charset="-122"/>
                <a:cs typeface="NanumSquare" pitchFamily="34" charset="-120"/>
              </a:rPr>
              <a:t>SK하이닉스</a:t>
            </a:r>
            <a:endParaRPr lang="en-US" sz="740" dirty="0"/>
          </a:p>
        </p:txBody>
      </p:sp>
      <p:sp>
        <p:nvSpPr>
          <p:cNvPr id="83" name="Text 81"/>
          <p:cNvSpPr/>
          <p:nvPr/>
        </p:nvSpPr>
        <p:spPr>
          <a:xfrm>
            <a:off x="1847088" y="6601968"/>
            <a:ext cx="1069848" cy="256032"/>
          </a:xfrm>
          <a:prstGeom prst="rect">
            <a:avLst/>
          </a:prstGeom>
          <a:noFill/>
          <a:ln/>
        </p:spPr>
        <p:txBody>
          <a:bodyPr wrap="square" lIns="0" tIns="0" rIns="0" bIns="0" rtlCol="0" anchor="ctr">
            <a:normAutofit/>
          </a:bodyPr>
          <a:lstStyle/>
          <a:p>
            <a:pPr algn="l" indent="0" marL="0">
              <a:buNone/>
            </a:pPr>
            <a:r>
              <a:rPr lang="en-US" sz="1230" b="1" dirty="0">
                <a:solidFill>
                  <a:srgbClr val="D9534F"/>
                </a:solidFill>
                <a:latin typeface="NanumSquare" pitchFamily="34" charset="0"/>
                <a:ea typeface="NanumSquare" pitchFamily="34" charset="-122"/>
                <a:cs typeface="NanumSquare" pitchFamily="34" charset="-120"/>
              </a:rPr>
              <a:t>+3.58%</a:t>
            </a:r>
            <a:endParaRPr lang="en-US" sz="1230" dirty="0"/>
          </a:p>
        </p:txBody>
      </p:sp>
      <p:sp>
        <p:nvSpPr>
          <p:cNvPr id="84" name="Shape 82"/>
          <p:cNvSpPr/>
          <p:nvPr/>
        </p:nvSpPr>
        <p:spPr>
          <a:xfrm>
            <a:off x="3127248" y="6236208"/>
            <a:ext cx="1252728" cy="795528"/>
          </a:xfrm>
          <a:prstGeom prst="roundRect">
            <a:avLst>
              <a:gd name="adj" fmla="val 9195"/>
            </a:avLst>
          </a:prstGeom>
          <a:solidFill>
            <a:srgbClr val="FBE7E5"/>
          </a:solidFill>
          <a:ln w="10160">
            <a:solidFill>
              <a:srgbClr val="FBE7E5"/>
            </a:solidFill>
            <a:prstDash val="solid"/>
          </a:ln>
        </p:spPr>
      </p:sp>
      <p:sp>
        <p:nvSpPr>
          <p:cNvPr id="85" name="Text 83"/>
          <p:cNvSpPr/>
          <p:nvPr/>
        </p:nvSpPr>
        <p:spPr>
          <a:xfrm>
            <a:off x="3218688" y="6327648"/>
            <a:ext cx="1069848" cy="201168"/>
          </a:xfrm>
          <a:prstGeom prst="rect">
            <a:avLst/>
          </a:prstGeom>
          <a:noFill/>
          <a:ln/>
        </p:spPr>
        <p:txBody>
          <a:bodyPr wrap="square" lIns="0" tIns="0" rIns="0" bIns="0" rtlCol="0" anchor="ctr">
            <a:normAutofit/>
          </a:bodyPr>
          <a:lstStyle/>
          <a:p>
            <a:pPr algn="l" indent="0" marL="0">
              <a:buNone/>
            </a:pPr>
            <a:r>
              <a:rPr lang="en-US" sz="740" b="1" dirty="0">
                <a:solidFill>
                  <a:srgbClr val="0B1F33"/>
                </a:solidFill>
                <a:latin typeface="NanumSquare" pitchFamily="34" charset="0"/>
                <a:ea typeface="NanumSquare" pitchFamily="34" charset="-122"/>
                <a:cs typeface="NanumSquare" pitchFamily="34" charset="-120"/>
              </a:rPr>
              <a:t>삼성전자우</a:t>
            </a:r>
            <a:endParaRPr lang="en-US" sz="740" dirty="0"/>
          </a:p>
        </p:txBody>
      </p:sp>
      <p:sp>
        <p:nvSpPr>
          <p:cNvPr id="86" name="Text 84"/>
          <p:cNvSpPr/>
          <p:nvPr/>
        </p:nvSpPr>
        <p:spPr>
          <a:xfrm>
            <a:off x="3218688" y="6601968"/>
            <a:ext cx="1069848" cy="256032"/>
          </a:xfrm>
          <a:prstGeom prst="rect">
            <a:avLst/>
          </a:prstGeom>
          <a:noFill/>
          <a:ln/>
        </p:spPr>
        <p:txBody>
          <a:bodyPr wrap="square" lIns="0" tIns="0" rIns="0" bIns="0" rtlCol="0" anchor="ctr">
            <a:normAutofit/>
          </a:bodyPr>
          <a:lstStyle/>
          <a:p>
            <a:pPr algn="l" indent="0" marL="0">
              <a:buNone/>
            </a:pPr>
            <a:r>
              <a:rPr lang="en-US" sz="1230" b="1" dirty="0">
                <a:solidFill>
                  <a:srgbClr val="D9534F"/>
                </a:solidFill>
                <a:latin typeface="NanumSquare" pitchFamily="34" charset="0"/>
                <a:ea typeface="NanumSquare" pitchFamily="34" charset="-122"/>
                <a:cs typeface="NanumSquare" pitchFamily="34" charset="-120"/>
              </a:rPr>
              <a:t>+4.47%</a:t>
            </a:r>
            <a:endParaRPr lang="en-US" sz="1230" dirty="0"/>
          </a:p>
        </p:txBody>
      </p:sp>
      <p:sp>
        <p:nvSpPr>
          <p:cNvPr id="87" name="Shape 85"/>
          <p:cNvSpPr/>
          <p:nvPr/>
        </p:nvSpPr>
        <p:spPr>
          <a:xfrm>
            <a:off x="4498848" y="6236208"/>
            <a:ext cx="1252728" cy="795528"/>
          </a:xfrm>
          <a:prstGeom prst="roundRect">
            <a:avLst>
              <a:gd name="adj" fmla="val 9195"/>
            </a:avLst>
          </a:prstGeom>
          <a:solidFill>
            <a:srgbClr val="E5EDF8"/>
          </a:solidFill>
          <a:ln w="10160">
            <a:solidFill>
              <a:srgbClr val="E5EDF8"/>
            </a:solidFill>
            <a:prstDash val="solid"/>
          </a:ln>
        </p:spPr>
      </p:sp>
      <p:sp>
        <p:nvSpPr>
          <p:cNvPr id="88" name="Text 86"/>
          <p:cNvSpPr/>
          <p:nvPr/>
        </p:nvSpPr>
        <p:spPr>
          <a:xfrm>
            <a:off x="4590288" y="6327648"/>
            <a:ext cx="1069848" cy="201168"/>
          </a:xfrm>
          <a:prstGeom prst="rect">
            <a:avLst/>
          </a:prstGeom>
          <a:noFill/>
          <a:ln/>
        </p:spPr>
        <p:txBody>
          <a:bodyPr wrap="square" lIns="0" tIns="0" rIns="0" bIns="0" rtlCol="0" anchor="ctr">
            <a:normAutofit/>
          </a:bodyPr>
          <a:lstStyle/>
          <a:p>
            <a:pPr algn="l" indent="0" marL="0">
              <a:buNone/>
            </a:pPr>
            <a:r>
              <a:rPr lang="en-US" sz="740" b="1" dirty="0">
                <a:solidFill>
                  <a:srgbClr val="0B1F33"/>
                </a:solidFill>
                <a:latin typeface="NanumSquare" pitchFamily="34" charset="0"/>
                <a:ea typeface="NanumSquare" pitchFamily="34" charset="-122"/>
                <a:cs typeface="NanumSquare" pitchFamily="34" charset="-120"/>
              </a:rPr>
              <a:t>현대차</a:t>
            </a:r>
            <a:endParaRPr lang="en-US" sz="740" dirty="0"/>
          </a:p>
        </p:txBody>
      </p:sp>
      <p:sp>
        <p:nvSpPr>
          <p:cNvPr id="89" name="Text 87"/>
          <p:cNvSpPr/>
          <p:nvPr/>
        </p:nvSpPr>
        <p:spPr>
          <a:xfrm>
            <a:off x="4590288" y="6601968"/>
            <a:ext cx="1069848" cy="256032"/>
          </a:xfrm>
          <a:prstGeom prst="rect">
            <a:avLst/>
          </a:prstGeom>
          <a:noFill/>
          <a:ln/>
        </p:spPr>
        <p:txBody>
          <a:bodyPr wrap="square" lIns="0" tIns="0" rIns="0" bIns="0" rtlCol="0" anchor="ctr">
            <a:normAutofit/>
          </a:bodyPr>
          <a:lstStyle/>
          <a:p>
            <a:pPr algn="l" indent="0" marL="0">
              <a:buNone/>
            </a:pPr>
            <a:r>
              <a:rPr lang="en-US" sz="1230" b="1" dirty="0">
                <a:solidFill>
                  <a:srgbClr val="3B73B9"/>
                </a:solidFill>
                <a:latin typeface="NanumSquare" pitchFamily="34" charset="0"/>
                <a:ea typeface="NanumSquare" pitchFamily="34" charset="-122"/>
                <a:cs typeface="NanumSquare" pitchFamily="34" charset="-120"/>
              </a:rPr>
              <a:t>-4.39%</a:t>
            </a:r>
            <a:endParaRPr lang="en-US" sz="1230" dirty="0"/>
          </a:p>
        </p:txBody>
      </p:sp>
      <p:sp>
        <p:nvSpPr>
          <p:cNvPr id="90" name="Shape 88"/>
          <p:cNvSpPr/>
          <p:nvPr/>
        </p:nvSpPr>
        <p:spPr>
          <a:xfrm>
            <a:off x="5870448" y="6236208"/>
            <a:ext cx="1252728" cy="795528"/>
          </a:xfrm>
          <a:prstGeom prst="roundRect">
            <a:avLst>
              <a:gd name="adj" fmla="val 9195"/>
            </a:avLst>
          </a:prstGeom>
          <a:solidFill>
            <a:srgbClr val="E5EDF8"/>
          </a:solidFill>
          <a:ln w="10160">
            <a:solidFill>
              <a:srgbClr val="E5EDF8"/>
            </a:solidFill>
            <a:prstDash val="solid"/>
          </a:ln>
        </p:spPr>
      </p:sp>
      <p:sp>
        <p:nvSpPr>
          <p:cNvPr id="91" name="Text 89"/>
          <p:cNvSpPr/>
          <p:nvPr/>
        </p:nvSpPr>
        <p:spPr>
          <a:xfrm>
            <a:off x="5961888" y="6327648"/>
            <a:ext cx="1069848" cy="201168"/>
          </a:xfrm>
          <a:prstGeom prst="rect">
            <a:avLst/>
          </a:prstGeom>
          <a:noFill/>
          <a:ln/>
        </p:spPr>
        <p:txBody>
          <a:bodyPr wrap="square" lIns="0" tIns="0" rIns="0" bIns="0" rtlCol="0" anchor="ctr">
            <a:normAutofit/>
          </a:bodyPr>
          <a:lstStyle/>
          <a:p>
            <a:pPr algn="l" indent="0" marL="0">
              <a:buNone/>
            </a:pPr>
            <a:r>
              <a:rPr lang="en-US" sz="740" b="1" dirty="0">
                <a:solidFill>
                  <a:srgbClr val="0B1F33"/>
                </a:solidFill>
                <a:latin typeface="NanumSquare" pitchFamily="34" charset="0"/>
                <a:ea typeface="NanumSquare" pitchFamily="34" charset="-122"/>
                <a:cs typeface="NanumSquare" pitchFamily="34" charset="-120"/>
              </a:rPr>
              <a:t>삼성바이오로직스</a:t>
            </a:r>
            <a:endParaRPr lang="en-US" sz="740" dirty="0"/>
          </a:p>
        </p:txBody>
      </p:sp>
      <p:sp>
        <p:nvSpPr>
          <p:cNvPr id="92" name="Text 90"/>
          <p:cNvSpPr/>
          <p:nvPr/>
        </p:nvSpPr>
        <p:spPr>
          <a:xfrm>
            <a:off x="5961888" y="6601968"/>
            <a:ext cx="1069848" cy="256032"/>
          </a:xfrm>
          <a:prstGeom prst="rect">
            <a:avLst/>
          </a:prstGeom>
          <a:noFill/>
          <a:ln/>
        </p:spPr>
        <p:txBody>
          <a:bodyPr wrap="square" lIns="0" tIns="0" rIns="0" bIns="0" rtlCol="0" anchor="ctr">
            <a:normAutofit/>
          </a:bodyPr>
          <a:lstStyle/>
          <a:p>
            <a:pPr algn="l" indent="0" marL="0">
              <a:buNone/>
            </a:pPr>
            <a:r>
              <a:rPr lang="en-US" sz="1230" b="1" dirty="0">
                <a:solidFill>
                  <a:srgbClr val="3B73B9"/>
                </a:solidFill>
                <a:latin typeface="NanumSquare" pitchFamily="34" charset="0"/>
                <a:ea typeface="NanumSquare" pitchFamily="34" charset="-122"/>
                <a:cs typeface="NanumSquare" pitchFamily="34" charset="-120"/>
              </a:rPr>
              <a:t>-2.36%</a:t>
            </a:r>
            <a:endParaRPr lang="en-US" sz="1230" dirty="0"/>
          </a:p>
        </p:txBody>
      </p:sp>
      <p:sp>
        <p:nvSpPr>
          <p:cNvPr id="93" name="Shape 91"/>
          <p:cNvSpPr/>
          <p:nvPr/>
        </p:nvSpPr>
        <p:spPr>
          <a:xfrm>
            <a:off x="384048" y="7178040"/>
            <a:ext cx="1252728" cy="795528"/>
          </a:xfrm>
          <a:prstGeom prst="roundRect">
            <a:avLst>
              <a:gd name="adj" fmla="val 9195"/>
            </a:avLst>
          </a:prstGeom>
          <a:solidFill>
            <a:srgbClr val="E5EDF8"/>
          </a:solidFill>
          <a:ln w="10160">
            <a:solidFill>
              <a:srgbClr val="E5EDF8"/>
            </a:solidFill>
            <a:prstDash val="solid"/>
          </a:ln>
        </p:spPr>
      </p:sp>
      <p:sp>
        <p:nvSpPr>
          <p:cNvPr id="94" name="Text 92"/>
          <p:cNvSpPr/>
          <p:nvPr/>
        </p:nvSpPr>
        <p:spPr>
          <a:xfrm>
            <a:off x="475488" y="7269480"/>
            <a:ext cx="1069848" cy="201168"/>
          </a:xfrm>
          <a:prstGeom prst="rect">
            <a:avLst/>
          </a:prstGeom>
          <a:noFill/>
          <a:ln/>
        </p:spPr>
        <p:txBody>
          <a:bodyPr wrap="square" lIns="0" tIns="0" rIns="0" bIns="0" rtlCol="0" anchor="ctr">
            <a:normAutofit/>
          </a:bodyPr>
          <a:lstStyle/>
          <a:p>
            <a:pPr algn="l" indent="0" marL="0">
              <a:buNone/>
            </a:pPr>
            <a:r>
              <a:rPr lang="en-US" sz="740" b="1" dirty="0">
                <a:solidFill>
                  <a:srgbClr val="0B1F33"/>
                </a:solidFill>
                <a:latin typeface="NanumSquare" pitchFamily="34" charset="0"/>
                <a:ea typeface="NanumSquare" pitchFamily="34" charset="-122"/>
                <a:cs typeface="NanumSquare" pitchFamily="34" charset="-120"/>
              </a:rPr>
              <a:t>알테오젠</a:t>
            </a:r>
            <a:endParaRPr lang="en-US" sz="740" dirty="0"/>
          </a:p>
        </p:txBody>
      </p:sp>
      <p:sp>
        <p:nvSpPr>
          <p:cNvPr id="95" name="Text 93"/>
          <p:cNvSpPr/>
          <p:nvPr/>
        </p:nvSpPr>
        <p:spPr>
          <a:xfrm>
            <a:off x="475488" y="7543800"/>
            <a:ext cx="1069848" cy="256032"/>
          </a:xfrm>
          <a:prstGeom prst="rect">
            <a:avLst/>
          </a:prstGeom>
          <a:noFill/>
          <a:ln/>
        </p:spPr>
        <p:txBody>
          <a:bodyPr wrap="square" lIns="0" tIns="0" rIns="0" bIns="0" rtlCol="0" anchor="ctr">
            <a:normAutofit/>
          </a:bodyPr>
          <a:lstStyle/>
          <a:p>
            <a:pPr algn="l" indent="0" marL="0">
              <a:buNone/>
            </a:pPr>
            <a:r>
              <a:rPr lang="en-US" sz="1230" b="1" dirty="0">
                <a:solidFill>
                  <a:srgbClr val="3B73B9"/>
                </a:solidFill>
                <a:latin typeface="NanumSquare" pitchFamily="34" charset="0"/>
                <a:ea typeface="NanumSquare" pitchFamily="34" charset="-122"/>
                <a:cs typeface="NanumSquare" pitchFamily="34" charset="-120"/>
              </a:rPr>
              <a:t>-12.95%</a:t>
            </a:r>
            <a:endParaRPr lang="en-US" sz="1230" dirty="0"/>
          </a:p>
        </p:txBody>
      </p:sp>
      <p:sp>
        <p:nvSpPr>
          <p:cNvPr id="96" name="Shape 94"/>
          <p:cNvSpPr/>
          <p:nvPr/>
        </p:nvSpPr>
        <p:spPr>
          <a:xfrm>
            <a:off x="1755648" y="7178040"/>
            <a:ext cx="1252728" cy="795528"/>
          </a:xfrm>
          <a:prstGeom prst="roundRect">
            <a:avLst>
              <a:gd name="adj" fmla="val 9195"/>
            </a:avLst>
          </a:prstGeom>
          <a:solidFill>
            <a:srgbClr val="E5EDF8"/>
          </a:solidFill>
          <a:ln w="10160">
            <a:solidFill>
              <a:srgbClr val="E5EDF8"/>
            </a:solidFill>
            <a:prstDash val="solid"/>
          </a:ln>
        </p:spPr>
      </p:sp>
      <p:sp>
        <p:nvSpPr>
          <p:cNvPr id="97" name="Text 95"/>
          <p:cNvSpPr/>
          <p:nvPr/>
        </p:nvSpPr>
        <p:spPr>
          <a:xfrm>
            <a:off x="1847088" y="7269480"/>
            <a:ext cx="1069848" cy="201168"/>
          </a:xfrm>
          <a:prstGeom prst="rect">
            <a:avLst/>
          </a:prstGeom>
          <a:noFill/>
          <a:ln/>
        </p:spPr>
        <p:txBody>
          <a:bodyPr wrap="square" lIns="0" tIns="0" rIns="0" bIns="0" rtlCol="0" anchor="ctr">
            <a:normAutofit/>
          </a:bodyPr>
          <a:lstStyle/>
          <a:p>
            <a:pPr algn="l" indent="0" marL="0">
              <a:buNone/>
            </a:pPr>
            <a:r>
              <a:rPr lang="en-US" sz="740" b="1" dirty="0">
                <a:solidFill>
                  <a:srgbClr val="0B1F33"/>
                </a:solidFill>
                <a:latin typeface="NanumSquare" pitchFamily="34" charset="0"/>
                <a:ea typeface="NanumSquare" pitchFamily="34" charset="-122"/>
                <a:cs typeface="NanumSquare" pitchFamily="34" charset="-120"/>
              </a:rPr>
              <a:t>에코프로비엠</a:t>
            </a:r>
            <a:endParaRPr lang="en-US" sz="740" dirty="0"/>
          </a:p>
        </p:txBody>
      </p:sp>
      <p:sp>
        <p:nvSpPr>
          <p:cNvPr id="98" name="Text 96"/>
          <p:cNvSpPr/>
          <p:nvPr/>
        </p:nvSpPr>
        <p:spPr>
          <a:xfrm>
            <a:off x="1847088" y="7543800"/>
            <a:ext cx="1069848" cy="256032"/>
          </a:xfrm>
          <a:prstGeom prst="rect">
            <a:avLst/>
          </a:prstGeom>
          <a:noFill/>
          <a:ln/>
        </p:spPr>
        <p:txBody>
          <a:bodyPr wrap="square" lIns="0" tIns="0" rIns="0" bIns="0" rtlCol="0" anchor="ctr">
            <a:normAutofit/>
          </a:bodyPr>
          <a:lstStyle/>
          <a:p>
            <a:pPr algn="l" indent="0" marL="0">
              <a:buNone/>
            </a:pPr>
            <a:r>
              <a:rPr lang="en-US" sz="1230" b="1" dirty="0">
                <a:solidFill>
                  <a:srgbClr val="3B73B9"/>
                </a:solidFill>
                <a:latin typeface="NanumSquare" pitchFamily="34" charset="0"/>
                <a:ea typeface="NanumSquare" pitchFamily="34" charset="-122"/>
                <a:cs typeface="NanumSquare" pitchFamily="34" charset="-120"/>
              </a:rPr>
              <a:t>-4.67%</a:t>
            </a:r>
            <a:endParaRPr lang="en-US" sz="1230" dirty="0"/>
          </a:p>
        </p:txBody>
      </p:sp>
      <p:sp>
        <p:nvSpPr>
          <p:cNvPr id="99" name="Shape 97"/>
          <p:cNvSpPr/>
          <p:nvPr/>
        </p:nvSpPr>
        <p:spPr>
          <a:xfrm>
            <a:off x="3127248" y="7178040"/>
            <a:ext cx="1252728" cy="795528"/>
          </a:xfrm>
          <a:prstGeom prst="roundRect">
            <a:avLst>
              <a:gd name="adj" fmla="val 9195"/>
            </a:avLst>
          </a:prstGeom>
          <a:solidFill>
            <a:srgbClr val="E5EDF8"/>
          </a:solidFill>
          <a:ln w="10160">
            <a:solidFill>
              <a:srgbClr val="E5EDF8"/>
            </a:solidFill>
            <a:prstDash val="solid"/>
          </a:ln>
        </p:spPr>
      </p:sp>
      <p:sp>
        <p:nvSpPr>
          <p:cNvPr id="100" name="Text 98"/>
          <p:cNvSpPr/>
          <p:nvPr/>
        </p:nvSpPr>
        <p:spPr>
          <a:xfrm>
            <a:off x="3218688" y="7269480"/>
            <a:ext cx="1069848" cy="201168"/>
          </a:xfrm>
          <a:prstGeom prst="rect">
            <a:avLst/>
          </a:prstGeom>
          <a:noFill/>
          <a:ln/>
        </p:spPr>
        <p:txBody>
          <a:bodyPr wrap="square" lIns="0" tIns="0" rIns="0" bIns="0" rtlCol="0" anchor="ctr">
            <a:normAutofit/>
          </a:bodyPr>
          <a:lstStyle/>
          <a:p>
            <a:pPr algn="l" indent="0" marL="0">
              <a:buNone/>
            </a:pPr>
            <a:r>
              <a:rPr lang="en-US" sz="740" b="1" dirty="0">
                <a:solidFill>
                  <a:srgbClr val="0B1F33"/>
                </a:solidFill>
                <a:latin typeface="NanumSquare" pitchFamily="34" charset="0"/>
                <a:ea typeface="NanumSquare" pitchFamily="34" charset="-122"/>
                <a:cs typeface="NanumSquare" pitchFamily="34" charset="-120"/>
              </a:rPr>
              <a:t>에코프로</a:t>
            </a:r>
            <a:endParaRPr lang="en-US" sz="740" dirty="0"/>
          </a:p>
        </p:txBody>
      </p:sp>
      <p:sp>
        <p:nvSpPr>
          <p:cNvPr id="101" name="Text 99"/>
          <p:cNvSpPr/>
          <p:nvPr/>
        </p:nvSpPr>
        <p:spPr>
          <a:xfrm>
            <a:off x="3218688" y="7543800"/>
            <a:ext cx="1069848" cy="256032"/>
          </a:xfrm>
          <a:prstGeom prst="rect">
            <a:avLst/>
          </a:prstGeom>
          <a:noFill/>
          <a:ln/>
        </p:spPr>
        <p:txBody>
          <a:bodyPr wrap="square" lIns="0" tIns="0" rIns="0" bIns="0" rtlCol="0" anchor="ctr">
            <a:normAutofit/>
          </a:bodyPr>
          <a:lstStyle/>
          <a:p>
            <a:pPr algn="l" indent="0" marL="0">
              <a:buNone/>
            </a:pPr>
            <a:r>
              <a:rPr lang="en-US" sz="1230" b="1" dirty="0">
                <a:solidFill>
                  <a:srgbClr val="3B73B9"/>
                </a:solidFill>
                <a:latin typeface="NanumSquare" pitchFamily="34" charset="0"/>
                <a:ea typeface="NanumSquare" pitchFamily="34" charset="-122"/>
                <a:cs typeface="NanumSquare" pitchFamily="34" charset="-120"/>
              </a:rPr>
              <a:t>-4.90%</a:t>
            </a:r>
            <a:endParaRPr lang="en-US" sz="1230" dirty="0"/>
          </a:p>
        </p:txBody>
      </p:sp>
      <p:sp>
        <p:nvSpPr>
          <p:cNvPr id="102" name="Shape 100"/>
          <p:cNvSpPr/>
          <p:nvPr/>
        </p:nvSpPr>
        <p:spPr>
          <a:xfrm>
            <a:off x="4498848" y="7178040"/>
            <a:ext cx="1252728" cy="795528"/>
          </a:xfrm>
          <a:prstGeom prst="roundRect">
            <a:avLst>
              <a:gd name="adj" fmla="val 9195"/>
            </a:avLst>
          </a:prstGeom>
          <a:solidFill>
            <a:srgbClr val="FBE7E5"/>
          </a:solidFill>
          <a:ln w="10160">
            <a:solidFill>
              <a:srgbClr val="FBE7E5"/>
            </a:solidFill>
            <a:prstDash val="solid"/>
          </a:ln>
        </p:spPr>
      </p:sp>
      <p:sp>
        <p:nvSpPr>
          <p:cNvPr id="103" name="Text 101"/>
          <p:cNvSpPr/>
          <p:nvPr/>
        </p:nvSpPr>
        <p:spPr>
          <a:xfrm>
            <a:off x="4590288" y="7269480"/>
            <a:ext cx="1069848" cy="201168"/>
          </a:xfrm>
          <a:prstGeom prst="rect">
            <a:avLst/>
          </a:prstGeom>
          <a:noFill/>
          <a:ln/>
        </p:spPr>
        <p:txBody>
          <a:bodyPr wrap="square" lIns="0" tIns="0" rIns="0" bIns="0" rtlCol="0" anchor="ctr">
            <a:normAutofit/>
          </a:bodyPr>
          <a:lstStyle/>
          <a:p>
            <a:pPr algn="l" indent="0" marL="0">
              <a:buNone/>
            </a:pPr>
            <a:r>
              <a:rPr lang="en-US" sz="740" b="1" dirty="0">
                <a:solidFill>
                  <a:srgbClr val="0B1F33"/>
                </a:solidFill>
                <a:latin typeface="NanumSquare" pitchFamily="34" charset="0"/>
                <a:ea typeface="NanumSquare" pitchFamily="34" charset="-122"/>
                <a:cs typeface="NanumSquare" pitchFamily="34" charset="-120"/>
              </a:rPr>
              <a:t>피에스케이</a:t>
            </a:r>
            <a:endParaRPr lang="en-US" sz="740" dirty="0"/>
          </a:p>
        </p:txBody>
      </p:sp>
      <p:sp>
        <p:nvSpPr>
          <p:cNvPr id="104" name="Text 102"/>
          <p:cNvSpPr/>
          <p:nvPr/>
        </p:nvSpPr>
        <p:spPr>
          <a:xfrm>
            <a:off x="4590288" y="7543800"/>
            <a:ext cx="1069848" cy="256032"/>
          </a:xfrm>
          <a:prstGeom prst="rect">
            <a:avLst/>
          </a:prstGeom>
          <a:noFill/>
          <a:ln/>
        </p:spPr>
        <p:txBody>
          <a:bodyPr wrap="square" lIns="0" tIns="0" rIns="0" bIns="0" rtlCol="0" anchor="ctr">
            <a:normAutofit/>
          </a:bodyPr>
          <a:lstStyle/>
          <a:p>
            <a:pPr algn="l" indent="0" marL="0">
              <a:buNone/>
            </a:pPr>
            <a:r>
              <a:rPr lang="en-US" sz="1230" b="1" dirty="0">
                <a:solidFill>
                  <a:srgbClr val="D9534F"/>
                </a:solidFill>
                <a:latin typeface="NanumSquare" pitchFamily="34" charset="0"/>
                <a:ea typeface="NanumSquare" pitchFamily="34" charset="-122"/>
                <a:cs typeface="NanumSquare" pitchFamily="34" charset="-120"/>
              </a:rPr>
              <a:t>+6.39%</a:t>
            </a:r>
            <a:endParaRPr lang="en-US" sz="1230" dirty="0"/>
          </a:p>
        </p:txBody>
      </p:sp>
      <p:sp>
        <p:nvSpPr>
          <p:cNvPr id="105" name="Shape 103"/>
          <p:cNvSpPr/>
          <p:nvPr/>
        </p:nvSpPr>
        <p:spPr>
          <a:xfrm>
            <a:off x="5870448" y="7178040"/>
            <a:ext cx="1252728" cy="795528"/>
          </a:xfrm>
          <a:prstGeom prst="roundRect">
            <a:avLst>
              <a:gd name="adj" fmla="val 9195"/>
            </a:avLst>
          </a:prstGeom>
          <a:solidFill>
            <a:srgbClr val="FBE7E5"/>
          </a:solidFill>
          <a:ln w="10160">
            <a:solidFill>
              <a:srgbClr val="FBE7E5"/>
            </a:solidFill>
            <a:prstDash val="solid"/>
          </a:ln>
        </p:spPr>
      </p:sp>
      <p:sp>
        <p:nvSpPr>
          <p:cNvPr id="106" name="Text 104"/>
          <p:cNvSpPr/>
          <p:nvPr/>
        </p:nvSpPr>
        <p:spPr>
          <a:xfrm>
            <a:off x="5961888" y="7269480"/>
            <a:ext cx="1069848" cy="201168"/>
          </a:xfrm>
          <a:prstGeom prst="rect">
            <a:avLst/>
          </a:prstGeom>
          <a:noFill/>
          <a:ln/>
        </p:spPr>
        <p:txBody>
          <a:bodyPr wrap="square" lIns="0" tIns="0" rIns="0" bIns="0" rtlCol="0" anchor="ctr">
            <a:normAutofit/>
          </a:bodyPr>
          <a:lstStyle/>
          <a:p>
            <a:pPr algn="l" indent="0" marL="0">
              <a:buNone/>
            </a:pPr>
            <a:r>
              <a:rPr lang="en-US" sz="740" b="1" dirty="0">
                <a:solidFill>
                  <a:srgbClr val="0B1F33"/>
                </a:solidFill>
                <a:latin typeface="NanumSquare" pitchFamily="34" charset="0"/>
                <a:ea typeface="NanumSquare" pitchFamily="34" charset="-122"/>
                <a:cs typeface="NanumSquare" pitchFamily="34" charset="-120"/>
              </a:rPr>
              <a:t>주성엔지니어링</a:t>
            </a:r>
            <a:endParaRPr lang="en-US" sz="740" dirty="0"/>
          </a:p>
        </p:txBody>
      </p:sp>
      <p:sp>
        <p:nvSpPr>
          <p:cNvPr id="107" name="Text 105"/>
          <p:cNvSpPr/>
          <p:nvPr/>
        </p:nvSpPr>
        <p:spPr>
          <a:xfrm>
            <a:off x="5961888" y="7543800"/>
            <a:ext cx="1069848" cy="256032"/>
          </a:xfrm>
          <a:prstGeom prst="rect">
            <a:avLst/>
          </a:prstGeom>
          <a:noFill/>
          <a:ln/>
        </p:spPr>
        <p:txBody>
          <a:bodyPr wrap="square" lIns="0" tIns="0" rIns="0" bIns="0" rtlCol="0" anchor="ctr">
            <a:normAutofit/>
          </a:bodyPr>
          <a:lstStyle/>
          <a:p>
            <a:pPr algn="l" indent="0" marL="0">
              <a:buNone/>
            </a:pPr>
            <a:r>
              <a:rPr lang="en-US" sz="1230" b="1" dirty="0">
                <a:solidFill>
                  <a:srgbClr val="D9534F"/>
                </a:solidFill>
                <a:latin typeface="NanumSquare" pitchFamily="34" charset="0"/>
                <a:ea typeface="NanumSquare" pitchFamily="34" charset="-122"/>
                <a:cs typeface="NanumSquare" pitchFamily="34" charset="-120"/>
              </a:rPr>
              <a:t>+3.23%</a:t>
            </a:r>
            <a:endParaRPr lang="en-US" sz="1230" dirty="0"/>
          </a:p>
        </p:txBody>
      </p:sp>
      <p:sp>
        <p:nvSpPr>
          <p:cNvPr id="108" name="Shape 106"/>
          <p:cNvSpPr/>
          <p:nvPr/>
        </p:nvSpPr>
        <p:spPr>
          <a:xfrm>
            <a:off x="384048" y="8293608"/>
            <a:ext cx="365760" cy="237744"/>
          </a:xfrm>
          <a:prstGeom prst="roundRect">
            <a:avLst>
              <a:gd name="adj" fmla="val 23077"/>
            </a:avLst>
          </a:prstGeom>
          <a:solidFill>
            <a:srgbClr val="DFF4F2"/>
          </a:solidFill>
          <a:ln w="12700">
            <a:solidFill>
              <a:srgbClr val="DFF4F2"/>
            </a:solidFill>
            <a:prstDash val="solid"/>
          </a:ln>
        </p:spPr>
      </p:sp>
      <p:sp>
        <p:nvSpPr>
          <p:cNvPr id="109" name="Text 107"/>
          <p:cNvSpPr/>
          <p:nvPr/>
        </p:nvSpPr>
        <p:spPr>
          <a:xfrm>
            <a:off x="384048" y="8302752"/>
            <a:ext cx="365760" cy="201168"/>
          </a:xfrm>
          <a:prstGeom prst="rect">
            <a:avLst/>
          </a:prstGeom>
          <a:noFill/>
          <a:ln/>
        </p:spPr>
        <p:txBody>
          <a:bodyPr wrap="square" lIns="0" tIns="0" rIns="0" bIns="0" rtlCol="0" anchor="ctr">
            <a:normAutofit/>
          </a:bodyPr>
          <a:lstStyle/>
          <a:p>
            <a:pPr algn="ctr" indent="0" marL="0">
              <a:buNone/>
            </a:pPr>
            <a:r>
              <a:rPr lang="en-US" sz="680" b="1" dirty="0">
                <a:solidFill>
                  <a:srgbClr val="00A6A6"/>
                </a:solidFill>
                <a:latin typeface="NanumSquare" pitchFamily="34" charset="0"/>
                <a:ea typeface="NanumSquare" pitchFamily="34" charset="-122"/>
                <a:cs typeface="NanumSquare" pitchFamily="34" charset="-120"/>
              </a:rPr>
              <a:t>01</a:t>
            </a:r>
            <a:endParaRPr lang="en-US" sz="680" dirty="0"/>
          </a:p>
        </p:txBody>
      </p:sp>
      <p:sp>
        <p:nvSpPr>
          <p:cNvPr id="110" name="Text 108"/>
          <p:cNvSpPr/>
          <p:nvPr/>
        </p:nvSpPr>
        <p:spPr>
          <a:xfrm>
            <a:off x="859536" y="8293608"/>
            <a:ext cx="6254496" cy="320040"/>
          </a:xfrm>
          <a:prstGeom prst="rect">
            <a:avLst/>
          </a:prstGeom>
          <a:noFill/>
          <a:ln/>
        </p:spPr>
        <p:txBody>
          <a:bodyPr wrap="square" lIns="0" tIns="0" rIns="0" bIns="0" rtlCol="0" anchor="t">
            <a:normAutofit/>
          </a:bodyPr>
          <a:lstStyle/>
          <a:p>
            <a:pPr algn="l" indent="0" marL="0">
              <a:buNone/>
            </a:pPr>
            <a:r>
              <a:rPr lang="en-US" sz="860" dirty="0">
                <a:solidFill>
                  <a:srgbClr val="17212B"/>
                </a:solidFill>
                <a:latin typeface="Noto Sans CJK KR" pitchFamily="34" charset="0"/>
                <a:ea typeface="Noto Sans CJK KR" pitchFamily="34" charset="-122"/>
                <a:cs typeface="Noto Sans CJK KR" pitchFamily="34" charset="-120"/>
              </a:rPr>
              <a:t>코스피는 강하게 반등했지만 상승 종목보다 하락 종목이 2.2배 많다.</a:t>
            </a:r>
            <a:endParaRPr lang="en-US" sz="860" dirty="0"/>
          </a:p>
        </p:txBody>
      </p:sp>
      <p:sp>
        <p:nvSpPr>
          <p:cNvPr id="111" name="Shape 109"/>
          <p:cNvSpPr/>
          <p:nvPr/>
        </p:nvSpPr>
        <p:spPr>
          <a:xfrm>
            <a:off x="384048" y="8741664"/>
            <a:ext cx="365760" cy="237744"/>
          </a:xfrm>
          <a:prstGeom prst="roundRect">
            <a:avLst>
              <a:gd name="adj" fmla="val 23077"/>
            </a:avLst>
          </a:prstGeom>
          <a:solidFill>
            <a:srgbClr val="DFF4F2"/>
          </a:solidFill>
          <a:ln w="12700">
            <a:solidFill>
              <a:srgbClr val="DFF4F2"/>
            </a:solidFill>
            <a:prstDash val="solid"/>
          </a:ln>
        </p:spPr>
      </p:sp>
      <p:sp>
        <p:nvSpPr>
          <p:cNvPr id="112" name="Text 110"/>
          <p:cNvSpPr/>
          <p:nvPr/>
        </p:nvSpPr>
        <p:spPr>
          <a:xfrm>
            <a:off x="384048" y="8750808"/>
            <a:ext cx="365760" cy="201168"/>
          </a:xfrm>
          <a:prstGeom prst="rect">
            <a:avLst/>
          </a:prstGeom>
          <a:noFill/>
          <a:ln/>
        </p:spPr>
        <p:txBody>
          <a:bodyPr wrap="square" lIns="0" tIns="0" rIns="0" bIns="0" rtlCol="0" anchor="ctr">
            <a:normAutofit/>
          </a:bodyPr>
          <a:lstStyle/>
          <a:p>
            <a:pPr algn="ctr" indent="0" marL="0">
              <a:buNone/>
            </a:pPr>
            <a:r>
              <a:rPr lang="en-US" sz="680" b="1" dirty="0">
                <a:solidFill>
                  <a:srgbClr val="00A6A6"/>
                </a:solidFill>
                <a:latin typeface="NanumSquare" pitchFamily="34" charset="0"/>
                <a:ea typeface="NanumSquare" pitchFamily="34" charset="-122"/>
                <a:cs typeface="NanumSquare" pitchFamily="34" charset="-120"/>
              </a:rPr>
              <a:t>02</a:t>
            </a:r>
            <a:endParaRPr lang="en-US" sz="680" dirty="0"/>
          </a:p>
        </p:txBody>
      </p:sp>
      <p:sp>
        <p:nvSpPr>
          <p:cNvPr id="113" name="Text 111"/>
          <p:cNvSpPr/>
          <p:nvPr/>
        </p:nvSpPr>
        <p:spPr>
          <a:xfrm>
            <a:off x="859536" y="8741664"/>
            <a:ext cx="6254496" cy="320040"/>
          </a:xfrm>
          <a:prstGeom prst="rect">
            <a:avLst/>
          </a:prstGeom>
          <a:noFill/>
          <a:ln/>
        </p:spPr>
        <p:txBody>
          <a:bodyPr wrap="square" lIns="0" tIns="0" rIns="0" bIns="0" rtlCol="0" anchor="t">
            <a:normAutofit/>
          </a:bodyPr>
          <a:lstStyle/>
          <a:p>
            <a:pPr algn="l" indent="0" marL="0">
              <a:buNone/>
            </a:pPr>
            <a:r>
              <a:rPr lang="en-US" sz="860" dirty="0">
                <a:solidFill>
                  <a:srgbClr val="17212B"/>
                </a:solidFill>
                <a:latin typeface="Noto Sans CJK KR" pitchFamily="34" charset="0"/>
                <a:ea typeface="Noto Sans CJK KR" pitchFamily="34" charset="-122"/>
                <a:cs typeface="Noto Sans CJK KR" pitchFamily="34" charset="-120"/>
              </a:rPr>
              <a:t>기관·프로그램은 코스피를 지지했지만 코스닥 외국인·프로그램은 순매도다.</a:t>
            </a:r>
            <a:endParaRPr lang="en-US" sz="860" dirty="0"/>
          </a:p>
        </p:txBody>
      </p:sp>
      <p:sp>
        <p:nvSpPr>
          <p:cNvPr id="114" name="Shape 112"/>
          <p:cNvSpPr/>
          <p:nvPr/>
        </p:nvSpPr>
        <p:spPr>
          <a:xfrm>
            <a:off x="384048" y="9189720"/>
            <a:ext cx="365760" cy="237744"/>
          </a:xfrm>
          <a:prstGeom prst="roundRect">
            <a:avLst>
              <a:gd name="adj" fmla="val 23077"/>
            </a:avLst>
          </a:prstGeom>
          <a:solidFill>
            <a:srgbClr val="DFF4F2"/>
          </a:solidFill>
          <a:ln w="12700">
            <a:solidFill>
              <a:srgbClr val="DFF4F2"/>
            </a:solidFill>
            <a:prstDash val="solid"/>
          </a:ln>
        </p:spPr>
      </p:sp>
      <p:sp>
        <p:nvSpPr>
          <p:cNvPr id="115" name="Text 113"/>
          <p:cNvSpPr/>
          <p:nvPr/>
        </p:nvSpPr>
        <p:spPr>
          <a:xfrm>
            <a:off x="384048" y="9198864"/>
            <a:ext cx="365760" cy="201168"/>
          </a:xfrm>
          <a:prstGeom prst="rect">
            <a:avLst/>
          </a:prstGeom>
          <a:noFill/>
          <a:ln/>
        </p:spPr>
        <p:txBody>
          <a:bodyPr wrap="square" lIns="0" tIns="0" rIns="0" bIns="0" rtlCol="0" anchor="ctr">
            <a:normAutofit/>
          </a:bodyPr>
          <a:lstStyle/>
          <a:p>
            <a:pPr algn="ctr" indent="0" marL="0">
              <a:buNone/>
            </a:pPr>
            <a:r>
              <a:rPr lang="en-US" sz="680" b="1" dirty="0">
                <a:solidFill>
                  <a:srgbClr val="00A6A6"/>
                </a:solidFill>
                <a:latin typeface="NanumSquare" pitchFamily="34" charset="0"/>
                <a:ea typeface="NanumSquare" pitchFamily="34" charset="-122"/>
                <a:cs typeface="NanumSquare" pitchFamily="34" charset="-120"/>
              </a:rPr>
              <a:t>03</a:t>
            </a:r>
            <a:endParaRPr lang="en-US" sz="680" dirty="0"/>
          </a:p>
        </p:txBody>
      </p:sp>
      <p:sp>
        <p:nvSpPr>
          <p:cNvPr id="116" name="Text 114"/>
          <p:cNvSpPr/>
          <p:nvPr/>
        </p:nvSpPr>
        <p:spPr>
          <a:xfrm>
            <a:off x="859536" y="9189720"/>
            <a:ext cx="6254496" cy="320040"/>
          </a:xfrm>
          <a:prstGeom prst="rect">
            <a:avLst/>
          </a:prstGeom>
          <a:noFill/>
          <a:ln/>
        </p:spPr>
        <p:txBody>
          <a:bodyPr wrap="square" lIns="0" tIns="0" rIns="0" bIns="0" rtlCol="0" anchor="t">
            <a:normAutofit/>
          </a:bodyPr>
          <a:lstStyle/>
          <a:p>
            <a:pPr algn="l" indent="0" marL="0">
              <a:buNone/>
            </a:pPr>
            <a:r>
              <a:rPr lang="en-US" sz="860" dirty="0">
                <a:solidFill>
                  <a:srgbClr val="17212B"/>
                </a:solidFill>
                <a:latin typeface="Noto Sans CJK KR" pitchFamily="34" charset="0"/>
                <a:ea typeface="Noto Sans CJK KR" pitchFamily="34" charset="-122"/>
                <a:cs typeface="Noto Sans CJK KR" pitchFamily="34" charset="-120"/>
              </a:rPr>
              <a:t>삼성전자·SK하이닉스 강세와 바이오·2차전지 약세가 지수 간 격차를 만들었다.</a:t>
            </a:r>
            <a:endParaRPr lang="en-US" sz="860" dirty="0"/>
          </a:p>
        </p:txBody>
      </p:sp>
      <p:sp>
        <p:nvSpPr>
          <p:cNvPr id="117" name="Text 115"/>
          <p:cNvSpPr/>
          <p:nvPr/>
        </p:nvSpPr>
        <p:spPr>
          <a:xfrm>
            <a:off x="384048" y="10277856"/>
            <a:ext cx="5989320" cy="182880"/>
          </a:xfrm>
          <a:prstGeom prst="rect">
            <a:avLst/>
          </a:prstGeom>
          <a:noFill/>
          <a:ln/>
        </p:spPr>
        <p:txBody>
          <a:bodyPr wrap="square" lIns="0" tIns="0" rIns="0" bIns="0" rtlCol="0" anchor="t">
            <a:normAutofit/>
          </a:bodyPr>
          <a:lstStyle/>
          <a:p>
            <a:pPr algn="l" indent="0" marL="0">
              <a:buNone/>
            </a:pPr>
            <a:r>
              <a:rPr lang="en-US" sz="650" dirty="0">
                <a:solidFill>
                  <a:srgbClr val="647586"/>
                </a:solidFill>
                <a:latin typeface="Noto Sans CJK KR" pitchFamily="34" charset="0"/>
                <a:ea typeface="Noto Sans CJK KR" pitchFamily="34" charset="-122"/>
                <a:cs typeface="Noto Sans CJK KR" pitchFamily="34" charset="-120"/>
              </a:rPr>
              <a:t>Sources: Naver Finance KOSPI/KOSDAQ snapshots. Flow values shown in KRW 100m units.</a:t>
            </a:r>
            <a:endParaRPr lang="en-US" sz="650" dirty="0"/>
          </a:p>
        </p:txBody>
      </p:sp>
      <p:sp>
        <p:nvSpPr>
          <p:cNvPr id="118" name="Text 116"/>
          <p:cNvSpPr/>
          <p:nvPr/>
        </p:nvSpPr>
        <p:spPr>
          <a:xfrm>
            <a:off x="5715000" y="10040112"/>
            <a:ext cx="1444752" cy="164592"/>
          </a:xfrm>
          <a:prstGeom prst="rect">
            <a:avLst/>
          </a:prstGeom>
          <a:noFill/>
          <a:ln/>
        </p:spPr>
        <p:txBody>
          <a:bodyPr wrap="square" lIns="0" tIns="0" rIns="0" bIns="0" rtlCol="0" anchor="ctr">
            <a:normAutofit/>
          </a:bodyPr>
          <a:lstStyle/>
          <a:p>
            <a:pPr algn="r" indent="0" marL="0">
              <a:buNone/>
            </a:pPr>
            <a:r>
              <a:rPr lang="en-US" sz="680" b="1" dirty="0">
                <a:solidFill>
                  <a:srgbClr val="647586"/>
                </a:solidFill>
                <a:latin typeface="NanumSquare" pitchFamily="34" charset="0"/>
                <a:ea typeface="NanumSquare" pitchFamily="34" charset="-122"/>
                <a:cs typeface="NanumSquare" pitchFamily="34" charset="-120"/>
              </a:rPr>
              <a:t>14:28-14:30 KST</a:t>
            </a:r>
            <a:endParaRPr lang="en-US" sz="680" dirty="0"/>
          </a:p>
        </p:txBody>
      </p:sp>
      <p:sp>
        <p:nvSpPr>
          <p:cNvPr id="25" name="Slide Number Placeholder 0"/>
          <p:cNvSpPr>
            <a:spLocks noGrp="1"/>
          </p:cNvSpPr>
          <p:nvPr>
            <p:ph type="sldNum" sz="quarter" idx="4294967295"/>
          </p:nvPr>
        </p:nvSpPr>
        <p:spPr>
          <a:xfrm>
            <a:off x="6830568" y="1031443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586"/>
                </a:solidFill>
                <a:latin typeface="NanumSquare"/>
                <a:ea typeface="NanumSquare"/>
                <a:cs typeface="NanumSquare"/>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84048" y="512064"/>
            <a:ext cx="1325880" cy="164592"/>
          </a:xfrm>
          <a:prstGeom prst="rect">
            <a:avLst/>
          </a:prstGeom>
          <a:noFill/>
          <a:ln/>
        </p:spPr>
        <p:txBody>
          <a:bodyPr wrap="square" lIns="0" tIns="0" rIns="0" bIns="0" rtlCol="0" anchor="ctr">
            <a:normAutofit/>
          </a:bodyPr>
          <a:lstStyle/>
          <a:p>
            <a:pPr algn="l" indent="0" marL="0">
              <a:buNone/>
            </a:pPr>
            <a:r>
              <a:rPr lang="en-US" sz="750" b="1" spc="110" kern="0" dirty="0">
                <a:solidFill>
                  <a:srgbClr val="00A6A6"/>
                </a:solidFill>
                <a:latin typeface="NanumSquare" pitchFamily="34" charset="0"/>
                <a:ea typeface="NanumSquare" pitchFamily="34" charset="-122"/>
                <a:cs typeface="NanumSquare" pitchFamily="34" charset="-120"/>
              </a:rPr>
              <a:t>NEWS &amp; CATALYSTS</a:t>
            </a:r>
            <a:endParaRPr lang="en-US" sz="750" dirty="0"/>
          </a:p>
        </p:txBody>
      </p:sp>
      <p:sp>
        <p:nvSpPr>
          <p:cNvPr id="3" name="Text 1"/>
          <p:cNvSpPr/>
          <p:nvPr/>
        </p:nvSpPr>
        <p:spPr>
          <a:xfrm>
            <a:off x="384048" y="713232"/>
            <a:ext cx="6629400" cy="420624"/>
          </a:xfrm>
          <a:prstGeom prst="rect">
            <a:avLst/>
          </a:prstGeom>
          <a:noFill/>
          <a:ln/>
        </p:spPr>
        <p:txBody>
          <a:bodyPr wrap="square" lIns="0" tIns="0" rIns="0" bIns="0" rtlCol="0" anchor="t">
            <a:normAutofit/>
          </a:bodyPr>
          <a:lstStyle/>
          <a:p>
            <a:pPr algn="l" indent="0" marL="0">
              <a:buNone/>
            </a:pPr>
            <a:r>
              <a:rPr lang="en-US" sz="2200" b="1" dirty="0">
                <a:solidFill>
                  <a:srgbClr val="0B1F33"/>
                </a:solidFill>
                <a:latin typeface="NanumSquare" pitchFamily="34" charset="0"/>
                <a:ea typeface="NanumSquare" pitchFamily="34" charset="-122"/>
                <a:cs typeface="NanumSquare" pitchFamily="34" charset="-120"/>
              </a:rPr>
              <a:t>기사보다 사건을 본다</a:t>
            </a:r>
            <a:endParaRPr lang="en-US" sz="2200" dirty="0"/>
          </a:p>
        </p:txBody>
      </p:sp>
      <p:sp>
        <p:nvSpPr>
          <p:cNvPr id="4" name="Text 2"/>
          <p:cNvSpPr/>
          <p:nvPr/>
        </p:nvSpPr>
        <p:spPr>
          <a:xfrm>
            <a:off x="384048" y="1124712"/>
            <a:ext cx="6629400" cy="365760"/>
          </a:xfrm>
          <a:prstGeom prst="rect">
            <a:avLst/>
          </a:prstGeom>
          <a:noFill/>
          <a:ln/>
        </p:spPr>
        <p:txBody>
          <a:bodyPr wrap="square" lIns="0" tIns="0" rIns="0" bIns="0" rtlCol="0" anchor="t">
            <a:normAutofit/>
          </a:bodyPr>
          <a:lstStyle/>
          <a:p>
            <a:pPr algn="l" indent="0" marL="0">
              <a:buNone/>
            </a:pPr>
            <a:r>
              <a:rPr lang="en-US" sz="940" dirty="0">
                <a:solidFill>
                  <a:srgbClr val="465866"/>
                </a:solidFill>
                <a:latin typeface="Noto Sans CJK KR" pitchFamily="34" charset="0"/>
                <a:ea typeface="Noto Sans CJK KR" pitchFamily="34" charset="-122"/>
                <a:cs typeface="Noto Sans CJK KR" pitchFamily="34" charset="-120"/>
              </a:rPr>
              <a:t>news cutoff 14:45 KST · 시장과 연결되는 사건만 남긴다.</a:t>
            </a:r>
            <a:endParaRPr lang="en-US" sz="940" dirty="0"/>
          </a:p>
        </p:txBody>
      </p:sp>
      <p:sp>
        <p:nvSpPr>
          <p:cNvPr id="5" name="Text 3"/>
          <p:cNvSpPr/>
          <p:nvPr/>
        </p:nvSpPr>
        <p:spPr>
          <a:xfrm>
            <a:off x="384048" y="1572768"/>
            <a:ext cx="2011680" cy="256032"/>
          </a:xfrm>
          <a:prstGeom prst="rect">
            <a:avLst/>
          </a:prstGeom>
          <a:noFill/>
          <a:ln/>
        </p:spPr>
        <p:txBody>
          <a:bodyPr wrap="square" lIns="0" tIns="0" rIns="0" bIns="0" rtlCol="0" anchor="ctr">
            <a:normAutofit/>
          </a:bodyPr>
          <a:lstStyle/>
          <a:p>
            <a:pPr algn="l" indent="0" marL="0">
              <a:buNone/>
            </a:pPr>
            <a:r>
              <a:rPr lang="en-US" sz="1250" b="1" dirty="0">
                <a:solidFill>
                  <a:srgbClr val="0B1F33"/>
                </a:solidFill>
                <a:latin typeface="NanumSquare" pitchFamily="34" charset="0"/>
                <a:ea typeface="NanumSquare" pitchFamily="34" charset="-122"/>
                <a:cs typeface="NanumSquare" pitchFamily="34" charset="-120"/>
              </a:rPr>
              <a:t>오늘 사건 타임라인</a:t>
            </a:r>
            <a:endParaRPr lang="en-US" sz="1250" dirty="0"/>
          </a:p>
        </p:txBody>
      </p:sp>
      <p:sp>
        <p:nvSpPr>
          <p:cNvPr id="6" name="Shape 4"/>
          <p:cNvSpPr/>
          <p:nvPr/>
        </p:nvSpPr>
        <p:spPr>
          <a:xfrm>
            <a:off x="384048" y="1901952"/>
            <a:ext cx="2011680" cy="7242048"/>
          </a:xfrm>
          <a:prstGeom prst="roundRect">
            <a:avLst>
              <a:gd name="adj" fmla="val 3636"/>
            </a:avLst>
          </a:prstGeom>
          <a:solidFill>
            <a:srgbClr val="FFFFFF"/>
          </a:solidFill>
          <a:ln w="10160">
            <a:solidFill>
              <a:srgbClr val="D8DEE5"/>
            </a:solidFill>
            <a:prstDash val="solid"/>
          </a:ln>
        </p:spPr>
      </p:sp>
      <p:sp>
        <p:nvSpPr>
          <p:cNvPr id="7" name="Shape 5"/>
          <p:cNvSpPr/>
          <p:nvPr/>
        </p:nvSpPr>
        <p:spPr>
          <a:xfrm>
            <a:off x="749808" y="2304288"/>
            <a:ext cx="0" cy="6236208"/>
          </a:xfrm>
          <a:prstGeom prst="line">
            <a:avLst/>
          </a:prstGeom>
          <a:noFill/>
          <a:ln w="19050">
            <a:solidFill>
              <a:srgbClr val="B8C3CD"/>
            </a:solidFill>
            <a:prstDash val="solid"/>
          </a:ln>
        </p:spPr>
      </p:sp>
      <p:sp>
        <p:nvSpPr>
          <p:cNvPr id="8" name="Shape 6"/>
          <p:cNvSpPr/>
          <p:nvPr/>
        </p:nvSpPr>
        <p:spPr>
          <a:xfrm>
            <a:off x="676656" y="2231136"/>
            <a:ext cx="146304" cy="146304"/>
          </a:xfrm>
          <a:prstGeom prst="ellipse">
            <a:avLst/>
          </a:prstGeom>
          <a:solidFill>
            <a:srgbClr val="D8A63C"/>
          </a:solidFill>
          <a:ln w="12700">
            <a:solidFill>
              <a:srgbClr val="FFFFFF"/>
            </a:solidFill>
            <a:prstDash val="solid"/>
          </a:ln>
        </p:spPr>
      </p:sp>
      <p:sp>
        <p:nvSpPr>
          <p:cNvPr id="9" name="Text 7"/>
          <p:cNvSpPr/>
          <p:nvPr/>
        </p:nvSpPr>
        <p:spPr>
          <a:xfrm>
            <a:off x="932688" y="2148840"/>
            <a:ext cx="658368" cy="182880"/>
          </a:xfrm>
          <a:prstGeom prst="rect">
            <a:avLst/>
          </a:prstGeom>
          <a:noFill/>
          <a:ln/>
        </p:spPr>
        <p:txBody>
          <a:bodyPr wrap="square" lIns="0" tIns="0" rIns="0" bIns="0" rtlCol="0" anchor="ctr">
            <a:normAutofit/>
          </a:bodyPr>
          <a:lstStyle/>
          <a:p>
            <a:pPr algn="l" indent="0" marL="0">
              <a:buNone/>
            </a:pPr>
            <a:r>
              <a:rPr lang="en-US" sz="720" b="1" dirty="0">
                <a:solidFill>
                  <a:srgbClr val="D8A63C"/>
                </a:solidFill>
                <a:latin typeface="NanumSquare" pitchFamily="34" charset="0"/>
                <a:ea typeface="NanumSquare" pitchFamily="34" charset="-122"/>
                <a:cs typeface="NanumSquare" pitchFamily="34" charset="-120"/>
              </a:rPr>
              <a:t>08:26</a:t>
            </a:r>
            <a:endParaRPr lang="en-US" sz="720" dirty="0"/>
          </a:p>
        </p:txBody>
      </p:sp>
      <p:sp>
        <p:nvSpPr>
          <p:cNvPr id="10" name="Text 8"/>
          <p:cNvSpPr/>
          <p:nvPr/>
        </p:nvSpPr>
        <p:spPr>
          <a:xfrm>
            <a:off x="932688" y="2340864"/>
            <a:ext cx="1225296" cy="411480"/>
          </a:xfrm>
          <a:prstGeom prst="rect">
            <a:avLst/>
          </a:prstGeom>
          <a:noFill/>
          <a:ln/>
        </p:spPr>
        <p:txBody>
          <a:bodyPr wrap="square" lIns="0" tIns="0" rIns="0" bIns="0" rtlCol="0" anchor="t">
            <a:normAutofit/>
          </a:bodyPr>
          <a:lstStyle/>
          <a:p>
            <a:pPr algn="l" indent="0" marL="0">
              <a:buNone/>
            </a:pPr>
            <a:r>
              <a:rPr lang="en-US" sz="760" dirty="0">
                <a:solidFill>
                  <a:srgbClr val="17212B"/>
                </a:solidFill>
                <a:latin typeface="Noto Sans CJK KR" pitchFamily="34" charset="0"/>
                <a:ea typeface="Noto Sans CJK KR" pitchFamily="34" charset="-122"/>
                <a:cs typeface="Noto Sans CJK KR" pitchFamily="34" charset="-120"/>
              </a:rPr>
              <a:t>레버리지 ETF</a:t>
            </a:r>
            <a:endParaRPr lang="en-US" sz="760" dirty="0"/>
          </a:p>
          <a:p>
            <a:pPr algn="l" indent="0" marL="0">
              <a:buNone/>
            </a:pPr>
            <a:r>
              <a:rPr lang="en-US" sz="760" dirty="0">
                <a:solidFill>
                  <a:srgbClr val="17212B"/>
                </a:solidFill>
                <a:latin typeface="Noto Sans CJK KR" pitchFamily="34" charset="0"/>
                <a:ea typeface="Noto Sans CJK KR" pitchFamily="34" charset="-122"/>
                <a:cs typeface="Noto Sans CJK KR" pitchFamily="34" charset="-120"/>
              </a:rPr>
              <a:t>대응 회의 예고</a:t>
            </a:r>
            <a:endParaRPr lang="en-US" sz="760" dirty="0"/>
          </a:p>
        </p:txBody>
      </p:sp>
      <p:sp>
        <p:nvSpPr>
          <p:cNvPr id="11" name="Shape 9"/>
          <p:cNvSpPr/>
          <p:nvPr/>
        </p:nvSpPr>
        <p:spPr>
          <a:xfrm>
            <a:off x="676656" y="3035808"/>
            <a:ext cx="146304" cy="146304"/>
          </a:xfrm>
          <a:prstGeom prst="ellipse">
            <a:avLst/>
          </a:prstGeom>
          <a:solidFill>
            <a:srgbClr val="00A6A6"/>
          </a:solidFill>
          <a:ln w="12700">
            <a:solidFill>
              <a:srgbClr val="FFFFFF"/>
            </a:solidFill>
            <a:prstDash val="solid"/>
          </a:ln>
        </p:spPr>
      </p:sp>
      <p:sp>
        <p:nvSpPr>
          <p:cNvPr id="12" name="Text 10"/>
          <p:cNvSpPr/>
          <p:nvPr/>
        </p:nvSpPr>
        <p:spPr>
          <a:xfrm>
            <a:off x="932688" y="2953512"/>
            <a:ext cx="658368" cy="182880"/>
          </a:xfrm>
          <a:prstGeom prst="rect">
            <a:avLst/>
          </a:prstGeom>
          <a:noFill/>
          <a:ln/>
        </p:spPr>
        <p:txBody>
          <a:bodyPr wrap="square" lIns="0" tIns="0" rIns="0" bIns="0" rtlCol="0" anchor="ctr">
            <a:normAutofit/>
          </a:bodyPr>
          <a:lstStyle/>
          <a:p>
            <a:pPr algn="l" indent="0" marL="0">
              <a:buNone/>
            </a:pPr>
            <a:r>
              <a:rPr lang="en-US" sz="720" b="1" dirty="0">
                <a:solidFill>
                  <a:srgbClr val="00A6A6"/>
                </a:solidFill>
                <a:latin typeface="NanumSquare" pitchFamily="34" charset="0"/>
                <a:ea typeface="NanumSquare" pitchFamily="34" charset="-122"/>
                <a:cs typeface="NanumSquare" pitchFamily="34" charset="-120"/>
              </a:rPr>
              <a:t>08:34</a:t>
            </a:r>
            <a:endParaRPr lang="en-US" sz="720" dirty="0"/>
          </a:p>
        </p:txBody>
      </p:sp>
      <p:sp>
        <p:nvSpPr>
          <p:cNvPr id="13" name="Text 11"/>
          <p:cNvSpPr/>
          <p:nvPr/>
        </p:nvSpPr>
        <p:spPr>
          <a:xfrm>
            <a:off x="932688" y="3145536"/>
            <a:ext cx="1225296" cy="411480"/>
          </a:xfrm>
          <a:prstGeom prst="rect">
            <a:avLst/>
          </a:prstGeom>
          <a:noFill/>
          <a:ln/>
        </p:spPr>
        <p:txBody>
          <a:bodyPr wrap="square" lIns="0" tIns="0" rIns="0" bIns="0" rtlCol="0" anchor="t">
            <a:normAutofit/>
          </a:bodyPr>
          <a:lstStyle/>
          <a:p>
            <a:pPr algn="l" indent="0" marL="0">
              <a:buNone/>
            </a:pPr>
            <a:r>
              <a:rPr lang="en-US" sz="760" dirty="0">
                <a:solidFill>
                  <a:srgbClr val="17212B"/>
                </a:solidFill>
                <a:latin typeface="Noto Sans CJK KR" pitchFamily="34" charset="0"/>
                <a:ea typeface="Noto Sans CJK KR" pitchFamily="34" charset="-122"/>
                <a:cs typeface="Noto Sans CJK KR" pitchFamily="34" charset="-120"/>
              </a:rPr>
              <a:t>ASML 실적</a:t>
            </a:r>
            <a:endParaRPr lang="en-US" sz="760" dirty="0"/>
          </a:p>
          <a:p>
            <a:pPr algn="l" indent="0" marL="0">
              <a:buNone/>
            </a:pPr>
            <a:r>
              <a:rPr lang="en-US" sz="760" dirty="0">
                <a:solidFill>
                  <a:srgbClr val="17212B"/>
                </a:solidFill>
                <a:latin typeface="Noto Sans CJK KR" pitchFamily="34" charset="0"/>
                <a:ea typeface="Noto Sans CJK KR" pitchFamily="34" charset="-122"/>
                <a:cs typeface="Noto Sans CJK KR" pitchFamily="34" charset="-120"/>
              </a:rPr>
              <a:t>프리뷰</a:t>
            </a:r>
            <a:endParaRPr lang="en-US" sz="760" dirty="0"/>
          </a:p>
        </p:txBody>
      </p:sp>
      <p:sp>
        <p:nvSpPr>
          <p:cNvPr id="14" name="Shape 12"/>
          <p:cNvSpPr/>
          <p:nvPr/>
        </p:nvSpPr>
        <p:spPr>
          <a:xfrm>
            <a:off x="676656" y="3840480"/>
            <a:ext cx="146304" cy="146304"/>
          </a:xfrm>
          <a:prstGeom prst="ellipse">
            <a:avLst/>
          </a:prstGeom>
          <a:solidFill>
            <a:srgbClr val="00A6A6"/>
          </a:solidFill>
          <a:ln w="12700">
            <a:solidFill>
              <a:srgbClr val="FFFFFF"/>
            </a:solidFill>
            <a:prstDash val="solid"/>
          </a:ln>
        </p:spPr>
      </p:sp>
      <p:sp>
        <p:nvSpPr>
          <p:cNvPr id="15" name="Text 13"/>
          <p:cNvSpPr/>
          <p:nvPr/>
        </p:nvSpPr>
        <p:spPr>
          <a:xfrm>
            <a:off x="932688" y="3758184"/>
            <a:ext cx="658368" cy="182880"/>
          </a:xfrm>
          <a:prstGeom prst="rect">
            <a:avLst/>
          </a:prstGeom>
          <a:noFill/>
          <a:ln/>
        </p:spPr>
        <p:txBody>
          <a:bodyPr wrap="square" lIns="0" tIns="0" rIns="0" bIns="0" rtlCol="0" anchor="ctr">
            <a:normAutofit/>
          </a:bodyPr>
          <a:lstStyle/>
          <a:p>
            <a:pPr algn="l" indent="0" marL="0">
              <a:buNone/>
            </a:pPr>
            <a:r>
              <a:rPr lang="en-US" sz="720" b="1" dirty="0">
                <a:solidFill>
                  <a:srgbClr val="00A6A6"/>
                </a:solidFill>
                <a:latin typeface="NanumSquare" pitchFamily="34" charset="0"/>
                <a:ea typeface="NanumSquare" pitchFamily="34" charset="-122"/>
                <a:cs typeface="NanumSquare" pitchFamily="34" charset="-120"/>
              </a:rPr>
              <a:t>08:56</a:t>
            </a:r>
            <a:endParaRPr lang="en-US" sz="720" dirty="0"/>
          </a:p>
        </p:txBody>
      </p:sp>
      <p:sp>
        <p:nvSpPr>
          <p:cNvPr id="16" name="Text 14"/>
          <p:cNvSpPr/>
          <p:nvPr/>
        </p:nvSpPr>
        <p:spPr>
          <a:xfrm>
            <a:off x="932688" y="3950208"/>
            <a:ext cx="1225296" cy="411480"/>
          </a:xfrm>
          <a:prstGeom prst="rect">
            <a:avLst/>
          </a:prstGeom>
          <a:noFill/>
          <a:ln/>
        </p:spPr>
        <p:txBody>
          <a:bodyPr wrap="square" lIns="0" tIns="0" rIns="0" bIns="0" rtlCol="0" anchor="t">
            <a:normAutofit/>
          </a:bodyPr>
          <a:lstStyle/>
          <a:p>
            <a:pPr algn="l" indent="0" marL="0">
              <a:buNone/>
            </a:pPr>
            <a:r>
              <a:rPr lang="en-US" sz="760" dirty="0">
                <a:solidFill>
                  <a:srgbClr val="17212B"/>
                </a:solidFill>
                <a:latin typeface="Noto Sans CJK KR" pitchFamily="34" charset="0"/>
                <a:ea typeface="Noto Sans CJK KR" pitchFamily="34" charset="-122"/>
                <a:cs typeface="Noto Sans CJK KR" pitchFamily="34" charset="-120"/>
              </a:rPr>
              <a:t>SK하이닉스</a:t>
            </a:r>
            <a:endParaRPr lang="en-US" sz="760" dirty="0"/>
          </a:p>
          <a:p>
            <a:pPr algn="l" indent="0" marL="0">
              <a:buNone/>
            </a:pPr>
            <a:r>
              <a:rPr lang="en-US" sz="760" dirty="0">
                <a:solidFill>
                  <a:srgbClr val="17212B"/>
                </a:solidFill>
                <a:latin typeface="Noto Sans CJK KR" pitchFamily="34" charset="0"/>
                <a:ea typeface="Noto Sans CJK KR" pitchFamily="34" charset="-122"/>
                <a:cs typeface="Noto Sans CJK KR" pitchFamily="34" charset="-120"/>
              </a:rPr>
              <a:t>기대치 재조정</a:t>
            </a:r>
            <a:endParaRPr lang="en-US" sz="760" dirty="0"/>
          </a:p>
        </p:txBody>
      </p:sp>
      <p:sp>
        <p:nvSpPr>
          <p:cNvPr id="17" name="Shape 15"/>
          <p:cNvSpPr/>
          <p:nvPr/>
        </p:nvSpPr>
        <p:spPr>
          <a:xfrm>
            <a:off x="676656" y="4645152"/>
            <a:ext cx="146304" cy="146304"/>
          </a:xfrm>
          <a:prstGeom prst="ellipse">
            <a:avLst/>
          </a:prstGeom>
          <a:solidFill>
            <a:srgbClr val="3B73B9"/>
          </a:solidFill>
          <a:ln w="12700">
            <a:solidFill>
              <a:srgbClr val="FFFFFF"/>
            </a:solidFill>
            <a:prstDash val="solid"/>
          </a:ln>
        </p:spPr>
      </p:sp>
      <p:sp>
        <p:nvSpPr>
          <p:cNvPr id="18" name="Text 16"/>
          <p:cNvSpPr/>
          <p:nvPr/>
        </p:nvSpPr>
        <p:spPr>
          <a:xfrm>
            <a:off x="932688" y="4562856"/>
            <a:ext cx="658368" cy="182880"/>
          </a:xfrm>
          <a:prstGeom prst="rect">
            <a:avLst/>
          </a:prstGeom>
          <a:noFill/>
          <a:ln/>
        </p:spPr>
        <p:txBody>
          <a:bodyPr wrap="square" lIns="0" tIns="0" rIns="0" bIns="0" rtlCol="0" anchor="ctr">
            <a:normAutofit/>
          </a:bodyPr>
          <a:lstStyle/>
          <a:p>
            <a:pPr algn="l" indent="0" marL="0">
              <a:buNone/>
            </a:pPr>
            <a:r>
              <a:rPr lang="en-US" sz="720" b="1" dirty="0">
                <a:solidFill>
                  <a:srgbClr val="3B73B9"/>
                </a:solidFill>
                <a:latin typeface="NanumSquare" pitchFamily="34" charset="0"/>
                <a:ea typeface="NanumSquare" pitchFamily="34" charset="-122"/>
                <a:cs typeface="NanumSquare" pitchFamily="34" charset="-120"/>
              </a:rPr>
              <a:t>12:06</a:t>
            </a:r>
            <a:endParaRPr lang="en-US" sz="720" dirty="0"/>
          </a:p>
        </p:txBody>
      </p:sp>
      <p:sp>
        <p:nvSpPr>
          <p:cNvPr id="19" name="Text 17"/>
          <p:cNvSpPr/>
          <p:nvPr/>
        </p:nvSpPr>
        <p:spPr>
          <a:xfrm>
            <a:off x="932688" y="4754880"/>
            <a:ext cx="1225296" cy="411480"/>
          </a:xfrm>
          <a:prstGeom prst="rect">
            <a:avLst/>
          </a:prstGeom>
          <a:noFill/>
          <a:ln/>
        </p:spPr>
        <p:txBody>
          <a:bodyPr wrap="square" lIns="0" tIns="0" rIns="0" bIns="0" rtlCol="0" anchor="t">
            <a:normAutofit/>
          </a:bodyPr>
          <a:lstStyle/>
          <a:p>
            <a:pPr algn="l" indent="0" marL="0">
              <a:buNone/>
            </a:pPr>
            <a:r>
              <a:rPr lang="en-US" sz="760" dirty="0">
                <a:solidFill>
                  <a:srgbClr val="17212B"/>
                </a:solidFill>
                <a:latin typeface="Noto Sans CJK KR" pitchFamily="34" charset="0"/>
                <a:ea typeface="Noto Sans CJK KR" pitchFamily="34" charset="-122"/>
                <a:cs typeface="Noto Sans CJK KR" pitchFamily="34" charset="-120"/>
              </a:rPr>
              <a:t>코스닥 매도</a:t>
            </a:r>
            <a:endParaRPr lang="en-US" sz="760" dirty="0"/>
          </a:p>
          <a:p>
            <a:pPr algn="l" indent="0" marL="0">
              <a:buNone/>
            </a:pPr>
            <a:r>
              <a:rPr lang="en-US" sz="760" dirty="0">
                <a:solidFill>
                  <a:srgbClr val="17212B"/>
                </a:solidFill>
                <a:latin typeface="Noto Sans CJK KR" pitchFamily="34" charset="0"/>
                <a:ea typeface="Noto Sans CJK KR" pitchFamily="34" charset="-122"/>
                <a:cs typeface="Noto Sans CJK KR" pitchFamily="34" charset="-120"/>
              </a:rPr>
              <a:t>사이드카</a:t>
            </a:r>
            <a:endParaRPr lang="en-US" sz="760" dirty="0"/>
          </a:p>
        </p:txBody>
      </p:sp>
      <p:sp>
        <p:nvSpPr>
          <p:cNvPr id="20" name="Shape 18"/>
          <p:cNvSpPr/>
          <p:nvPr/>
        </p:nvSpPr>
        <p:spPr>
          <a:xfrm>
            <a:off x="676656" y="5449824"/>
            <a:ext cx="146304" cy="146304"/>
          </a:xfrm>
          <a:prstGeom prst="ellipse">
            <a:avLst/>
          </a:prstGeom>
          <a:solidFill>
            <a:srgbClr val="D8A63C"/>
          </a:solidFill>
          <a:ln w="12700">
            <a:solidFill>
              <a:srgbClr val="FFFFFF"/>
            </a:solidFill>
            <a:prstDash val="solid"/>
          </a:ln>
        </p:spPr>
      </p:sp>
      <p:sp>
        <p:nvSpPr>
          <p:cNvPr id="21" name="Text 19"/>
          <p:cNvSpPr/>
          <p:nvPr/>
        </p:nvSpPr>
        <p:spPr>
          <a:xfrm>
            <a:off x="932688" y="5367528"/>
            <a:ext cx="658368" cy="182880"/>
          </a:xfrm>
          <a:prstGeom prst="rect">
            <a:avLst/>
          </a:prstGeom>
          <a:noFill/>
          <a:ln/>
        </p:spPr>
        <p:txBody>
          <a:bodyPr wrap="square" lIns="0" tIns="0" rIns="0" bIns="0" rtlCol="0" anchor="ctr">
            <a:normAutofit/>
          </a:bodyPr>
          <a:lstStyle/>
          <a:p>
            <a:pPr algn="l" indent="0" marL="0">
              <a:buNone/>
            </a:pPr>
            <a:r>
              <a:rPr lang="en-US" sz="720" b="1" dirty="0">
                <a:solidFill>
                  <a:srgbClr val="D8A63C"/>
                </a:solidFill>
                <a:latin typeface="NanumSquare" pitchFamily="34" charset="0"/>
                <a:ea typeface="NanumSquare" pitchFamily="34" charset="-122"/>
                <a:cs typeface="NanumSquare" pitchFamily="34" charset="-120"/>
              </a:rPr>
              <a:t>15:00</a:t>
            </a:r>
            <a:endParaRPr lang="en-US" sz="720" dirty="0"/>
          </a:p>
        </p:txBody>
      </p:sp>
      <p:sp>
        <p:nvSpPr>
          <p:cNvPr id="22" name="Text 20"/>
          <p:cNvSpPr/>
          <p:nvPr/>
        </p:nvSpPr>
        <p:spPr>
          <a:xfrm>
            <a:off x="932688" y="5559552"/>
            <a:ext cx="1225296" cy="411480"/>
          </a:xfrm>
          <a:prstGeom prst="rect">
            <a:avLst/>
          </a:prstGeom>
          <a:noFill/>
          <a:ln/>
        </p:spPr>
        <p:txBody>
          <a:bodyPr wrap="square" lIns="0" tIns="0" rIns="0" bIns="0" rtlCol="0" anchor="t">
            <a:normAutofit/>
          </a:bodyPr>
          <a:lstStyle/>
          <a:p>
            <a:pPr algn="l" indent="0" marL="0">
              <a:buNone/>
            </a:pPr>
            <a:r>
              <a:rPr lang="en-US" sz="760" dirty="0">
                <a:solidFill>
                  <a:srgbClr val="17212B"/>
                </a:solidFill>
                <a:latin typeface="Noto Sans CJK KR" pitchFamily="34" charset="0"/>
                <a:ea typeface="Noto Sans CJK KR" pitchFamily="34" charset="-122"/>
                <a:cs typeface="Noto Sans CJK KR" pitchFamily="34" charset="-120"/>
              </a:rPr>
              <a:t>증권사 CEO</a:t>
            </a:r>
            <a:endParaRPr lang="en-US" sz="760" dirty="0"/>
          </a:p>
          <a:p>
            <a:pPr algn="l" indent="0" marL="0">
              <a:buNone/>
            </a:pPr>
            <a:r>
              <a:rPr lang="en-US" sz="760" dirty="0">
                <a:solidFill>
                  <a:srgbClr val="17212B"/>
                </a:solidFill>
                <a:latin typeface="Noto Sans CJK KR" pitchFamily="34" charset="0"/>
                <a:ea typeface="Noto Sans CJK KR" pitchFamily="34" charset="-122"/>
                <a:cs typeface="Noto Sans CJK KR" pitchFamily="34" charset="-120"/>
              </a:rPr>
              <a:t>긴급 회의</a:t>
            </a:r>
            <a:endParaRPr lang="en-US" sz="760" dirty="0"/>
          </a:p>
        </p:txBody>
      </p:sp>
      <p:sp>
        <p:nvSpPr>
          <p:cNvPr id="23" name="Shape 21"/>
          <p:cNvSpPr/>
          <p:nvPr/>
        </p:nvSpPr>
        <p:spPr>
          <a:xfrm>
            <a:off x="676656" y="6254496"/>
            <a:ext cx="146304" cy="146304"/>
          </a:xfrm>
          <a:prstGeom prst="ellipse">
            <a:avLst/>
          </a:prstGeom>
          <a:solidFill>
            <a:srgbClr val="D9534F"/>
          </a:solidFill>
          <a:ln w="12700">
            <a:solidFill>
              <a:srgbClr val="FFFFFF"/>
            </a:solidFill>
            <a:prstDash val="solid"/>
          </a:ln>
        </p:spPr>
      </p:sp>
      <p:sp>
        <p:nvSpPr>
          <p:cNvPr id="24" name="Text 22"/>
          <p:cNvSpPr/>
          <p:nvPr/>
        </p:nvSpPr>
        <p:spPr>
          <a:xfrm>
            <a:off x="932688" y="6172200"/>
            <a:ext cx="658368" cy="182880"/>
          </a:xfrm>
          <a:prstGeom prst="rect">
            <a:avLst/>
          </a:prstGeom>
          <a:noFill/>
          <a:ln/>
        </p:spPr>
        <p:txBody>
          <a:bodyPr wrap="square" lIns="0" tIns="0" rIns="0" bIns="0" rtlCol="0" anchor="ctr">
            <a:normAutofit/>
          </a:bodyPr>
          <a:lstStyle/>
          <a:p>
            <a:pPr algn="l" indent="0" marL="0">
              <a:buNone/>
            </a:pPr>
            <a:r>
              <a:rPr lang="en-US" sz="720" b="1" dirty="0">
                <a:solidFill>
                  <a:srgbClr val="D9534F"/>
                </a:solidFill>
                <a:latin typeface="NanumSquare" pitchFamily="34" charset="0"/>
                <a:ea typeface="NanumSquare" pitchFamily="34" charset="-122"/>
                <a:cs typeface="NanumSquare" pitchFamily="34" charset="-120"/>
              </a:rPr>
              <a:t>21:30</a:t>
            </a:r>
            <a:endParaRPr lang="en-US" sz="720" dirty="0"/>
          </a:p>
        </p:txBody>
      </p:sp>
      <p:sp>
        <p:nvSpPr>
          <p:cNvPr id="25" name="Text 23"/>
          <p:cNvSpPr/>
          <p:nvPr/>
        </p:nvSpPr>
        <p:spPr>
          <a:xfrm>
            <a:off x="932688" y="6364224"/>
            <a:ext cx="1225296" cy="411480"/>
          </a:xfrm>
          <a:prstGeom prst="rect">
            <a:avLst/>
          </a:prstGeom>
          <a:noFill/>
          <a:ln/>
        </p:spPr>
        <p:txBody>
          <a:bodyPr wrap="square" lIns="0" tIns="0" rIns="0" bIns="0" rtlCol="0" anchor="t">
            <a:normAutofit/>
          </a:bodyPr>
          <a:lstStyle/>
          <a:p>
            <a:pPr algn="l" indent="0" marL="0">
              <a:buNone/>
            </a:pPr>
            <a:r>
              <a:rPr lang="en-US" sz="760" dirty="0">
                <a:solidFill>
                  <a:srgbClr val="17212B"/>
                </a:solidFill>
                <a:latin typeface="Noto Sans CJK KR" pitchFamily="34" charset="0"/>
                <a:ea typeface="Noto Sans CJK KR" pitchFamily="34" charset="-122"/>
                <a:cs typeface="Noto Sans CJK KR" pitchFamily="34" charset="-120"/>
              </a:rPr>
              <a:t>미국 6월 CPI</a:t>
            </a:r>
            <a:endParaRPr lang="en-US" sz="760" dirty="0"/>
          </a:p>
        </p:txBody>
      </p:sp>
      <p:sp>
        <p:nvSpPr>
          <p:cNvPr id="26" name="Shape 24"/>
          <p:cNvSpPr/>
          <p:nvPr/>
        </p:nvSpPr>
        <p:spPr>
          <a:xfrm>
            <a:off x="676656" y="7059168"/>
            <a:ext cx="146304" cy="146304"/>
          </a:xfrm>
          <a:prstGeom prst="ellipse">
            <a:avLst/>
          </a:prstGeom>
          <a:solidFill>
            <a:srgbClr val="00A6A6"/>
          </a:solidFill>
          <a:ln w="12700">
            <a:solidFill>
              <a:srgbClr val="FFFFFF"/>
            </a:solidFill>
            <a:prstDash val="solid"/>
          </a:ln>
        </p:spPr>
      </p:sp>
      <p:sp>
        <p:nvSpPr>
          <p:cNvPr id="27" name="Text 25"/>
          <p:cNvSpPr/>
          <p:nvPr/>
        </p:nvSpPr>
        <p:spPr>
          <a:xfrm>
            <a:off x="932688" y="6976872"/>
            <a:ext cx="658368" cy="182880"/>
          </a:xfrm>
          <a:prstGeom prst="rect">
            <a:avLst/>
          </a:prstGeom>
          <a:noFill/>
          <a:ln/>
        </p:spPr>
        <p:txBody>
          <a:bodyPr wrap="square" lIns="0" tIns="0" rIns="0" bIns="0" rtlCol="0" anchor="ctr">
            <a:normAutofit/>
          </a:bodyPr>
          <a:lstStyle/>
          <a:p>
            <a:pPr algn="l" indent="0" marL="0">
              <a:buNone/>
            </a:pPr>
            <a:r>
              <a:rPr lang="en-US" sz="720" b="1" dirty="0">
                <a:solidFill>
                  <a:srgbClr val="00A6A6"/>
                </a:solidFill>
                <a:latin typeface="NanumSquare" pitchFamily="34" charset="0"/>
                <a:ea typeface="NanumSquare" pitchFamily="34" charset="-122"/>
                <a:cs typeface="NanumSquare" pitchFamily="34" charset="-120"/>
              </a:rPr>
              <a:t>7/15 14:00</a:t>
            </a:r>
            <a:endParaRPr lang="en-US" sz="720" dirty="0"/>
          </a:p>
        </p:txBody>
      </p:sp>
      <p:sp>
        <p:nvSpPr>
          <p:cNvPr id="28" name="Text 26"/>
          <p:cNvSpPr/>
          <p:nvPr/>
        </p:nvSpPr>
        <p:spPr>
          <a:xfrm>
            <a:off x="932688" y="7168896"/>
            <a:ext cx="1225296" cy="411480"/>
          </a:xfrm>
          <a:prstGeom prst="rect">
            <a:avLst/>
          </a:prstGeom>
          <a:noFill/>
          <a:ln/>
        </p:spPr>
        <p:txBody>
          <a:bodyPr wrap="square" lIns="0" tIns="0" rIns="0" bIns="0" rtlCol="0" anchor="t">
            <a:normAutofit/>
          </a:bodyPr>
          <a:lstStyle/>
          <a:p>
            <a:pPr algn="l" indent="0" marL="0">
              <a:buNone/>
            </a:pPr>
            <a:r>
              <a:rPr lang="en-US" sz="760" dirty="0">
                <a:solidFill>
                  <a:srgbClr val="17212B"/>
                </a:solidFill>
                <a:latin typeface="Noto Sans CJK KR" pitchFamily="34" charset="0"/>
                <a:ea typeface="Noto Sans CJK KR" pitchFamily="34" charset="-122"/>
                <a:cs typeface="Noto Sans CJK KR" pitchFamily="34" charset="-120"/>
              </a:rPr>
              <a:t>ASML 실적</a:t>
            </a:r>
            <a:endParaRPr lang="en-US" sz="760" dirty="0"/>
          </a:p>
        </p:txBody>
      </p:sp>
      <p:sp>
        <p:nvSpPr>
          <p:cNvPr id="29" name="Shape 27"/>
          <p:cNvSpPr/>
          <p:nvPr/>
        </p:nvSpPr>
        <p:spPr>
          <a:xfrm>
            <a:off x="676656" y="7863840"/>
            <a:ext cx="146304" cy="146304"/>
          </a:xfrm>
          <a:prstGeom prst="ellipse">
            <a:avLst/>
          </a:prstGeom>
          <a:solidFill>
            <a:srgbClr val="00A6A6"/>
          </a:solidFill>
          <a:ln w="12700">
            <a:solidFill>
              <a:srgbClr val="FFFFFF"/>
            </a:solidFill>
            <a:prstDash val="solid"/>
          </a:ln>
        </p:spPr>
      </p:sp>
      <p:sp>
        <p:nvSpPr>
          <p:cNvPr id="30" name="Text 28"/>
          <p:cNvSpPr/>
          <p:nvPr/>
        </p:nvSpPr>
        <p:spPr>
          <a:xfrm>
            <a:off x="932688" y="7781544"/>
            <a:ext cx="658368" cy="182880"/>
          </a:xfrm>
          <a:prstGeom prst="rect">
            <a:avLst/>
          </a:prstGeom>
          <a:noFill/>
          <a:ln/>
        </p:spPr>
        <p:txBody>
          <a:bodyPr wrap="square" lIns="0" tIns="0" rIns="0" bIns="0" rtlCol="0" anchor="ctr">
            <a:normAutofit/>
          </a:bodyPr>
          <a:lstStyle/>
          <a:p>
            <a:pPr algn="l" indent="0" marL="0">
              <a:buNone/>
            </a:pPr>
            <a:r>
              <a:rPr lang="en-US" sz="720" b="1" dirty="0">
                <a:solidFill>
                  <a:srgbClr val="00A6A6"/>
                </a:solidFill>
                <a:latin typeface="NanumSquare" pitchFamily="34" charset="0"/>
                <a:ea typeface="NanumSquare" pitchFamily="34" charset="-122"/>
                <a:cs typeface="NanumSquare" pitchFamily="34" charset="-120"/>
              </a:rPr>
              <a:t>7/16</a:t>
            </a:r>
            <a:endParaRPr lang="en-US" sz="720" dirty="0"/>
          </a:p>
        </p:txBody>
      </p:sp>
      <p:sp>
        <p:nvSpPr>
          <p:cNvPr id="31" name="Text 29"/>
          <p:cNvSpPr/>
          <p:nvPr/>
        </p:nvSpPr>
        <p:spPr>
          <a:xfrm>
            <a:off x="932688" y="7973568"/>
            <a:ext cx="1225296" cy="411480"/>
          </a:xfrm>
          <a:prstGeom prst="rect">
            <a:avLst/>
          </a:prstGeom>
          <a:noFill/>
          <a:ln/>
        </p:spPr>
        <p:txBody>
          <a:bodyPr wrap="square" lIns="0" tIns="0" rIns="0" bIns="0" rtlCol="0" anchor="t">
            <a:normAutofit/>
          </a:bodyPr>
          <a:lstStyle/>
          <a:p>
            <a:pPr algn="l" indent="0" marL="0">
              <a:buNone/>
            </a:pPr>
            <a:r>
              <a:rPr lang="en-US" sz="760" dirty="0">
                <a:solidFill>
                  <a:srgbClr val="17212B"/>
                </a:solidFill>
                <a:latin typeface="Noto Sans CJK KR" pitchFamily="34" charset="0"/>
                <a:ea typeface="Noto Sans CJK KR" pitchFamily="34" charset="-122"/>
                <a:cs typeface="Noto Sans CJK KR" pitchFamily="34" charset="-120"/>
              </a:rPr>
              <a:t>TSMC 실적</a:t>
            </a:r>
            <a:endParaRPr lang="en-US" sz="760" dirty="0"/>
          </a:p>
        </p:txBody>
      </p:sp>
      <p:sp>
        <p:nvSpPr>
          <p:cNvPr id="32" name="Text 30"/>
          <p:cNvSpPr/>
          <p:nvPr/>
        </p:nvSpPr>
        <p:spPr>
          <a:xfrm>
            <a:off x="2615184" y="1572768"/>
            <a:ext cx="4544568" cy="256032"/>
          </a:xfrm>
          <a:prstGeom prst="rect">
            <a:avLst/>
          </a:prstGeom>
          <a:noFill/>
          <a:ln/>
        </p:spPr>
        <p:txBody>
          <a:bodyPr wrap="square" lIns="0" tIns="0" rIns="0" bIns="0" rtlCol="0" anchor="ctr">
            <a:normAutofit/>
          </a:bodyPr>
          <a:lstStyle/>
          <a:p>
            <a:pPr algn="l" indent="0" marL="0">
              <a:buNone/>
            </a:pPr>
            <a:r>
              <a:rPr lang="en-US" sz="1250" b="1" dirty="0">
                <a:solidFill>
                  <a:srgbClr val="0B1F33"/>
                </a:solidFill>
                <a:latin typeface="NanumSquare" pitchFamily="34" charset="0"/>
                <a:ea typeface="NanumSquare" pitchFamily="34" charset="-122"/>
                <a:cs typeface="NanumSquare" pitchFamily="34" charset="-120"/>
              </a:rPr>
              <a:t>핵심 뉴스 6개</a:t>
            </a:r>
            <a:endParaRPr lang="en-US" sz="1250" dirty="0"/>
          </a:p>
        </p:txBody>
      </p:sp>
      <p:sp>
        <p:nvSpPr>
          <p:cNvPr id="33" name="Shape 31"/>
          <p:cNvSpPr/>
          <p:nvPr/>
        </p:nvSpPr>
        <p:spPr>
          <a:xfrm>
            <a:off x="2615184" y="1901952"/>
            <a:ext cx="4544568" cy="914400"/>
          </a:xfrm>
          <a:prstGeom prst="roundRect">
            <a:avLst>
              <a:gd name="adj" fmla="val 8000"/>
            </a:avLst>
          </a:prstGeom>
          <a:solidFill>
            <a:srgbClr val="E5EDF8"/>
          </a:solidFill>
          <a:ln w="10160">
            <a:solidFill>
              <a:srgbClr val="BDD1EB"/>
            </a:solidFill>
            <a:prstDash val="solid"/>
          </a:ln>
        </p:spPr>
      </p:sp>
      <p:sp>
        <p:nvSpPr>
          <p:cNvPr id="34" name="Shape 32"/>
          <p:cNvSpPr/>
          <p:nvPr/>
        </p:nvSpPr>
        <p:spPr>
          <a:xfrm>
            <a:off x="2761488" y="2020824"/>
            <a:ext cx="365760" cy="237744"/>
          </a:xfrm>
          <a:prstGeom prst="roundRect">
            <a:avLst>
              <a:gd name="adj" fmla="val 23077"/>
            </a:avLst>
          </a:prstGeom>
          <a:solidFill>
            <a:srgbClr val="D5E3F5"/>
          </a:solidFill>
          <a:ln w="12700">
            <a:solidFill>
              <a:srgbClr val="D5E3F5"/>
            </a:solidFill>
            <a:prstDash val="solid"/>
          </a:ln>
        </p:spPr>
      </p:sp>
      <p:sp>
        <p:nvSpPr>
          <p:cNvPr id="35" name="Text 33"/>
          <p:cNvSpPr/>
          <p:nvPr/>
        </p:nvSpPr>
        <p:spPr>
          <a:xfrm>
            <a:off x="2761488" y="2029968"/>
            <a:ext cx="365760" cy="201168"/>
          </a:xfrm>
          <a:prstGeom prst="rect">
            <a:avLst/>
          </a:prstGeom>
          <a:noFill/>
          <a:ln/>
        </p:spPr>
        <p:txBody>
          <a:bodyPr wrap="square" lIns="0" tIns="0" rIns="0" bIns="0" rtlCol="0" anchor="ctr">
            <a:normAutofit/>
          </a:bodyPr>
          <a:lstStyle/>
          <a:p>
            <a:pPr algn="ctr" indent="0" marL="0">
              <a:buNone/>
            </a:pPr>
            <a:r>
              <a:rPr lang="en-US" sz="680" b="1" dirty="0">
                <a:solidFill>
                  <a:srgbClr val="3B73B9"/>
                </a:solidFill>
                <a:latin typeface="NanumSquare" pitchFamily="34" charset="0"/>
                <a:ea typeface="NanumSquare" pitchFamily="34" charset="-122"/>
                <a:cs typeface="NanumSquare" pitchFamily="34" charset="-120"/>
              </a:rPr>
              <a:t>01</a:t>
            </a:r>
            <a:endParaRPr lang="en-US" sz="680" dirty="0"/>
          </a:p>
        </p:txBody>
      </p:sp>
      <p:sp>
        <p:nvSpPr>
          <p:cNvPr id="36" name="Text 34"/>
          <p:cNvSpPr/>
          <p:nvPr/>
        </p:nvSpPr>
        <p:spPr>
          <a:xfrm>
            <a:off x="3236976" y="1993392"/>
            <a:ext cx="3721608" cy="310896"/>
          </a:xfrm>
          <a:prstGeom prst="rect">
            <a:avLst/>
          </a:prstGeom>
          <a:noFill/>
          <a:ln/>
        </p:spPr>
        <p:txBody>
          <a:bodyPr wrap="square" lIns="0" tIns="0" rIns="0" bIns="0" rtlCol="0" anchor="t">
            <a:normAutofit/>
          </a:bodyPr>
          <a:lstStyle/>
          <a:p>
            <a:pPr algn="l" indent="0" marL="0">
              <a:buNone/>
            </a:pPr>
            <a:r>
              <a:rPr lang="en-US" sz="870" b="1" dirty="0">
                <a:solidFill>
                  <a:srgbClr val="0B1F33"/>
                </a:solidFill>
                <a:latin typeface="NanumSquare" pitchFamily="34" charset="0"/>
                <a:ea typeface="NanumSquare" pitchFamily="34" charset="-122"/>
                <a:cs typeface="NanumSquare" pitchFamily="34" charset="-120"/>
              </a:rPr>
              <a:t>코스닥 매도 사이드카가 12시 6분 발동됐다.</a:t>
            </a:r>
            <a:endParaRPr lang="en-US" sz="870" dirty="0"/>
          </a:p>
        </p:txBody>
      </p:sp>
      <p:sp>
        <p:nvSpPr>
          <p:cNvPr id="37" name="Text 35"/>
          <p:cNvSpPr/>
          <p:nvPr/>
        </p:nvSpPr>
        <p:spPr>
          <a:xfrm>
            <a:off x="3236976" y="2340864"/>
            <a:ext cx="3721608" cy="329184"/>
          </a:xfrm>
          <a:prstGeom prst="rect">
            <a:avLst/>
          </a:prstGeom>
          <a:noFill/>
          <a:ln/>
        </p:spPr>
        <p:txBody>
          <a:bodyPr wrap="square" lIns="0" tIns="0" rIns="0" bIns="0" rtlCol="0" anchor="t">
            <a:normAutofit/>
          </a:bodyPr>
          <a:lstStyle/>
          <a:p>
            <a:pPr algn="l" indent="0" marL="0">
              <a:buNone/>
            </a:pPr>
            <a:r>
              <a:rPr lang="en-US" sz="730" dirty="0">
                <a:solidFill>
                  <a:srgbClr val="465866"/>
                </a:solidFill>
                <a:latin typeface="Noto Sans CJK KR" pitchFamily="34" charset="0"/>
                <a:ea typeface="Noto Sans CJK KR" pitchFamily="34" charset="-122"/>
                <a:cs typeface="Noto Sans CJK KR" pitchFamily="34" charset="-120"/>
              </a:rPr>
              <a:t>오후 낙폭은 줄었지만 코스닥의 외국인·프로그램 매도와 약한 시장 폭이 남았다.</a:t>
            </a:r>
            <a:endParaRPr lang="en-US" sz="730" dirty="0"/>
          </a:p>
        </p:txBody>
      </p:sp>
      <p:sp>
        <p:nvSpPr>
          <p:cNvPr id="38" name="Shape 36"/>
          <p:cNvSpPr/>
          <p:nvPr/>
        </p:nvSpPr>
        <p:spPr>
          <a:xfrm>
            <a:off x="2615184" y="2953512"/>
            <a:ext cx="4544568" cy="914400"/>
          </a:xfrm>
          <a:prstGeom prst="roundRect">
            <a:avLst>
              <a:gd name="adj" fmla="val 8000"/>
            </a:avLst>
          </a:prstGeom>
          <a:solidFill>
            <a:srgbClr val="FFFFFF"/>
          </a:solidFill>
          <a:ln w="10160">
            <a:solidFill>
              <a:srgbClr val="D8DEE5"/>
            </a:solidFill>
            <a:prstDash val="solid"/>
          </a:ln>
        </p:spPr>
      </p:sp>
      <p:sp>
        <p:nvSpPr>
          <p:cNvPr id="39" name="Shape 37"/>
          <p:cNvSpPr/>
          <p:nvPr/>
        </p:nvSpPr>
        <p:spPr>
          <a:xfrm>
            <a:off x="2761488" y="3072384"/>
            <a:ext cx="365760" cy="237744"/>
          </a:xfrm>
          <a:prstGeom prst="roundRect">
            <a:avLst>
              <a:gd name="adj" fmla="val 23077"/>
            </a:avLst>
          </a:prstGeom>
          <a:solidFill>
            <a:srgbClr val="DFF4F2"/>
          </a:solidFill>
          <a:ln w="12700">
            <a:solidFill>
              <a:srgbClr val="DFF4F2"/>
            </a:solidFill>
            <a:prstDash val="solid"/>
          </a:ln>
        </p:spPr>
      </p:sp>
      <p:sp>
        <p:nvSpPr>
          <p:cNvPr id="40" name="Text 38"/>
          <p:cNvSpPr/>
          <p:nvPr/>
        </p:nvSpPr>
        <p:spPr>
          <a:xfrm>
            <a:off x="2761488" y="3081528"/>
            <a:ext cx="365760" cy="201168"/>
          </a:xfrm>
          <a:prstGeom prst="rect">
            <a:avLst/>
          </a:prstGeom>
          <a:noFill/>
          <a:ln/>
        </p:spPr>
        <p:txBody>
          <a:bodyPr wrap="square" lIns="0" tIns="0" rIns="0" bIns="0" rtlCol="0" anchor="ctr">
            <a:normAutofit/>
          </a:bodyPr>
          <a:lstStyle/>
          <a:p>
            <a:pPr algn="ctr" indent="0" marL="0">
              <a:buNone/>
            </a:pPr>
            <a:r>
              <a:rPr lang="en-US" sz="680" b="1" dirty="0">
                <a:solidFill>
                  <a:srgbClr val="00A6A6"/>
                </a:solidFill>
                <a:latin typeface="NanumSquare" pitchFamily="34" charset="0"/>
                <a:ea typeface="NanumSquare" pitchFamily="34" charset="-122"/>
                <a:cs typeface="NanumSquare" pitchFamily="34" charset="-120"/>
              </a:rPr>
              <a:t>02</a:t>
            </a:r>
            <a:endParaRPr lang="en-US" sz="680" dirty="0"/>
          </a:p>
        </p:txBody>
      </p:sp>
      <p:sp>
        <p:nvSpPr>
          <p:cNvPr id="41" name="Text 39"/>
          <p:cNvSpPr/>
          <p:nvPr/>
        </p:nvSpPr>
        <p:spPr>
          <a:xfrm>
            <a:off x="3236976" y="3044952"/>
            <a:ext cx="3721608" cy="310896"/>
          </a:xfrm>
          <a:prstGeom prst="rect">
            <a:avLst/>
          </a:prstGeom>
          <a:noFill/>
          <a:ln/>
        </p:spPr>
        <p:txBody>
          <a:bodyPr wrap="square" lIns="0" tIns="0" rIns="0" bIns="0" rtlCol="0" anchor="t">
            <a:normAutofit/>
          </a:bodyPr>
          <a:lstStyle/>
          <a:p>
            <a:pPr algn="l" indent="0" marL="0">
              <a:buNone/>
            </a:pPr>
            <a:r>
              <a:rPr lang="en-US" sz="870" b="1" dirty="0">
                <a:solidFill>
                  <a:srgbClr val="0B1F33"/>
                </a:solidFill>
                <a:latin typeface="NanumSquare" pitchFamily="34" charset="0"/>
                <a:ea typeface="NanumSquare" pitchFamily="34" charset="-122"/>
                <a:cs typeface="NanumSquare" pitchFamily="34" charset="-120"/>
              </a:rPr>
              <a:t>SK하이닉스 단기 이익 전망은 컨센서스를 밑돌았지만 메모리 비중확대 의견은 유지됐다.</a:t>
            </a:r>
            <a:endParaRPr lang="en-US" sz="870" dirty="0"/>
          </a:p>
        </p:txBody>
      </p:sp>
      <p:sp>
        <p:nvSpPr>
          <p:cNvPr id="42" name="Text 40"/>
          <p:cNvSpPr/>
          <p:nvPr/>
        </p:nvSpPr>
        <p:spPr>
          <a:xfrm>
            <a:off x="3236976" y="3392424"/>
            <a:ext cx="3721608" cy="329184"/>
          </a:xfrm>
          <a:prstGeom prst="rect">
            <a:avLst/>
          </a:prstGeom>
          <a:noFill/>
          <a:ln/>
        </p:spPr>
        <p:txBody>
          <a:bodyPr wrap="square" lIns="0" tIns="0" rIns="0" bIns="0" rtlCol="0" anchor="t">
            <a:normAutofit/>
          </a:bodyPr>
          <a:lstStyle/>
          <a:p>
            <a:pPr algn="l" indent="0" marL="0">
              <a:buNone/>
            </a:pPr>
            <a:r>
              <a:rPr lang="en-US" sz="730" dirty="0">
                <a:solidFill>
                  <a:srgbClr val="465866"/>
                </a:solidFill>
                <a:latin typeface="Noto Sans CJK KR" pitchFamily="34" charset="0"/>
                <a:ea typeface="Noto Sans CJK KR" pitchFamily="34" charset="-122"/>
                <a:cs typeface="Noto Sans CJK KR" pitchFamily="34" charset="-120"/>
              </a:rPr>
              <a:t>주가는 업황 붕괴와 초고마진 정상화 사이에서 기대치를 다시 가격에 반영하는 중이다.</a:t>
            </a:r>
            <a:endParaRPr lang="en-US" sz="730" dirty="0"/>
          </a:p>
        </p:txBody>
      </p:sp>
      <p:sp>
        <p:nvSpPr>
          <p:cNvPr id="43" name="Shape 41"/>
          <p:cNvSpPr/>
          <p:nvPr/>
        </p:nvSpPr>
        <p:spPr>
          <a:xfrm>
            <a:off x="2615184" y="4005072"/>
            <a:ext cx="4544568" cy="914400"/>
          </a:xfrm>
          <a:prstGeom prst="roundRect">
            <a:avLst>
              <a:gd name="adj" fmla="val 8000"/>
            </a:avLst>
          </a:prstGeom>
          <a:solidFill>
            <a:srgbClr val="FFFFFF"/>
          </a:solidFill>
          <a:ln w="10160">
            <a:solidFill>
              <a:srgbClr val="D8DEE5"/>
            </a:solidFill>
            <a:prstDash val="solid"/>
          </a:ln>
        </p:spPr>
      </p:sp>
      <p:sp>
        <p:nvSpPr>
          <p:cNvPr id="44" name="Shape 42"/>
          <p:cNvSpPr/>
          <p:nvPr/>
        </p:nvSpPr>
        <p:spPr>
          <a:xfrm>
            <a:off x="2761488" y="4123944"/>
            <a:ext cx="365760" cy="237744"/>
          </a:xfrm>
          <a:prstGeom prst="roundRect">
            <a:avLst>
              <a:gd name="adj" fmla="val 23077"/>
            </a:avLst>
          </a:prstGeom>
          <a:solidFill>
            <a:srgbClr val="DFF4F2"/>
          </a:solidFill>
          <a:ln w="12700">
            <a:solidFill>
              <a:srgbClr val="DFF4F2"/>
            </a:solidFill>
            <a:prstDash val="solid"/>
          </a:ln>
        </p:spPr>
      </p:sp>
      <p:sp>
        <p:nvSpPr>
          <p:cNvPr id="45" name="Text 43"/>
          <p:cNvSpPr/>
          <p:nvPr/>
        </p:nvSpPr>
        <p:spPr>
          <a:xfrm>
            <a:off x="2761488" y="4133088"/>
            <a:ext cx="365760" cy="201168"/>
          </a:xfrm>
          <a:prstGeom prst="rect">
            <a:avLst/>
          </a:prstGeom>
          <a:noFill/>
          <a:ln/>
        </p:spPr>
        <p:txBody>
          <a:bodyPr wrap="square" lIns="0" tIns="0" rIns="0" bIns="0" rtlCol="0" anchor="ctr">
            <a:normAutofit/>
          </a:bodyPr>
          <a:lstStyle/>
          <a:p>
            <a:pPr algn="ctr" indent="0" marL="0">
              <a:buNone/>
            </a:pPr>
            <a:r>
              <a:rPr lang="en-US" sz="680" b="1" dirty="0">
                <a:solidFill>
                  <a:srgbClr val="00A6A6"/>
                </a:solidFill>
                <a:latin typeface="NanumSquare" pitchFamily="34" charset="0"/>
                <a:ea typeface="NanumSquare" pitchFamily="34" charset="-122"/>
                <a:cs typeface="NanumSquare" pitchFamily="34" charset="-120"/>
              </a:rPr>
              <a:t>03</a:t>
            </a:r>
            <a:endParaRPr lang="en-US" sz="680" dirty="0"/>
          </a:p>
        </p:txBody>
      </p:sp>
      <p:sp>
        <p:nvSpPr>
          <p:cNvPr id="46" name="Text 44"/>
          <p:cNvSpPr/>
          <p:nvPr/>
        </p:nvSpPr>
        <p:spPr>
          <a:xfrm>
            <a:off x="3236976" y="4096512"/>
            <a:ext cx="3721608" cy="310896"/>
          </a:xfrm>
          <a:prstGeom prst="rect">
            <a:avLst/>
          </a:prstGeom>
          <a:noFill/>
          <a:ln/>
        </p:spPr>
        <p:txBody>
          <a:bodyPr wrap="square" lIns="0" tIns="0" rIns="0" bIns="0" rtlCol="0" anchor="t">
            <a:normAutofit/>
          </a:bodyPr>
          <a:lstStyle/>
          <a:p>
            <a:pPr algn="l" indent="0" marL="0">
              <a:buNone/>
            </a:pPr>
            <a:r>
              <a:rPr lang="en-US" sz="870" b="1" dirty="0">
                <a:solidFill>
                  <a:srgbClr val="0B1F33"/>
                </a:solidFill>
                <a:latin typeface="NanumSquare" pitchFamily="34" charset="0"/>
                <a:ea typeface="NanumSquare" pitchFamily="34" charset="-122"/>
                <a:cs typeface="NanumSquare" pitchFamily="34" charset="-120"/>
              </a:rPr>
              <a:t>15일 ASML 실적에서는 매출보다 메모리 고객사 주문과 경영진 표현이 중요하다.</a:t>
            </a:r>
            <a:endParaRPr lang="en-US" sz="870" dirty="0"/>
          </a:p>
        </p:txBody>
      </p:sp>
      <p:sp>
        <p:nvSpPr>
          <p:cNvPr id="47" name="Text 45"/>
          <p:cNvSpPr/>
          <p:nvPr/>
        </p:nvSpPr>
        <p:spPr>
          <a:xfrm>
            <a:off x="3236976" y="4443984"/>
            <a:ext cx="3721608" cy="329184"/>
          </a:xfrm>
          <a:prstGeom prst="rect">
            <a:avLst/>
          </a:prstGeom>
          <a:noFill/>
          <a:ln/>
        </p:spPr>
        <p:txBody>
          <a:bodyPr wrap="square" lIns="0" tIns="0" rIns="0" bIns="0" rtlCol="0" anchor="t">
            <a:normAutofit/>
          </a:bodyPr>
          <a:lstStyle/>
          <a:p>
            <a:pPr algn="l" indent="0" marL="0">
              <a:buNone/>
            </a:pPr>
            <a:r>
              <a:rPr lang="en-US" sz="730" dirty="0">
                <a:solidFill>
                  <a:srgbClr val="465866"/>
                </a:solidFill>
                <a:latin typeface="Noto Sans CJK KR" pitchFamily="34" charset="0"/>
                <a:ea typeface="Noto Sans CJK KR" pitchFamily="34" charset="-122"/>
                <a:cs typeface="Noto Sans CJK KR" pitchFamily="34" charset="-120"/>
              </a:rPr>
              <a:t>한국 반도체 반등이 단순 낙폭 과대인지 업사이클 신뢰 회복인지 가를 가능성이 있다.</a:t>
            </a:r>
            <a:endParaRPr lang="en-US" sz="730" dirty="0"/>
          </a:p>
        </p:txBody>
      </p:sp>
      <p:sp>
        <p:nvSpPr>
          <p:cNvPr id="48" name="Shape 46"/>
          <p:cNvSpPr/>
          <p:nvPr/>
        </p:nvSpPr>
        <p:spPr>
          <a:xfrm>
            <a:off x="2615184" y="5056632"/>
            <a:ext cx="4544568" cy="914400"/>
          </a:xfrm>
          <a:prstGeom prst="roundRect">
            <a:avLst>
              <a:gd name="adj" fmla="val 8000"/>
            </a:avLst>
          </a:prstGeom>
          <a:solidFill>
            <a:srgbClr val="FFFFFF"/>
          </a:solidFill>
          <a:ln w="10160">
            <a:solidFill>
              <a:srgbClr val="D8DEE5"/>
            </a:solidFill>
            <a:prstDash val="solid"/>
          </a:ln>
        </p:spPr>
      </p:sp>
      <p:sp>
        <p:nvSpPr>
          <p:cNvPr id="49" name="Shape 47"/>
          <p:cNvSpPr/>
          <p:nvPr/>
        </p:nvSpPr>
        <p:spPr>
          <a:xfrm>
            <a:off x="2761488" y="5175504"/>
            <a:ext cx="365760" cy="237744"/>
          </a:xfrm>
          <a:prstGeom prst="roundRect">
            <a:avLst>
              <a:gd name="adj" fmla="val 23077"/>
            </a:avLst>
          </a:prstGeom>
          <a:solidFill>
            <a:srgbClr val="DFF4F2"/>
          </a:solidFill>
          <a:ln w="12700">
            <a:solidFill>
              <a:srgbClr val="DFF4F2"/>
            </a:solidFill>
            <a:prstDash val="solid"/>
          </a:ln>
        </p:spPr>
      </p:sp>
      <p:sp>
        <p:nvSpPr>
          <p:cNvPr id="50" name="Text 48"/>
          <p:cNvSpPr/>
          <p:nvPr/>
        </p:nvSpPr>
        <p:spPr>
          <a:xfrm>
            <a:off x="2761488" y="5184648"/>
            <a:ext cx="365760" cy="201168"/>
          </a:xfrm>
          <a:prstGeom prst="rect">
            <a:avLst/>
          </a:prstGeom>
          <a:noFill/>
          <a:ln/>
        </p:spPr>
        <p:txBody>
          <a:bodyPr wrap="square" lIns="0" tIns="0" rIns="0" bIns="0" rtlCol="0" anchor="ctr">
            <a:normAutofit/>
          </a:bodyPr>
          <a:lstStyle/>
          <a:p>
            <a:pPr algn="ctr" indent="0" marL="0">
              <a:buNone/>
            </a:pPr>
            <a:r>
              <a:rPr lang="en-US" sz="680" b="1" dirty="0">
                <a:solidFill>
                  <a:srgbClr val="00A6A6"/>
                </a:solidFill>
                <a:latin typeface="NanumSquare" pitchFamily="34" charset="0"/>
                <a:ea typeface="NanumSquare" pitchFamily="34" charset="-122"/>
                <a:cs typeface="NanumSquare" pitchFamily="34" charset="-120"/>
              </a:rPr>
              <a:t>04</a:t>
            </a:r>
            <a:endParaRPr lang="en-US" sz="680" dirty="0"/>
          </a:p>
        </p:txBody>
      </p:sp>
      <p:sp>
        <p:nvSpPr>
          <p:cNvPr id="51" name="Text 49"/>
          <p:cNvSpPr/>
          <p:nvPr/>
        </p:nvSpPr>
        <p:spPr>
          <a:xfrm>
            <a:off x="3236976" y="5148072"/>
            <a:ext cx="3721608" cy="310896"/>
          </a:xfrm>
          <a:prstGeom prst="rect">
            <a:avLst/>
          </a:prstGeom>
          <a:noFill/>
          <a:ln/>
        </p:spPr>
        <p:txBody>
          <a:bodyPr wrap="square" lIns="0" tIns="0" rIns="0" bIns="0" rtlCol="0" anchor="t">
            <a:normAutofit/>
          </a:bodyPr>
          <a:lstStyle/>
          <a:p>
            <a:pPr algn="l" indent="0" marL="0">
              <a:buNone/>
            </a:pPr>
            <a:r>
              <a:rPr lang="en-US" sz="870" b="1" dirty="0">
                <a:solidFill>
                  <a:srgbClr val="0B1F33"/>
                </a:solidFill>
                <a:latin typeface="NanumSquare" pitchFamily="34" charset="0"/>
                <a:ea typeface="NanumSquare" pitchFamily="34" charset="-122"/>
                <a:cs typeface="NanumSquare" pitchFamily="34" charset="-120"/>
              </a:rPr>
              <a:t>오후 3시 증권사 CEO 회의가 단일종목 레버리지 ETF 대응을 논의한다.</a:t>
            </a:r>
            <a:endParaRPr lang="en-US" sz="870" dirty="0"/>
          </a:p>
        </p:txBody>
      </p:sp>
      <p:sp>
        <p:nvSpPr>
          <p:cNvPr id="52" name="Text 50"/>
          <p:cNvSpPr/>
          <p:nvPr/>
        </p:nvSpPr>
        <p:spPr>
          <a:xfrm>
            <a:off x="3236976" y="5495544"/>
            <a:ext cx="3721608" cy="329184"/>
          </a:xfrm>
          <a:prstGeom prst="rect">
            <a:avLst/>
          </a:prstGeom>
          <a:noFill/>
          <a:ln/>
        </p:spPr>
        <p:txBody>
          <a:bodyPr wrap="square" lIns="0" tIns="0" rIns="0" bIns="0" rtlCol="0" anchor="t">
            <a:normAutofit/>
          </a:bodyPr>
          <a:lstStyle/>
          <a:p>
            <a:pPr algn="l" indent="0" marL="0">
              <a:buNone/>
            </a:pPr>
            <a:r>
              <a:rPr lang="en-US" sz="730" dirty="0">
                <a:solidFill>
                  <a:srgbClr val="465866"/>
                </a:solidFill>
                <a:latin typeface="Noto Sans CJK KR" pitchFamily="34" charset="0"/>
                <a:ea typeface="Noto Sans CJK KR" pitchFamily="34" charset="-122"/>
                <a:cs typeface="Noto Sans CJK KR" pitchFamily="34" charset="-120"/>
              </a:rPr>
              <a:t>장 후반 리밸런싱은 변동성 증폭기일 수 있으나 오전 급락의 단독 원인으로 보기는 어렵다.</a:t>
            </a:r>
            <a:endParaRPr lang="en-US" sz="730" dirty="0"/>
          </a:p>
        </p:txBody>
      </p:sp>
      <p:sp>
        <p:nvSpPr>
          <p:cNvPr id="53" name="Shape 51"/>
          <p:cNvSpPr/>
          <p:nvPr/>
        </p:nvSpPr>
        <p:spPr>
          <a:xfrm>
            <a:off x="2615184" y="6108192"/>
            <a:ext cx="4544568" cy="914400"/>
          </a:xfrm>
          <a:prstGeom prst="roundRect">
            <a:avLst>
              <a:gd name="adj" fmla="val 8000"/>
            </a:avLst>
          </a:prstGeom>
          <a:solidFill>
            <a:srgbClr val="FFFFFF"/>
          </a:solidFill>
          <a:ln w="10160">
            <a:solidFill>
              <a:srgbClr val="D8DEE5"/>
            </a:solidFill>
            <a:prstDash val="solid"/>
          </a:ln>
        </p:spPr>
      </p:sp>
      <p:sp>
        <p:nvSpPr>
          <p:cNvPr id="54" name="Shape 52"/>
          <p:cNvSpPr/>
          <p:nvPr/>
        </p:nvSpPr>
        <p:spPr>
          <a:xfrm>
            <a:off x="2761488" y="6227064"/>
            <a:ext cx="365760" cy="237744"/>
          </a:xfrm>
          <a:prstGeom prst="roundRect">
            <a:avLst>
              <a:gd name="adj" fmla="val 23077"/>
            </a:avLst>
          </a:prstGeom>
          <a:solidFill>
            <a:srgbClr val="DFF4F2"/>
          </a:solidFill>
          <a:ln w="12700">
            <a:solidFill>
              <a:srgbClr val="DFF4F2"/>
            </a:solidFill>
            <a:prstDash val="solid"/>
          </a:ln>
        </p:spPr>
      </p:sp>
      <p:sp>
        <p:nvSpPr>
          <p:cNvPr id="55" name="Text 53"/>
          <p:cNvSpPr/>
          <p:nvPr/>
        </p:nvSpPr>
        <p:spPr>
          <a:xfrm>
            <a:off x="2761488" y="6236208"/>
            <a:ext cx="365760" cy="201168"/>
          </a:xfrm>
          <a:prstGeom prst="rect">
            <a:avLst/>
          </a:prstGeom>
          <a:noFill/>
          <a:ln/>
        </p:spPr>
        <p:txBody>
          <a:bodyPr wrap="square" lIns="0" tIns="0" rIns="0" bIns="0" rtlCol="0" anchor="ctr">
            <a:normAutofit/>
          </a:bodyPr>
          <a:lstStyle/>
          <a:p>
            <a:pPr algn="ctr" indent="0" marL="0">
              <a:buNone/>
            </a:pPr>
            <a:r>
              <a:rPr lang="en-US" sz="680" b="1" dirty="0">
                <a:solidFill>
                  <a:srgbClr val="00A6A6"/>
                </a:solidFill>
                <a:latin typeface="NanumSquare" pitchFamily="34" charset="0"/>
                <a:ea typeface="NanumSquare" pitchFamily="34" charset="-122"/>
                <a:cs typeface="NanumSquare" pitchFamily="34" charset="-120"/>
              </a:rPr>
              <a:t>05</a:t>
            </a:r>
            <a:endParaRPr lang="en-US" sz="680" dirty="0"/>
          </a:p>
        </p:txBody>
      </p:sp>
      <p:sp>
        <p:nvSpPr>
          <p:cNvPr id="56" name="Text 54"/>
          <p:cNvSpPr/>
          <p:nvPr/>
        </p:nvSpPr>
        <p:spPr>
          <a:xfrm>
            <a:off x="3236976" y="6199632"/>
            <a:ext cx="3721608" cy="310896"/>
          </a:xfrm>
          <a:prstGeom prst="rect">
            <a:avLst/>
          </a:prstGeom>
          <a:noFill/>
          <a:ln/>
        </p:spPr>
        <p:txBody>
          <a:bodyPr wrap="square" lIns="0" tIns="0" rIns="0" bIns="0" rtlCol="0" anchor="t">
            <a:normAutofit/>
          </a:bodyPr>
          <a:lstStyle/>
          <a:p>
            <a:pPr algn="l" indent="0" marL="0">
              <a:buNone/>
            </a:pPr>
            <a:r>
              <a:rPr lang="en-US" sz="870" b="1" dirty="0">
                <a:solidFill>
                  <a:srgbClr val="0B1F33"/>
                </a:solidFill>
                <a:latin typeface="NanumSquare" pitchFamily="34" charset="0"/>
                <a:ea typeface="NanumSquare" pitchFamily="34" charset="-122"/>
                <a:cs typeface="NanumSquare" pitchFamily="34" charset="-120"/>
              </a:rPr>
              <a:t>TSMC 6월 매출은 전년 대비 67.9% 증가했다.</a:t>
            </a:r>
            <a:endParaRPr lang="en-US" sz="870" dirty="0"/>
          </a:p>
        </p:txBody>
      </p:sp>
      <p:sp>
        <p:nvSpPr>
          <p:cNvPr id="57" name="Text 55"/>
          <p:cNvSpPr/>
          <p:nvPr/>
        </p:nvSpPr>
        <p:spPr>
          <a:xfrm>
            <a:off x="3236976" y="6547104"/>
            <a:ext cx="3721608" cy="329184"/>
          </a:xfrm>
          <a:prstGeom prst="rect">
            <a:avLst/>
          </a:prstGeom>
          <a:noFill/>
          <a:ln/>
        </p:spPr>
        <p:txBody>
          <a:bodyPr wrap="square" lIns="0" tIns="0" rIns="0" bIns="0" rtlCol="0" anchor="t">
            <a:normAutofit/>
          </a:bodyPr>
          <a:lstStyle/>
          <a:p>
            <a:pPr algn="l" indent="0" marL="0">
              <a:buNone/>
            </a:pPr>
            <a:r>
              <a:rPr lang="en-US" sz="730" dirty="0">
                <a:solidFill>
                  <a:srgbClr val="465866"/>
                </a:solidFill>
                <a:latin typeface="Noto Sans CJK KR" pitchFamily="34" charset="0"/>
                <a:ea typeface="Noto Sans CJK KR" pitchFamily="34" charset="-122"/>
                <a:cs typeface="Noto Sans CJK KR" pitchFamily="34" charset="-120"/>
              </a:rPr>
              <a:t>AI·첨단공정 수요가 완전히 꺾였다는 주장에는 반대 증거지만 한국 메모리 이익 경로와 동일하지는 않다.</a:t>
            </a:r>
            <a:endParaRPr lang="en-US" sz="730" dirty="0"/>
          </a:p>
        </p:txBody>
      </p:sp>
      <p:sp>
        <p:nvSpPr>
          <p:cNvPr id="58" name="Shape 56"/>
          <p:cNvSpPr/>
          <p:nvPr/>
        </p:nvSpPr>
        <p:spPr>
          <a:xfrm>
            <a:off x="2615184" y="7159752"/>
            <a:ext cx="4544568" cy="914400"/>
          </a:xfrm>
          <a:prstGeom prst="roundRect">
            <a:avLst>
              <a:gd name="adj" fmla="val 8000"/>
            </a:avLst>
          </a:prstGeom>
          <a:solidFill>
            <a:srgbClr val="FFFFFF"/>
          </a:solidFill>
          <a:ln w="10160">
            <a:solidFill>
              <a:srgbClr val="D8DEE5"/>
            </a:solidFill>
            <a:prstDash val="solid"/>
          </a:ln>
        </p:spPr>
      </p:sp>
      <p:sp>
        <p:nvSpPr>
          <p:cNvPr id="59" name="Shape 57"/>
          <p:cNvSpPr/>
          <p:nvPr/>
        </p:nvSpPr>
        <p:spPr>
          <a:xfrm>
            <a:off x="2761488" y="7278624"/>
            <a:ext cx="365760" cy="237744"/>
          </a:xfrm>
          <a:prstGeom prst="roundRect">
            <a:avLst>
              <a:gd name="adj" fmla="val 23077"/>
            </a:avLst>
          </a:prstGeom>
          <a:solidFill>
            <a:srgbClr val="DFF4F2"/>
          </a:solidFill>
          <a:ln w="12700">
            <a:solidFill>
              <a:srgbClr val="DFF4F2"/>
            </a:solidFill>
            <a:prstDash val="solid"/>
          </a:ln>
        </p:spPr>
      </p:sp>
      <p:sp>
        <p:nvSpPr>
          <p:cNvPr id="60" name="Text 58"/>
          <p:cNvSpPr/>
          <p:nvPr/>
        </p:nvSpPr>
        <p:spPr>
          <a:xfrm>
            <a:off x="2761488" y="7287768"/>
            <a:ext cx="365760" cy="201168"/>
          </a:xfrm>
          <a:prstGeom prst="rect">
            <a:avLst/>
          </a:prstGeom>
          <a:noFill/>
          <a:ln/>
        </p:spPr>
        <p:txBody>
          <a:bodyPr wrap="square" lIns="0" tIns="0" rIns="0" bIns="0" rtlCol="0" anchor="ctr">
            <a:normAutofit/>
          </a:bodyPr>
          <a:lstStyle/>
          <a:p>
            <a:pPr algn="ctr" indent="0" marL="0">
              <a:buNone/>
            </a:pPr>
            <a:r>
              <a:rPr lang="en-US" sz="680" b="1" dirty="0">
                <a:solidFill>
                  <a:srgbClr val="00A6A6"/>
                </a:solidFill>
                <a:latin typeface="NanumSquare" pitchFamily="34" charset="0"/>
                <a:ea typeface="NanumSquare" pitchFamily="34" charset="-122"/>
                <a:cs typeface="NanumSquare" pitchFamily="34" charset="-120"/>
              </a:rPr>
              <a:t>06</a:t>
            </a:r>
            <a:endParaRPr lang="en-US" sz="680" dirty="0"/>
          </a:p>
        </p:txBody>
      </p:sp>
      <p:sp>
        <p:nvSpPr>
          <p:cNvPr id="61" name="Text 59"/>
          <p:cNvSpPr/>
          <p:nvPr/>
        </p:nvSpPr>
        <p:spPr>
          <a:xfrm>
            <a:off x="3236976" y="7251192"/>
            <a:ext cx="3721608" cy="310896"/>
          </a:xfrm>
          <a:prstGeom prst="rect">
            <a:avLst/>
          </a:prstGeom>
          <a:noFill/>
          <a:ln/>
        </p:spPr>
        <p:txBody>
          <a:bodyPr wrap="square" lIns="0" tIns="0" rIns="0" bIns="0" rtlCol="0" anchor="t">
            <a:normAutofit/>
          </a:bodyPr>
          <a:lstStyle/>
          <a:p>
            <a:pPr algn="l" indent="0" marL="0">
              <a:buNone/>
            </a:pPr>
            <a:r>
              <a:rPr lang="en-US" sz="870" b="1" dirty="0">
                <a:solidFill>
                  <a:srgbClr val="0B1F33"/>
                </a:solidFill>
                <a:latin typeface="NanumSquare" pitchFamily="34" charset="0"/>
                <a:ea typeface="NanumSquare" pitchFamily="34" charset="-122"/>
                <a:cs typeface="NanumSquare" pitchFamily="34" charset="-120"/>
              </a:rPr>
              <a:t>미국 6월 CPI가 밤 9시30분 발표된다.</a:t>
            </a:r>
            <a:endParaRPr lang="en-US" sz="870" dirty="0"/>
          </a:p>
        </p:txBody>
      </p:sp>
      <p:sp>
        <p:nvSpPr>
          <p:cNvPr id="62" name="Text 60"/>
          <p:cNvSpPr/>
          <p:nvPr/>
        </p:nvSpPr>
        <p:spPr>
          <a:xfrm>
            <a:off x="3236976" y="7598664"/>
            <a:ext cx="3721608" cy="329184"/>
          </a:xfrm>
          <a:prstGeom prst="rect">
            <a:avLst/>
          </a:prstGeom>
          <a:noFill/>
          <a:ln/>
        </p:spPr>
        <p:txBody>
          <a:bodyPr wrap="square" lIns="0" tIns="0" rIns="0" bIns="0" rtlCol="0" anchor="t">
            <a:normAutofit/>
          </a:bodyPr>
          <a:lstStyle/>
          <a:p>
            <a:pPr algn="l" indent="0" marL="0">
              <a:buNone/>
            </a:pPr>
            <a:r>
              <a:rPr lang="en-US" sz="730" dirty="0">
                <a:solidFill>
                  <a:srgbClr val="465866"/>
                </a:solidFill>
                <a:latin typeface="Noto Sans CJK KR" pitchFamily="34" charset="0"/>
                <a:ea typeface="Noto Sans CJK KR" pitchFamily="34" charset="-122"/>
                <a:cs typeface="Noto Sans CJK KR" pitchFamily="34" charset="-120"/>
              </a:rPr>
              <a:t>달러·미국 금리·기술주 밸류에이션을 통해 다음 거래일 국내 장의 출발점을 결정한다.</a:t>
            </a:r>
            <a:endParaRPr lang="en-US" sz="730" dirty="0"/>
          </a:p>
        </p:txBody>
      </p:sp>
      <p:sp>
        <p:nvSpPr>
          <p:cNvPr id="63" name="Shape 61"/>
          <p:cNvSpPr/>
          <p:nvPr/>
        </p:nvSpPr>
        <p:spPr>
          <a:xfrm>
            <a:off x="2615184" y="8366760"/>
            <a:ext cx="4544568" cy="777240"/>
          </a:xfrm>
          <a:prstGeom prst="roundRect">
            <a:avLst>
              <a:gd name="adj" fmla="val 9412"/>
            </a:avLst>
          </a:prstGeom>
          <a:solidFill>
            <a:srgbClr val="0B1F33"/>
          </a:solidFill>
          <a:ln w="10160">
            <a:solidFill>
              <a:srgbClr val="0B1F33"/>
            </a:solidFill>
            <a:prstDash val="solid"/>
          </a:ln>
        </p:spPr>
      </p:sp>
      <p:sp>
        <p:nvSpPr>
          <p:cNvPr id="64" name="Text 62"/>
          <p:cNvSpPr/>
          <p:nvPr/>
        </p:nvSpPr>
        <p:spPr>
          <a:xfrm>
            <a:off x="2779776" y="8503920"/>
            <a:ext cx="786384" cy="173736"/>
          </a:xfrm>
          <a:prstGeom prst="rect">
            <a:avLst/>
          </a:prstGeom>
          <a:noFill/>
          <a:ln/>
        </p:spPr>
        <p:txBody>
          <a:bodyPr wrap="square" lIns="0" tIns="0" rIns="0" bIns="0" rtlCol="0" anchor="ctr">
            <a:normAutofit/>
          </a:bodyPr>
          <a:lstStyle/>
          <a:p>
            <a:pPr algn="l" indent="0" marL="0">
              <a:buNone/>
            </a:pPr>
            <a:r>
              <a:rPr lang="en-US" sz="720" b="1" dirty="0">
                <a:solidFill>
                  <a:srgbClr val="8FE0D8"/>
                </a:solidFill>
                <a:latin typeface="NanumSquare" pitchFamily="34" charset="0"/>
                <a:ea typeface="NanumSquare" pitchFamily="34" charset="-122"/>
                <a:cs typeface="NanumSquare" pitchFamily="34" charset="-120"/>
              </a:rPr>
              <a:t>편집 원칙</a:t>
            </a:r>
            <a:endParaRPr lang="en-US" sz="720" dirty="0"/>
          </a:p>
        </p:txBody>
      </p:sp>
      <p:sp>
        <p:nvSpPr>
          <p:cNvPr id="65" name="Text 63"/>
          <p:cNvSpPr/>
          <p:nvPr/>
        </p:nvSpPr>
        <p:spPr>
          <a:xfrm>
            <a:off x="2779776" y="8723376"/>
            <a:ext cx="4169664" cy="256032"/>
          </a:xfrm>
          <a:prstGeom prst="rect">
            <a:avLst/>
          </a:prstGeom>
          <a:noFill/>
          <a:ln/>
        </p:spPr>
        <p:txBody>
          <a:bodyPr wrap="square" lIns="0" tIns="0" rIns="0" bIns="0" rtlCol="0" anchor="t">
            <a:normAutofit/>
          </a:bodyPr>
          <a:lstStyle/>
          <a:p>
            <a:pPr algn="l" indent="0" marL="0">
              <a:buNone/>
            </a:pPr>
            <a:r>
              <a:rPr lang="en-US" sz="800" dirty="0">
                <a:solidFill>
                  <a:srgbClr val="FFFFFF"/>
                </a:solidFill>
                <a:latin typeface="Noto Sans CJK KR" pitchFamily="34" charset="0"/>
                <a:ea typeface="Noto Sans CJK KR" pitchFamily="34" charset="-122"/>
                <a:cs typeface="Noto Sans CJK KR" pitchFamily="34" charset="-120"/>
              </a:rPr>
              <a:t>속보는 “원인”이 아니라 검색·검증의 출발점이다. 가격 반응과 공식 사실이 붙은 사건만 본문에 남긴다.</a:t>
            </a:r>
            <a:endParaRPr lang="en-US" sz="800" dirty="0"/>
          </a:p>
        </p:txBody>
      </p:sp>
      <p:sp>
        <p:nvSpPr>
          <p:cNvPr id="66" name="Text 64"/>
          <p:cNvSpPr/>
          <p:nvPr/>
        </p:nvSpPr>
        <p:spPr>
          <a:xfrm>
            <a:off x="384048" y="10277856"/>
            <a:ext cx="5989320" cy="182880"/>
          </a:xfrm>
          <a:prstGeom prst="rect">
            <a:avLst/>
          </a:prstGeom>
          <a:noFill/>
          <a:ln/>
        </p:spPr>
        <p:txBody>
          <a:bodyPr wrap="square" lIns="0" tIns="0" rIns="0" bIns="0" rtlCol="0" anchor="t">
            <a:normAutofit/>
          </a:bodyPr>
          <a:lstStyle/>
          <a:p>
            <a:pPr algn="l" indent="0" marL="0">
              <a:buNone/>
            </a:pPr>
            <a:r>
              <a:rPr lang="en-US" sz="650" dirty="0">
                <a:solidFill>
                  <a:srgbClr val="647586"/>
                </a:solidFill>
                <a:latin typeface="Noto Sans CJK KR" pitchFamily="34" charset="0"/>
                <a:ea typeface="Noto Sans CJK KR" pitchFamily="34" charset="-122"/>
                <a:cs typeface="Noto Sans CJK KR" pitchFamily="34" charset="-120"/>
              </a:rPr>
              <a:t>Sources: Yonhap Infomax public articles; U.S. BLS official release calendar. Paraphrased for internal demo.</a:t>
            </a:r>
            <a:endParaRPr lang="en-US" sz="650" dirty="0"/>
          </a:p>
        </p:txBody>
      </p:sp>
      <p:sp>
        <p:nvSpPr>
          <p:cNvPr id="67" name="Text 65"/>
          <p:cNvSpPr/>
          <p:nvPr/>
        </p:nvSpPr>
        <p:spPr>
          <a:xfrm>
            <a:off x="5715000" y="10040112"/>
            <a:ext cx="1444752" cy="164592"/>
          </a:xfrm>
          <a:prstGeom prst="rect">
            <a:avLst/>
          </a:prstGeom>
          <a:noFill/>
          <a:ln/>
        </p:spPr>
        <p:txBody>
          <a:bodyPr wrap="square" lIns="0" tIns="0" rIns="0" bIns="0" rtlCol="0" anchor="ctr">
            <a:normAutofit/>
          </a:bodyPr>
          <a:lstStyle/>
          <a:p>
            <a:pPr algn="r" indent="0" marL="0">
              <a:buNone/>
            </a:pPr>
            <a:r>
              <a:rPr lang="en-US" sz="680" b="1" dirty="0">
                <a:solidFill>
                  <a:srgbClr val="647586"/>
                </a:solidFill>
                <a:latin typeface="NanumSquare" pitchFamily="34" charset="0"/>
                <a:ea typeface="NanumSquare" pitchFamily="34" charset="-122"/>
                <a:cs typeface="NanumSquare" pitchFamily="34" charset="-120"/>
              </a:rPr>
              <a:t>news cutoff 14:45 KST</a:t>
            </a:r>
            <a:endParaRPr lang="en-US" sz="680" dirty="0"/>
          </a:p>
        </p:txBody>
      </p:sp>
      <p:sp>
        <p:nvSpPr>
          <p:cNvPr id="25" name="Slide Number Placeholder 0"/>
          <p:cNvSpPr>
            <a:spLocks noGrp="1"/>
          </p:cNvSpPr>
          <p:nvPr>
            <p:ph type="sldNum" sz="quarter" idx="4294967295"/>
          </p:nvPr>
        </p:nvSpPr>
        <p:spPr>
          <a:xfrm>
            <a:off x="6830568" y="1031443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586"/>
                </a:solidFill>
                <a:latin typeface="NanumSquare"/>
                <a:ea typeface="NanumSquare"/>
                <a:cs typeface="NanumSquare"/>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84048" y="512064"/>
            <a:ext cx="1325880" cy="164592"/>
          </a:xfrm>
          <a:prstGeom prst="rect">
            <a:avLst/>
          </a:prstGeom>
          <a:noFill/>
          <a:ln/>
        </p:spPr>
        <p:txBody>
          <a:bodyPr wrap="square" lIns="0" tIns="0" rIns="0" bIns="0" rtlCol="0" anchor="ctr">
            <a:normAutofit/>
          </a:bodyPr>
          <a:lstStyle/>
          <a:p>
            <a:pPr algn="l" indent="0" marL="0">
              <a:buNone/>
            </a:pPr>
            <a:r>
              <a:rPr lang="en-US" sz="750" b="1" spc="110" kern="0" dirty="0">
                <a:solidFill>
                  <a:srgbClr val="00A6A6"/>
                </a:solidFill>
                <a:latin typeface="NanumSquare" pitchFamily="34" charset="0"/>
                <a:ea typeface="NanumSquare" pitchFamily="34" charset="-122"/>
                <a:cs typeface="NanumSquare" pitchFamily="34" charset="-120"/>
              </a:rPr>
              <a:t>STORY 01</a:t>
            </a:r>
            <a:endParaRPr lang="en-US" sz="750" dirty="0"/>
          </a:p>
        </p:txBody>
      </p:sp>
      <p:sp>
        <p:nvSpPr>
          <p:cNvPr id="3" name="Text 1"/>
          <p:cNvSpPr/>
          <p:nvPr/>
        </p:nvSpPr>
        <p:spPr>
          <a:xfrm>
            <a:off x="384048" y="713232"/>
            <a:ext cx="6629400" cy="420624"/>
          </a:xfrm>
          <a:prstGeom prst="rect">
            <a:avLst/>
          </a:prstGeom>
          <a:noFill/>
          <a:ln/>
        </p:spPr>
        <p:txBody>
          <a:bodyPr wrap="square" lIns="0" tIns="0" rIns="0" bIns="0" rtlCol="0" anchor="t">
            <a:normAutofit/>
          </a:bodyPr>
          <a:lstStyle/>
          <a:p>
            <a:pPr algn="l" indent="0" marL="0">
              <a:buNone/>
            </a:pPr>
            <a:r>
              <a:rPr lang="en-US" sz="2200" b="1" dirty="0">
                <a:solidFill>
                  <a:srgbClr val="0B1F33"/>
                </a:solidFill>
                <a:latin typeface="NanumSquare" pitchFamily="34" charset="0"/>
                <a:ea typeface="NanumSquare" pitchFamily="34" charset="-122"/>
                <a:cs typeface="NanumSquare" pitchFamily="34" charset="-120"/>
              </a:rPr>
              <a:t>지수 반등인가, 반도체가 만든 지수 복원인가</a:t>
            </a:r>
            <a:endParaRPr lang="en-US" sz="2200" dirty="0"/>
          </a:p>
        </p:txBody>
      </p:sp>
      <p:sp>
        <p:nvSpPr>
          <p:cNvPr id="4" name="Text 2"/>
          <p:cNvSpPr/>
          <p:nvPr/>
        </p:nvSpPr>
        <p:spPr>
          <a:xfrm>
            <a:off x="384048" y="1124712"/>
            <a:ext cx="6629400" cy="365760"/>
          </a:xfrm>
          <a:prstGeom prst="rect">
            <a:avLst/>
          </a:prstGeom>
          <a:noFill/>
          <a:ln/>
        </p:spPr>
        <p:txBody>
          <a:bodyPr wrap="square" lIns="0" tIns="0" rIns="0" bIns="0" rtlCol="0" anchor="t">
            <a:normAutofit/>
          </a:bodyPr>
          <a:lstStyle/>
          <a:p>
            <a:pPr algn="l" indent="0" marL="0">
              <a:buNone/>
            </a:pPr>
            <a:r>
              <a:rPr lang="en-US" sz="940" dirty="0">
                <a:solidFill>
                  <a:srgbClr val="465866"/>
                </a:solidFill>
                <a:latin typeface="Noto Sans CJK KR" pitchFamily="34" charset="0"/>
                <a:ea typeface="Noto Sans CJK KR" pitchFamily="34" charset="-122"/>
                <a:cs typeface="Noto Sans CJK KR" pitchFamily="34" charset="-120"/>
              </a:rPr>
              <a:t>질문: 코스피 플러스 전환을 시장 전체의 안정으로 읽어도 되는가?</a:t>
            </a:r>
            <a:endParaRPr lang="en-US" sz="940" dirty="0"/>
          </a:p>
        </p:txBody>
      </p:sp>
      <p:sp>
        <p:nvSpPr>
          <p:cNvPr id="5" name="Shape 3"/>
          <p:cNvSpPr/>
          <p:nvPr/>
        </p:nvSpPr>
        <p:spPr>
          <a:xfrm>
            <a:off x="384048" y="1581912"/>
            <a:ext cx="4736592" cy="7882128"/>
          </a:xfrm>
          <a:prstGeom prst="roundRect">
            <a:avLst>
              <a:gd name="adj" fmla="val 1544"/>
            </a:avLst>
          </a:prstGeom>
          <a:solidFill>
            <a:srgbClr val="FFFFFF"/>
          </a:solidFill>
          <a:ln w="10160">
            <a:solidFill>
              <a:srgbClr val="D8DEE5"/>
            </a:solidFill>
            <a:prstDash val="solid"/>
          </a:ln>
        </p:spPr>
      </p:sp>
      <p:sp>
        <p:nvSpPr>
          <p:cNvPr id="6" name="Shape 4"/>
          <p:cNvSpPr/>
          <p:nvPr/>
        </p:nvSpPr>
        <p:spPr>
          <a:xfrm>
            <a:off x="585216" y="1792224"/>
            <a:ext cx="658368" cy="237744"/>
          </a:xfrm>
          <a:prstGeom prst="roundRect">
            <a:avLst>
              <a:gd name="adj" fmla="val 23077"/>
            </a:avLst>
          </a:prstGeom>
          <a:solidFill>
            <a:srgbClr val="DFF4F2"/>
          </a:solidFill>
          <a:ln w="12700">
            <a:solidFill>
              <a:srgbClr val="DFF4F2"/>
            </a:solidFill>
            <a:prstDash val="solid"/>
          </a:ln>
        </p:spPr>
      </p:sp>
      <p:sp>
        <p:nvSpPr>
          <p:cNvPr id="7" name="Text 5"/>
          <p:cNvSpPr/>
          <p:nvPr/>
        </p:nvSpPr>
        <p:spPr>
          <a:xfrm>
            <a:off x="585216" y="1801368"/>
            <a:ext cx="658368" cy="201168"/>
          </a:xfrm>
          <a:prstGeom prst="rect">
            <a:avLst/>
          </a:prstGeom>
          <a:noFill/>
          <a:ln/>
        </p:spPr>
        <p:txBody>
          <a:bodyPr wrap="square" lIns="0" tIns="0" rIns="0" bIns="0" rtlCol="0" anchor="ctr">
            <a:normAutofit/>
          </a:bodyPr>
          <a:lstStyle/>
          <a:p>
            <a:pPr algn="ctr" indent="0" marL="0">
              <a:buNone/>
            </a:pPr>
            <a:r>
              <a:rPr lang="en-US" sz="680" b="1" dirty="0">
                <a:solidFill>
                  <a:srgbClr val="00A6A6"/>
                </a:solidFill>
                <a:latin typeface="NanumSquare" pitchFamily="34" charset="0"/>
                <a:ea typeface="NanumSquare" pitchFamily="34" charset="-122"/>
                <a:cs typeface="NanumSquare" pitchFamily="34" charset="-120"/>
              </a:rPr>
              <a:t>FACT</a:t>
            </a:r>
            <a:endParaRPr lang="en-US" sz="680" dirty="0"/>
          </a:p>
        </p:txBody>
      </p:sp>
      <p:sp>
        <p:nvSpPr>
          <p:cNvPr id="8" name="Text 6"/>
          <p:cNvSpPr/>
          <p:nvPr/>
        </p:nvSpPr>
        <p:spPr>
          <a:xfrm>
            <a:off x="585216" y="2148840"/>
            <a:ext cx="4315968" cy="1325880"/>
          </a:xfrm>
          <a:prstGeom prst="rect">
            <a:avLst/>
          </a:prstGeom>
          <a:noFill/>
          <a:ln/>
        </p:spPr>
        <p:txBody>
          <a:bodyPr wrap="square" lIns="0" tIns="0" rIns="0" bIns="0" rtlCol="0" anchor="t">
            <a:normAutofit/>
          </a:bodyPr>
          <a:lstStyle/>
          <a:p>
            <a:pPr algn="l" indent="0" marL="0">
              <a:buNone/>
            </a:pPr>
            <a:r>
              <a:rPr lang="en-US" sz="1020" dirty="0">
                <a:solidFill>
                  <a:srgbClr val="17212B"/>
                </a:solidFill>
                <a:latin typeface="Noto Sans CJK KR" pitchFamily="34" charset="0"/>
                <a:ea typeface="Noto Sans CJK KR" pitchFamily="34" charset="-122"/>
                <a:cs typeface="Noto Sans CJK KR" pitchFamily="34" charset="-120"/>
              </a:rPr>
              <a:t>코스피는 장중 저점 대비 7.26% 반등했고 당일 범위의 88% 지점까지 올라왔다. 하지만 상승 종목은 272개, 하락 종목은 608개다. 코스닥은 52주 저점과 매도 사이드카를 거친 뒤에도 -2.08%이며, 방향성 종목 중 상승 비율은 24.59%다.</a:t>
            </a:r>
            <a:endParaRPr lang="en-US" sz="1020" dirty="0"/>
          </a:p>
        </p:txBody>
      </p:sp>
      <p:sp>
        <p:nvSpPr>
          <p:cNvPr id="9" name="Shape 7"/>
          <p:cNvSpPr/>
          <p:nvPr/>
        </p:nvSpPr>
        <p:spPr>
          <a:xfrm>
            <a:off x="585216" y="3584448"/>
            <a:ext cx="4315968" cy="0"/>
          </a:xfrm>
          <a:prstGeom prst="line">
            <a:avLst/>
          </a:prstGeom>
          <a:noFill/>
          <a:ln w="10160">
            <a:solidFill>
              <a:srgbClr val="D8DEE5"/>
            </a:solidFill>
            <a:prstDash val="solid"/>
          </a:ln>
        </p:spPr>
      </p:sp>
      <p:sp>
        <p:nvSpPr>
          <p:cNvPr id="10" name="Shape 8"/>
          <p:cNvSpPr/>
          <p:nvPr/>
        </p:nvSpPr>
        <p:spPr>
          <a:xfrm>
            <a:off x="585216" y="3813048"/>
            <a:ext cx="1298448" cy="237744"/>
          </a:xfrm>
          <a:prstGeom prst="roundRect">
            <a:avLst>
              <a:gd name="adj" fmla="val 23077"/>
            </a:avLst>
          </a:prstGeom>
          <a:solidFill>
            <a:srgbClr val="E6EBEF"/>
          </a:solidFill>
          <a:ln w="12700">
            <a:solidFill>
              <a:srgbClr val="E6EBEF"/>
            </a:solidFill>
            <a:prstDash val="solid"/>
          </a:ln>
        </p:spPr>
      </p:sp>
      <p:sp>
        <p:nvSpPr>
          <p:cNvPr id="11" name="Text 9"/>
          <p:cNvSpPr/>
          <p:nvPr/>
        </p:nvSpPr>
        <p:spPr>
          <a:xfrm>
            <a:off x="585216" y="3822192"/>
            <a:ext cx="1298448" cy="201168"/>
          </a:xfrm>
          <a:prstGeom prst="rect">
            <a:avLst/>
          </a:prstGeom>
          <a:noFill/>
          <a:ln/>
        </p:spPr>
        <p:txBody>
          <a:bodyPr wrap="square" lIns="0" tIns="0" rIns="0" bIns="0" rtlCol="0" anchor="ctr">
            <a:normAutofit/>
          </a:bodyPr>
          <a:lstStyle/>
          <a:p>
            <a:pPr algn="ctr" indent="0" marL="0">
              <a:buNone/>
            </a:pPr>
            <a:r>
              <a:rPr lang="en-US" sz="680" b="1" dirty="0">
                <a:solidFill>
                  <a:srgbClr val="0B1F33"/>
                </a:solidFill>
                <a:latin typeface="NanumSquare" pitchFamily="34" charset="0"/>
                <a:ea typeface="NanumSquare" pitchFamily="34" charset="-122"/>
                <a:cs typeface="NanumSquare" pitchFamily="34" charset="-120"/>
              </a:rPr>
              <a:t>INTERPRETATION</a:t>
            </a:r>
            <a:endParaRPr lang="en-US" sz="680" dirty="0"/>
          </a:p>
        </p:txBody>
      </p:sp>
      <p:sp>
        <p:nvSpPr>
          <p:cNvPr id="12" name="Text 10"/>
          <p:cNvSpPr/>
          <p:nvPr/>
        </p:nvSpPr>
        <p:spPr>
          <a:xfrm>
            <a:off x="585216" y="4187952"/>
            <a:ext cx="4315968" cy="1618488"/>
          </a:xfrm>
          <a:prstGeom prst="rect">
            <a:avLst/>
          </a:prstGeom>
          <a:noFill/>
          <a:ln/>
        </p:spPr>
        <p:txBody>
          <a:bodyPr wrap="square" lIns="0" tIns="0" rIns="0" bIns="0" rtlCol="0" anchor="t">
            <a:normAutofit/>
          </a:bodyPr>
          <a:lstStyle/>
          <a:p>
            <a:pPr algn="l" indent="0" marL="0">
              <a:buNone/>
            </a:pPr>
            <a:r>
              <a:rPr lang="en-US" sz="1020" dirty="0">
                <a:solidFill>
                  <a:srgbClr val="17212B"/>
                </a:solidFill>
                <a:latin typeface="Noto Sans CJK KR" pitchFamily="34" charset="0"/>
                <a:ea typeface="Noto Sans CJK KR" pitchFamily="34" charset="-122"/>
                <a:cs typeface="Noto Sans CJK KR" pitchFamily="34" charset="-120"/>
              </a:rPr>
              <a:t>오후 코스피 반등은 광범위한 위험선호 복귀보다 반도체 대형주, 기관, 프로그램이 만든 좁은 지수 복원으로 보는 편이 타당하다. 삼성전자와 SK하이닉스는 강하게 반등했지만 현대차·바이오·2차전지 등 다른 축은 약하다. 환율 프록시 하락은 완충 요인이지만 시장 내부의 포지션 축소가 끝났다는 증거는 아니다.</a:t>
            </a:r>
            <a:endParaRPr lang="en-US" sz="1020" dirty="0"/>
          </a:p>
        </p:txBody>
      </p:sp>
      <p:sp>
        <p:nvSpPr>
          <p:cNvPr id="13" name="Shape 11"/>
          <p:cNvSpPr/>
          <p:nvPr/>
        </p:nvSpPr>
        <p:spPr>
          <a:xfrm>
            <a:off x="585216" y="5916168"/>
            <a:ext cx="4315968" cy="0"/>
          </a:xfrm>
          <a:prstGeom prst="line">
            <a:avLst/>
          </a:prstGeom>
          <a:noFill/>
          <a:ln w="10160">
            <a:solidFill>
              <a:srgbClr val="D8DEE5"/>
            </a:solidFill>
            <a:prstDash val="solid"/>
          </a:ln>
        </p:spPr>
      </p:sp>
      <p:sp>
        <p:nvSpPr>
          <p:cNvPr id="14" name="Shape 12"/>
          <p:cNvSpPr/>
          <p:nvPr/>
        </p:nvSpPr>
        <p:spPr>
          <a:xfrm>
            <a:off x="585216" y="6144768"/>
            <a:ext cx="1600200" cy="237744"/>
          </a:xfrm>
          <a:prstGeom prst="roundRect">
            <a:avLst>
              <a:gd name="adj" fmla="val 23077"/>
            </a:avLst>
          </a:prstGeom>
          <a:solidFill>
            <a:srgbClr val="F7EED8"/>
          </a:solidFill>
          <a:ln w="12700">
            <a:solidFill>
              <a:srgbClr val="F7EED8"/>
            </a:solidFill>
            <a:prstDash val="solid"/>
          </a:ln>
        </p:spPr>
      </p:sp>
      <p:sp>
        <p:nvSpPr>
          <p:cNvPr id="15" name="Text 13"/>
          <p:cNvSpPr/>
          <p:nvPr/>
        </p:nvSpPr>
        <p:spPr>
          <a:xfrm>
            <a:off x="585216" y="6153912"/>
            <a:ext cx="1600200" cy="201168"/>
          </a:xfrm>
          <a:prstGeom prst="rect">
            <a:avLst/>
          </a:prstGeom>
          <a:noFill/>
          <a:ln/>
        </p:spPr>
        <p:txBody>
          <a:bodyPr wrap="square" lIns="0" tIns="0" rIns="0" bIns="0" rtlCol="0" anchor="ctr">
            <a:normAutofit/>
          </a:bodyPr>
          <a:lstStyle/>
          <a:p>
            <a:pPr algn="ctr" indent="0" marL="0">
              <a:buNone/>
            </a:pPr>
            <a:r>
              <a:rPr lang="en-US" sz="680" b="1" dirty="0">
                <a:solidFill>
                  <a:srgbClr val="D8A63C"/>
                </a:solidFill>
                <a:latin typeface="NanumSquare" pitchFamily="34" charset="0"/>
                <a:ea typeface="NanumSquare" pitchFamily="34" charset="-122"/>
                <a:cs typeface="NanumSquare" pitchFamily="34" charset="-120"/>
              </a:rPr>
              <a:t>COUNTER / CONDITIONS</a:t>
            </a:r>
            <a:endParaRPr lang="en-US" sz="680" dirty="0"/>
          </a:p>
        </p:txBody>
      </p:sp>
      <p:sp>
        <p:nvSpPr>
          <p:cNvPr id="16" name="Text 14"/>
          <p:cNvSpPr/>
          <p:nvPr/>
        </p:nvSpPr>
        <p:spPr>
          <a:xfrm>
            <a:off x="585216" y="6519672"/>
            <a:ext cx="4315968" cy="1527048"/>
          </a:xfrm>
          <a:prstGeom prst="rect">
            <a:avLst/>
          </a:prstGeom>
          <a:noFill/>
          <a:ln/>
        </p:spPr>
        <p:txBody>
          <a:bodyPr wrap="square" lIns="0" tIns="0" rIns="0" bIns="0" rtlCol="0" anchor="t">
            <a:normAutofit/>
          </a:bodyPr>
          <a:lstStyle/>
          <a:p>
            <a:pPr algn="l" indent="0" marL="0">
              <a:buNone/>
            </a:pPr>
            <a:r>
              <a:rPr lang="en-US" sz="1020" dirty="0">
                <a:solidFill>
                  <a:srgbClr val="17212B"/>
                </a:solidFill>
                <a:latin typeface="Noto Sans CJK KR" pitchFamily="34" charset="0"/>
                <a:ea typeface="Noto Sans CJK KR" pitchFamily="34" charset="-122"/>
                <a:cs typeface="Noto Sans CJK KR" pitchFamily="34" charset="-120"/>
              </a:rPr>
              <a:t>반론은 분명하다. 코스피가 전일 종가를 회복했고 장중 고점에 가까워 과매도 정상화가 이미 진행 중일 수 있다. 따라서 코스닥이 800선 부근을 되찾고 상승 종목 비율이 40% 이상으로 확대되며, 외국인 매수가 비반도체로 번지면 “좁은 기술적 반등”이라는 판단을 수정해야 한다.</a:t>
            </a:r>
            <a:endParaRPr lang="en-US" sz="1020" dirty="0"/>
          </a:p>
        </p:txBody>
      </p:sp>
      <p:sp>
        <p:nvSpPr>
          <p:cNvPr id="17" name="Shape 15"/>
          <p:cNvSpPr/>
          <p:nvPr/>
        </p:nvSpPr>
        <p:spPr>
          <a:xfrm>
            <a:off x="5321808" y="1581912"/>
            <a:ext cx="1837944" cy="2816352"/>
          </a:xfrm>
          <a:prstGeom prst="roundRect">
            <a:avLst>
              <a:gd name="adj" fmla="val 3980"/>
            </a:avLst>
          </a:prstGeom>
          <a:solidFill>
            <a:srgbClr val="0B1F33"/>
          </a:solidFill>
          <a:ln w="10160">
            <a:solidFill>
              <a:srgbClr val="0B1F33"/>
            </a:solidFill>
            <a:prstDash val="solid"/>
          </a:ln>
        </p:spPr>
      </p:sp>
      <p:sp>
        <p:nvSpPr>
          <p:cNvPr id="18" name="Text 16"/>
          <p:cNvSpPr/>
          <p:nvPr/>
        </p:nvSpPr>
        <p:spPr>
          <a:xfrm>
            <a:off x="5513832" y="1792224"/>
            <a:ext cx="1426464" cy="201168"/>
          </a:xfrm>
          <a:prstGeom prst="rect">
            <a:avLst/>
          </a:prstGeom>
          <a:noFill/>
          <a:ln/>
        </p:spPr>
        <p:txBody>
          <a:bodyPr wrap="square" lIns="0" tIns="0" rIns="0" bIns="0" rtlCol="0" anchor="ctr">
            <a:normAutofit/>
          </a:bodyPr>
          <a:lstStyle/>
          <a:p>
            <a:pPr algn="l" indent="0" marL="0">
              <a:buNone/>
            </a:pPr>
            <a:r>
              <a:rPr lang="en-US" sz="900" b="1" dirty="0">
                <a:solidFill>
                  <a:srgbClr val="8FE0D8"/>
                </a:solidFill>
                <a:latin typeface="NanumSquare" pitchFamily="34" charset="0"/>
                <a:ea typeface="NanumSquare" pitchFamily="34" charset="-122"/>
                <a:cs typeface="NanumSquare" pitchFamily="34" charset="-120"/>
              </a:rPr>
              <a:t>근거 숫자</a:t>
            </a:r>
            <a:endParaRPr lang="en-US" sz="900" dirty="0"/>
          </a:p>
        </p:txBody>
      </p:sp>
      <p:sp>
        <p:nvSpPr>
          <p:cNvPr id="19" name="Text 17"/>
          <p:cNvSpPr/>
          <p:nvPr/>
        </p:nvSpPr>
        <p:spPr>
          <a:xfrm>
            <a:off x="5513832" y="2157984"/>
            <a:ext cx="896112" cy="182880"/>
          </a:xfrm>
          <a:prstGeom prst="rect">
            <a:avLst/>
          </a:prstGeom>
          <a:noFill/>
          <a:ln/>
        </p:spPr>
        <p:txBody>
          <a:bodyPr wrap="square" lIns="0" tIns="0" rIns="0" bIns="0" rtlCol="0" anchor="ctr">
            <a:normAutofit/>
          </a:bodyPr>
          <a:lstStyle/>
          <a:p>
            <a:pPr algn="l" indent="0" marL="0">
              <a:buNone/>
            </a:pPr>
            <a:r>
              <a:rPr lang="en-US" sz="730" dirty="0">
                <a:solidFill>
                  <a:srgbClr val="CFD9E2"/>
                </a:solidFill>
                <a:latin typeface="Noto Sans CJK KR" pitchFamily="34" charset="0"/>
                <a:ea typeface="Noto Sans CJK KR" pitchFamily="34" charset="-122"/>
                <a:cs typeface="Noto Sans CJK KR" pitchFamily="34" charset="-120"/>
              </a:rPr>
              <a:t>KOSPI</a:t>
            </a:r>
            <a:endParaRPr lang="en-US" sz="730" dirty="0"/>
          </a:p>
        </p:txBody>
      </p:sp>
      <p:sp>
        <p:nvSpPr>
          <p:cNvPr id="20" name="Text 18"/>
          <p:cNvSpPr/>
          <p:nvPr/>
        </p:nvSpPr>
        <p:spPr>
          <a:xfrm>
            <a:off x="6400800" y="2121408"/>
            <a:ext cx="530352" cy="219456"/>
          </a:xfrm>
          <a:prstGeom prst="rect">
            <a:avLst/>
          </a:prstGeom>
          <a:noFill/>
          <a:ln/>
        </p:spPr>
        <p:txBody>
          <a:bodyPr wrap="square" lIns="0" tIns="0" rIns="0" bIns="0" rtlCol="0" anchor="ctr">
            <a:normAutofit/>
          </a:bodyPr>
          <a:lstStyle/>
          <a:p>
            <a:pPr algn="r" indent="0" marL="0">
              <a:buNone/>
            </a:pPr>
            <a:r>
              <a:rPr lang="en-US" sz="950" b="1" dirty="0">
                <a:solidFill>
                  <a:srgbClr val="D9534F"/>
                </a:solidFill>
                <a:latin typeface="NanumSquare" pitchFamily="34" charset="0"/>
                <a:ea typeface="NanumSquare" pitchFamily="34" charset="-122"/>
                <a:cs typeface="NanumSquare" pitchFamily="34" charset="-120"/>
              </a:rPr>
              <a:t>+1.61%</a:t>
            </a:r>
            <a:endParaRPr lang="en-US" sz="950" dirty="0"/>
          </a:p>
        </p:txBody>
      </p:sp>
      <p:sp>
        <p:nvSpPr>
          <p:cNvPr id="21" name="Text 19"/>
          <p:cNvSpPr/>
          <p:nvPr/>
        </p:nvSpPr>
        <p:spPr>
          <a:xfrm>
            <a:off x="5513832" y="2551176"/>
            <a:ext cx="896112" cy="182880"/>
          </a:xfrm>
          <a:prstGeom prst="rect">
            <a:avLst/>
          </a:prstGeom>
          <a:noFill/>
          <a:ln/>
        </p:spPr>
        <p:txBody>
          <a:bodyPr wrap="square" lIns="0" tIns="0" rIns="0" bIns="0" rtlCol="0" anchor="ctr">
            <a:normAutofit/>
          </a:bodyPr>
          <a:lstStyle/>
          <a:p>
            <a:pPr algn="l" indent="0" marL="0">
              <a:buNone/>
            </a:pPr>
            <a:r>
              <a:rPr lang="en-US" sz="730" dirty="0">
                <a:solidFill>
                  <a:srgbClr val="CFD9E2"/>
                </a:solidFill>
                <a:latin typeface="Noto Sans CJK KR" pitchFamily="34" charset="0"/>
                <a:ea typeface="Noto Sans CJK KR" pitchFamily="34" charset="-122"/>
                <a:cs typeface="Noto Sans CJK KR" pitchFamily="34" charset="-120"/>
              </a:rPr>
              <a:t>저점 회복</a:t>
            </a:r>
            <a:endParaRPr lang="en-US" sz="730" dirty="0"/>
          </a:p>
        </p:txBody>
      </p:sp>
      <p:sp>
        <p:nvSpPr>
          <p:cNvPr id="22" name="Text 20"/>
          <p:cNvSpPr/>
          <p:nvPr/>
        </p:nvSpPr>
        <p:spPr>
          <a:xfrm>
            <a:off x="6400800" y="2514600"/>
            <a:ext cx="530352" cy="219456"/>
          </a:xfrm>
          <a:prstGeom prst="rect">
            <a:avLst/>
          </a:prstGeom>
          <a:noFill/>
          <a:ln/>
        </p:spPr>
        <p:txBody>
          <a:bodyPr wrap="square" lIns="0" tIns="0" rIns="0" bIns="0" rtlCol="0" anchor="ctr">
            <a:normAutofit/>
          </a:bodyPr>
          <a:lstStyle/>
          <a:p>
            <a:pPr algn="r" indent="0" marL="0">
              <a:buNone/>
            </a:pPr>
            <a:r>
              <a:rPr lang="en-US" sz="950" b="1" dirty="0">
                <a:solidFill>
                  <a:srgbClr val="D9534F"/>
                </a:solidFill>
                <a:latin typeface="NanumSquare" pitchFamily="34" charset="0"/>
                <a:ea typeface="NanumSquare" pitchFamily="34" charset="-122"/>
                <a:cs typeface="NanumSquare" pitchFamily="34" charset="-120"/>
              </a:rPr>
              <a:t>+7.3%</a:t>
            </a:r>
            <a:endParaRPr lang="en-US" sz="950" dirty="0"/>
          </a:p>
        </p:txBody>
      </p:sp>
      <p:sp>
        <p:nvSpPr>
          <p:cNvPr id="23" name="Text 21"/>
          <p:cNvSpPr/>
          <p:nvPr/>
        </p:nvSpPr>
        <p:spPr>
          <a:xfrm>
            <a:off x="5513832" y="2944368"/>
            <a:ext cx="896112" cy="182880"/>
          </a:xfrm>
          <a:prstGeom prst="rect">
            <a:avLst/>
          </a:prstGeom>
          <a:noFill/>
          <a:ln/>
        </p:spPr>
        <p:txBody>
          <a:bodyPr wrap="square" lIns="0" tIns="0" rIns="0" bIns="0" rtlCol="0" anchor="ctr">
            <a:normAutofit/>
          </a:bodyPr>
          <a:lstStyle/>
          <a:p>
            <a:pPr algn="l" indent="0" marL="0">
              <a:buNone/>
            </a:pPr>
            <a:r>
              <a:rPr lang="en-US" sz="730" dirty="0">
                <a:solidFill>
                  <a:srgbClr val="CFD9E2"/>
                </a:solidFill>
                <a:latin typeface="Noto Sans CJK KR" pitchFamily="34" charset="0"/>
                <a:ea typeface="Noto Sans CJK KR" pitchFamily="34" charset="-122"/>
                <a:cs typeface="Noto Sans CJK KR" pitchFamily="34" charset="-120"/>
              </a:rPr>
              <a:t>KOSPI 상승비율</a:t>
            </a:r>
            <a:endParaRPr lang="en-US" sz="730" dirty="0"/>
          </a:p>
        </p:txBody>
      </p:sp>
      <p:sp>
        <p:nvSpPr>
          <p:cNvPr id="24" name="Text 22"/>
          <p:cNvSpPr/>
          <p:nvPr/>
        </p:nvSpPr>
        <p:spPr>
          <a:xfrm>
            <a:off x="6400800" y="2907792"/>
            <a:ext cx="530352" cy="219456"/>
          </a:xfrm>
          <a:prstGeom prst="rect">
            <a:avLst/>
          </a:prstGeom>
          <a:noFill/>
          <a:ln/>
        </p:spPr>
        <p:txBody>
          <a:bodyPr wrap="square" lIns="0" tIns="0" rIns="0" bIns="0" rtlCol="0" anchor="ctr">
            <a:normAutofit/>
          </a:bodyPr>
          <a:lstStyle/>
          <a:p>
            <a:pPr algn="r" indent="0" marL="0">
              <a:buNone/>
            </a:pPr>
            <a:r>
              <a:rPr lang="en-US" sz="950" b="1" dirty="0">
                <a:solidFill>
                  <a:srgbClr val="3B73B9"/>
                </a:solidFill>
                <a:latin typeface="NanumSquare" pitchFamily="34" charset="0"/>
                <a:ea typeface="NanumSquare" pitchFamily="34" charset="-122"/>
                <a:cs typeface="NanumSquare" pitchFamily="34" charset="-120"/>
              </a:rPr>
              <a:t>30.9%</a:t>
            </a:r>
            <a:endParaRPr lang="en-US" sz="950" dirty="0"/>
          </a:p>
        </p:txBody>
      </p:sp>
      <p:sp>
        <p:nvSpPr>
          <p:cNvPr id="25" name="Text 23"/>
          <p:cNvSpPr/>
          <p:nvPr/>
        </p:nvSpPr>
        <p:spPr>
          <a:xfrm>
            <a:off x="5513832" y="3337560"/>
            <a:ext cx="896112" cy="182880"/>
          </a:xfrm>
          <a:prstGeom prst="rect">
            <a:avLst/>
          </a:prstGeom>
          <a:noFill/>
          <a:ln/>
        </p:spPr>
        <p:txBody>
          <a:bodyPr wrap="square" lIns="0" tIns="0" rIns="0" bIns="0" rtlCol="0" anchor="ctr">
            <a:normAutofit/>
          </a:bodyPr>
          <a:lstStyle/>
          <a:p>
            <a:pPr algn="l" indent="0" marL="0">
              <a:buNone/>
            </a:pPr>
            <a:r>
              <a:rPr lang="en-US" sz="730" dirty="0">
                <a:solidFill>
                  <a:srgbClr val="CFD9E2"/>
                </a:solidFill>
                <a:latin typeface="Noto Sans CJK KR" pitchFamily="34" charset="0"/>
                <a:ea typeface="Noto Sans CJK KR" pitchFamily="34" charset="-122"/>
                <a:cs typeface="Noto Sans CJK KR" pitchFamily="34" charset="-120"/>
              </a:rPr>
              <a:t>KOSDAQ</a:t>
            </a:r>
            <a:endParaRPr lang="en-US" sz="730" dirty="0"/>
          </a:p>
        </p:txBody>
      </p:sp>
      <p:sp>
        <p:nvSpPr>
          <p:cNvPr id="26" name="Text 24"/>
          <p:cNvSpPr/>
          <p:nvPr/>
        </p:nvSpPr>
        <p:spPr>
          <a:xfrm>
            <a:off x="6400800" y="3300984"/>
            <a:ext cx="530352" cy="219456"/>
          </a:xfrm>
          <a:prstGeom prst="rect">
            <a:avLst/>
          </a:prstGeom>
          <a:noFill/>
          <a:ln/>
        </p:spPr>
        <p:txBody>
          <a:bodyPr wrap="square" lIns="0" tIns="0" rIns="0" bIns="0" rtlCol="0" anchor="ctr">
            <a:normAutofit/>
          </a:bodyPr>
          <a:lstStyle/>
          <a:p>
            <a:pPr algn="r" indent="0" marL="0">
              <a:buNone/>
            </a:pPr>
            <a:r>
              <a:rPr lang="en-US" sz="950" b="1" dirty="0">
                <a:solidFill>
                  <a:srgbClr val="3B73B9"/>
                </a:solidFill>
                <a:latin typeface="NanumSquare" pitchFamily="34" charset="0"/>
                <a:ea typeface="NanumSquare" pitchFamily="34" charset="-122"/>
                <a:cs typeface="NanumSquare" pitchFamily="34" charset="-120"/>
              </a:rPr>
              <a:t>-2.08%</a:t>
            </a:r>
            <a:endParaRPr lang="en-US" sz="950" dirty="0"/>
          </a:p>
        </p:txBody>
      </p:sp>
      <p:sp>
        <p:nvSpPr>
          <p:cNvPr id="27" name="Text 25"/>
          <p:cNvSpPr/>
          <p:nvPr/>
        </p:nvSpPr>
        <p:spPr>
          <a:xfrm>
            <a:off x="5513832" y="3730752"/>
            <a:ext cx="896112" cy="182880"/>
          </a:xfrm>
          <a:prstGeom prst="rect">
            <a:avLst/>
          </a:prstGeom>
          <a:noFill/>
          <a:ln/>
        </p:spPr>
        <p:txBody>
          <a:bodyPr wrap="square" lIns="0" tIns="0" rIns="0" bIns="0" rtlCol="0" anchor="ctr">
            <a:normAutofit/>
          </a:bodyPr>
          <a:lstStyle/>
          <a:p>
            <a:pPr algn="l" indent="0" marL="0">
              <a:buNone/>
            </a:pPr>
            <a:r>
              <a:rPr lang="en-US" sz="730" dirty="0">
                <a:solidFill>
                  <a:srgbClr val="CFD9E2"/>
                </a:solidFill>
                <a:latin typeface="Noto Sans CJK KR" pitchFamily="34" charset="0"/>
                <a:ea typeface="Noto Sans CJK KR" pitchFamily="34" charset="-122"/>
                <a:cs typeface="Noto Sans CJK KR" pitchFamily="34" charset="-120"/>
              </a:rPr>
              <a:t>KOSDAQ 상승비율</a:t>
            </a:r>
            <a:endParaRPr lang="en-US" sz="730" dirty="0"/>
          </a:p>
        </p:txBody>
      </p:sp>
      <p:sp>
        <p:nvSpPr>
          <p:cNvPr id="28" name="Text 26"/>
          <p:cNvSpPr/>
          <p:nvPr/>
        </p:nvSpPr>
        <p:spPr>
          <a:xfrm>
            <a:off x="6400800" y="3694176"/>
            <a:ext cx="530352" cy="219456"/>
          </a:xfrm>
          <a:prstGeom prst="rect">
            <a:avLst/>
          </a:prstGeom>
          <a:noFill/>
          <a:ln/>
        </p:spPr>
        <p:txBody>
          <a:bodyPr wrap="square" lIns="0" tIns="0" rIns="0" bIns="0" rtlCol="0" anchor="ctr">
            <a:normAutofit/>
          </a:bodyPr>
          <a:lstStyle/>
          <a:p>
            <a:pPr algn="r" indent="0" marL="0">
              <a:buNone/>
            </a:pPr>
            <a:r>
              <a:rPr lang="en-US" sz="950" b="1" dirty="0">
                <a:solidFill>
                  <a:srgbClr val="3B73B9"/>
                </a:solidFill>
                <a:latin typeface="NanumSquare" pitchFamily="34" charset="0"/>
                <a:ea typeface="NanumSquare" pitchFamily="34" charset="-122"/>
                <a:cs typeface="NanumSquare" pitchFamily="34" charset="-120"/>
              </a:rPr>
              <a:t>24.6%</a:t>
            </a:r>
            <a:endParaRPr lang="en-US" sz="950" dirty="0"/>
          </a:p>
        </p:txBody>
      </p:sp>
      <p:sp>
        <p:nvSpPr>
          <p:cNvPr id="29" name="Shape 27"/>
          <p:cNvSpPr/>
          <p:nvPr/>
        </p:nvSpPr>
        <p:spPr>
          <a:xfrm>
            <a:off x="5321808" y="4617720"/>
            <a:ext cx="1837944" cy="1874520"/>
          </a:xfrm>
          <a:prstGeom prst="roundRect">
            <a:avLst>
              <a:gd name="adj" fmla="val 3980"/>
            </a:avLst>
          </a:prstGeom>
          <a:solidFill>
            <a:srgbClr val="FFFFFF"/>
          </a:solidFill>
          <a:ln w="10160">
            <a:solidFill>
              <a:srgbClr val="D8DEE5"/>
            </a:solidFill>
            <a:prstDash val="solid"/>
          </a:ln>
        </p:spPr>
      </p:sp>
      <p:sp>
        <p:nvSpPr>
          <p:cNvPr id="30" name="Text 28"/>
          <p:cNvSpPr/>
          <p:nvPr/>
        </p:nvSpPr>
        <p:spPr>
          <a:xfrm>
            <a:off x="5513832" y="4800600"/>
            <a:ext cx="1426464" cy="201168"/>
          </a:xfrm>
          <a:prstGeom prst="rect">
            <a:avLst/>
          </a:prstGeom>
          <a:noFill/>
          <a:ln/>
        </p:spPr>
        <p:txBody>
          <a:bodyPr wrap="square" lIns="0" tIns="0" rIns="0" bIns="0" rtlCol="0" anchor="ctr">
            <a:normAutofit/>
          </a:bodyPr>
          <a:lstStyle/>
          <a:p>
            <a:pPr algn="l" indent="0" marL="0">
              <a:buNone/>
            </a:pPr>
            <a:r>
              <a:rPr lang="en-US" sz="840" b="1" dirty="0">
                <a:solidFill>
                  <a:srgbClr val="0B1F33"/>
                </a:solidFill>
                <a:latin typeface="NanumSquare" pitchFamily="34" charset="0"/>
                <a:ea typeface="NanumSquare" pitchFamily="34" charset="-122"/>
                <a:cs typeface="NanumSquare" pitchFamily="34" charset="-120"/>
              </a:rPr>
              <a:t>판단을 바꿀 조건</a:t>
            </a:r>
            <a:endParaRPr lang="en-US" sz="840" dirty="0"/>
          </a:p>
        </p:txBody>
      </p:sp>
      <p:sp>
        <p:nvSpPr>
          <p:cNvPr id="31" name="Shape 29"/>
          <p:cNvSpPr/>
          <p:nvPr/>
        </p:nvSpPr>
        <p:spPr>
          <a:xfrm>
            <a:off x="5532120" y="5244084"/>
            <a:ext cx="50292" cy="50292"/>
          </a:xfrm>
          <a:prstGeom prst="ellipse">
            <a:avLst/>
          </a:prstGeom>
          <a:solidFill>
            <a:srgbClr val="D8A63C"/>
          </a:solidFill>
          <a:ln w="12700">
            <a:solidFill>
              <a:srgbClr val="D8A63C"/>
            </a:solidFill>
            <a:prstDash val="solid"/>
          </a:ln>
        </p:spPr>
      </p:sp>
      <p:sp>
        <p:nvSpPr>
          <p:cNvPr id="32" name="Text 30"/>
          <p:cNvSpPr/>
          <p:nvPr/>
        </p:nvSpPr>
        <p:spPr>
          <a:xfrm>
            <a:off x="5650992" y="5184648"/>
            <a:ext cx="1243584" cy="219456"/>
          </a:xfrm>
          <a:prstGeom prst="rect">
            <a:avLst/>
          </a:prstGeom>
          <a:noFill/>
          <a:ln/>
        </p:spPr>
        <p:txBody>
          <a:bodyPr wrap="square" lIns="0" tIns="0" rIns="0" bIns="0" rtlCol="0" anchor="t">
            <a:normAutofit/>
          </a:bodyPr>
          <a:lstStyle/>
          <a:p>
            <a:pPr algn="l" indent="0" marL="0">
              <a:buNone/>
            </a:pPr>
            <a:r>
              <a:rPr lang="en-US" sz="710" dirty="0">
                <a:solidFill>
                  <a:srgbClr val="17212B"/>
                </a:solidFill>
                <a:latin typeface="Noto Sans CJK KR" pitchFamily="34" charset="0"/>
                <a:ea typeface="Noto Sans CJK KR" pitchFamily="34" charset="-122"/>
                <a:cs typeface="Noto Sans CJK KR" pitchFamily="34" charset="-120"/>
              </a:rPr>
              <a:t>코스닥 800선 접근</a:t>
            </a:r>
            <a:endParaRPr lang="en-US" sz="710" dirty="0"/>
          </a:p>
        </p:txBody>
      </p:sp>
      <p:sp>
        <p:nvSpPr>
          <p:cNvPr id="33" name="Shape 31"/>
          <p:cNvSpPr/>
          <p:nvPr/>
        </p:nvSpPr>
        <p:spPr>
          <a:xfrm>
            <a:off x="5532120" y="5554980"/>
            <a:ext cx="50292" cy="50292"/>
          </a:xfrm>
          <a:prstGeom prst="ellipse">
            <a:avLst/>
          </a:prstGeom>
          <a:solidFill>
            <a:srgbClr val="D8A63C"/>
          </a:solidFill>
          <a:ln w="12700">
            <a:solidFill>
              <a:srgbClr val="D8A63C"/>
            </a:solidFill>
            <a:prstDash val="solid"/>
          </a:ln>
        </p:spPr>
      </p:sp>
      <p:sp>
        <p:nvSpPr>
          <p:cNvPr id="34" name="Text 32"/>
          <p:cNvSpPr/>
          <p:nvPr/>
        </p:nvSpPr>
        <p:spPr>
          <a:xfrm>
            <a:off x="5650992" y="5495544"/>
            <a:ext cx="1243584" cy="219456"/>
          </a:xfrm>
          <a:prstGeom prst="rect">
            <a:avLst/>
          </a:prstGeom>
          <a:noFill/>
          <a:ln/>
        </p:spPr>
        <p:txBody>
          <a:bodyPr wrap="square" lIns="0" tIns="0" rIns="0" bIns="0" rtlCol="0" anchor="t">
            <a:normAutofit/>
          </a:bodyPr>
          <a:lstStyle/>
          <a:p>
            <a:pPr algn="l" indent="0" marL="0">
              <a:buNone/>
            </a:pPr>
            <a:r>
              <a:rPr lang="en-US" sz="710" dirty="0">
                <a:solidFill>
                  <a:srgbClr val="17212B"/>
                </a:solidFill>
                <a:latin typeface="Noto Sans CJK KR" pitchFamily="34" charset="0"/>
                <a:ea typeface="Noto Sans CJK KR" pitchFamily="34" charset="-122"/>
                <a:cs typeface="Noto Sans CJK KR" pitchFamily="34" charset="-120"/>
              </a:rPr>
              <a:t>상승비율 40%+</a:t>
            </a:r>
            <a:endParaRPr lang="en-US" sz="710" dirty="0"/>
          </a:p>
        </p:txBody>
      </p:sp>
      <p:sp>
        <p:nvSpPr>
          <p:cNvPr id="35" name="Shape 33"/>
          <p:cNvSpPr/>
          <p:nvPr/>
        </p:nvSpPr>
        <p:spPr>
          <a:xfrm>
            <a:off x="5532120" y="5865876"/>
            <a:ext cx="50292" cy="50292"/>
          </a:xfrm>
          <a:prstGeom prst="ellipse">
            <a:avLst/>
          </a:prstGeom>
          <a:solidFill>
            <a:srgbClr val="D8A63C"/>
          </a:solidFill>
          <a:ln w="12700">
            <a:solidFill>
              <a:srgbClr val="D8A63C"/>
            </a:solidFill>
            <a:prstDash val="solid"/>
          </a:ln>
        </p:spPr>
      </p:sp>
      <p:sp>
        <p:nvSpPr>
          <p:cNvPr id="36" name="Text 34"/>
          <p:cNvSpPr/>
          <p:nvPr/>
        </p:nvSpPr>
        <p:spPr>
          <a:xfrm>
            <a:off x="5650992" y="5806440"/>
            <a:ext cx="1243584" cy="219456"/>
          </a:xfrm>
          <a:prstGeom prst="rect">
            <a:avLst/>
          </a:prstGeom>
          <a:noFill/>
          <a:ln/>
        </p:spPr>
        <p:txBody>
          <a:bodyPr wrap="square" lIns="0" tIns="0" rIns="0" bIns="0" rtlCol="0" anchor="t">
            <a:normAutofit/>
          </a:bodyPr>
          <a:lstStyle/>
          <a:p>
            <a:pPr algn="l" indent="0" marL="0">
              <a:buNone/>
            </a:pPr>
            <a:r>
              <a:rPr lang="en-US" sz="710" dirty="0">
                <a:solidFill>
                  <a:srgbClr val="17212B"/>
                </a:solidFill>
                <a:latin typeface="Noto Sans CJK KR" pitchFamily="34" charset="0"/>
                <a:ea typeface="Noto Sans CJK KR" pitchFamily="34" charset="-122"/>
                <a:cs typeface="Noto Sans CJK KR" pitchFamily="34" charset="-120"/>
              </a:rPr>
              <a:t>외국인 코스닥 매도 둔화</a:t>
            </a:r>
            <a:endParaRPr lang="en-US" sz="710" dirty="0"/>
          </a:p>
        </p:txBody>
      </p:sp>
      <p:sp>
        <p:nvSpPr>
          <p:cNvPr id="37" name="Shape 35"/>
          <p:cNvSpPr/>
          <p:nvPr/>
        </p:nvSpPr>
        <p:spPr>
          <a:xfrm>
            <a:off x="5532120" y="6176772"/>
            <a:ext cx="50292" cy="50292"/>
          </a:xfrm>
          <a:prstGeom prst="ellipse">
            <a:avLst/>
          </a:prstGeom>
          <a:solidFill>
            <a:srgbClr val="D8A63C"/>
          </a:solidFill>
          <a:ln w="12700">
            <a:solidFill>
              <a:srgbClr val="D8A63C"/>
            </a:solidFill>
            <a:prstDash val="solid"/>
          </a:ln>
        </p:spPr>
      </p:sp>
      <p:sp>
        <p:nvSpPr>
          <p:cNvPr id="38" name="Text 36"/>
          <p:cNvSpPr/>
          <p:nvPr/>
        </p:nvSpPr>
        <p:spPr>
          <a:xfrm>
            <a:off x="5650992" y="6117336"/>
            <a:ext cx="1243584" cy="219456"/>
          </a:xfrm>
          <a:prstGeom prst="rect">
            <a:avLst/>
          </a:prstGeom>
          <a:noFill/>
          <a:ln/>
        </p:spPr>
        <p:txBody>
          <a:bodyPr wrap="square" lIns="0" tIns="0" rIns="0" bIns="0" rtlCol="0" anchor="t">
            <a:normAutofit/>
          </a:bodyPr>
          <a:lstStyle/>
          <a:p>
            <a:pPr algn="l" indent="0" marL="0">
              <a:buNone/>
            </a:pPr>
            <a:r>
              <a:rPr lang="en-US" sz="710" dirty="0">
                <a:solidFill>
                  <a:srgbClr val="17212B"/>
                </a:solidFill>
                <a:latin typeface="Noto Sans CJK KR" pitchFamily="34" charset="0"/>
                <a:ea typeface="Noto Sans CJK KR" pitchFamily="34" charset="-122"/>
                <a:cs typeface="Noto Sans CJK KR" pitchFamily="34" charset="-120"/>
              </a:rPr>
              <a:t>비반도체 대형주 안정</a:t>
            </a:r>
            <a:endParaRPr lang="en-US" sz="710" dirty="0"/>
          </a:p>
        </p:txBody>
      </p:sp>
      <p:sp>
        <p:nvSpPr>
          <p:cNvPr id="39" name="Shape 37"/>
          <p:cNvSpPr/>
          <p:nvPr/>
        </p:nvSpPr>
        <p:spPr>
          <a:xfrm>
            <a:off x="5321808" y="6702552"/>
            <a:ext cx="1837944" cy="2761488"/>
          </a:xfrm>
          <a:prstGeom prst="roundRect">
            <a:avLst>
              <a:gd name="adj" fmla="val 3980"/>
            </a:avLst>
          </a:prstGeom>
          <a:solidFill>
            <a:srgbClr val="DFF4F2"/>
          </a:solidFill>
          <a:ln w="10160">
            <a:solidFill>
              <a:srgbClr val="B8E4DF"/>
            </a:solidFill>
            <a:prstDash val="solid"/>
          </a:ln>
        </p:spPr>
      </p:sp>
      <p:sp>
        <p:nvSpPr>
          <p:cNvPr id="40" name="Text 38"/>
          <p:cNvSpPr/>
          <p:nvPr/>
        </p:nvSpPr>
        <p:spPr>
          <a:xfrm>
            <a:off x="5513832" y="6912864"/>
            <a:ext cx="1426464" cy="201168"/>
          </a:xfrm>
          <a:prstGeom prst="rect">
            <a:avLst/>
          </a:prstGeom>
          <a:noFill/>
          <a:ln/>
        </p:spPr>
        <p:txBody>
          <a:bodyPr wrap="square" lIns="0" tIns="0" rIns="0" bIns="0" rtlCol="0" anchor="ctr">
            <a:normAutofit/>
          </a:bodyPr>
          <a:lstStyle/>
          <a:p>
            <a:pPr algn="l" indent="0" marL="0">
              <a:buNone/>
            </a:pPr>
            <a:r>
              <a:rPr lang="en-US" sz="840" b="1" dirty="0">
                <a:solidFill>
                  <a:srgbClr val="00A6A6"/>
                </a:solidFill>
                <a:latin typeface="NanumSquare" pitchFamily="34" charset="0"/>
                <a:ea typeface="NanumSquare" pitchFamily="34" charset="-122"/>
                <a:cs typeface="NanumSquare" pitchFamily="34" charset="-120"/>
              </a:rPr>
              <a:t>진행자 질문</a:t>
            </a:r>
            <a:endParaRPr lang="en-US" sz="840" dirty="0"/>
          </a:p>
        </p:txBody>
      </p:sp>
      <p:sp>
        <p:nvSpPr>
          <p:cNvPr id="41" name="Text 39"/>
          <p:cNvSpPr/>
          <p:nvPr/>
        </p:nvSpPr>
        <p:spPr>
          <a:xfrm>
            <a:off x="5513832" y="7351776"/>
            <a:ext cx="1426464" cy="1051560"/>
          </a:xfrm>
          <a:prstGeom prst="rect">
            <a:avLst/>
          </a:prstGeom>
          <a:noFill/>
          <a:ln/>
        </p:spPr>
        <p:txBody>
          <a:bodyPr wrap="square" lIns="0" tIns="0" rIns="0" bIns="0" rtlCol="0" anchor="t">
            <a:normAutofit/>
          </a:bodyPr>
          <a:lstStyle/>
          <a:p>
            <a:pPr algn="l" indent="0" marL="0">
              <a:buNone/>
            </a:pPr>
            <a:r>
              <a:rPr lang="en-US" sz="1300" b="1" dirty="0">
                <a:solidFill>
                  <a:srgbClr val="0B1F33"/>
                </a:solidFill>
                <a:latin typeface="NanumSquare" pitchFamily="34" charset="0"/>
                <a:ea typeface="NanumSquare" pitchFamily="34" charset="-122"/>
                <a:cs typeface="NanumSquare" pitchFamily="34" charset="-120"/>
              </a:rPr>
              <a:t>“지수가 반등했다는 것과 시장이 안정됐다는 것은 같은 의미인가요?”</a:t>
            </a:r>
            <a:endParaRPr lang="en-US" sz="1300" dirty="0"/>
          </a:p>
        </p:txBody>
      </p:sp>
      <p:sp>
        <p:nvSpPr>
          <p:cNvPr id="42" name="Text 40"/>
          <p:cNvSpPr/>
          <p:nvPr/>
        </p:nvSpPr>
        <p:spPr>
          <a:xfrm>
            <a:off x="5513832" y="8458200"/>
            <a:ext cx="1426464" cy="694944"/>
          </a:xfrm>
          <a:prstGeom prst="rect">
            <a:avLst/>
          </a:prstGeom>
          <a:noFill/>
          <a:ln/>
        </p:spPr>
        <p:txBody>
          <a:bodyPr wrap="square" lIns="0" tIns="0" rIns="0" bIns="0" rtlCol="0" anchor="t">
            <a:normAutofit/>
          </a:bodyPr>
          <a:lstStyle/>
          <a:p>
            <a:pPr algn="l" indent="0" marL="0">
              <a:buNone/>
            </a:pPr>
            <a:r>
              <a:rPr lang="en-US" sz="710" dirty="0">
                <a:solidFill>
                  <a:srgbClr val="465866"/>
                </a:solidFill>
                <a:latin typeface="Noto Sans CJK KR" pitchFamily="34" charset="0"/>
                <a:ea typeface="Noto Sans CJK KR" pitchFamily="34" charset="-122"/>
                <a:cs typeface="Noto Sans CJK KR" pitchFamily="34" charset="-120"/>
              </a:rPr>
              <a:t>이어갈 질문</a:t>
            </a:r>
            <a:endParaRPr lang="en-US" sz="710" dirty="0"/>
          </a:p>
          <a:p>
            <a:pPr algn="l" indent="0" marL="0">
              <a:buNone/>
            </a:pPr>
            <a:r>
              <a:rPr lang="en-US" sz="710" dirty="0">
                <a:solidFill>
                  <a:srgbClr val="465866"/>
                </a:solidFill>
                <a:latin typeface="Noto Sans CJK KR" pitchFamily="34" charset="0"/>
                <a:ea typeface="Noto Sans CJK KR" pitchFamily="34" charset="-122"/>
                <a:cs typeface="Noto Sans CJK KR" pitchFamily="34" charset="-120"/>
              </a:rPr>
              <a:t>- 코스닥은 왜 다르게 움직이나</a:t>
            </a:r>
            <a:endParaRPr lang="en-US" sz="710" dirty="0"/>
          </a:p>
          <a:p>
            <a:pPr algn="l" indent="0" marL="0">
              <a:buNone/>
            </a:pPr>
            <a:r>
              <a:rPr lang="en-US" sz="710" dirty="0">
                <a:solidFill>
                  <a:srgbClr val="465866"/>
                </a:solidFill>
                <a:latin typeface="Noto Sans CJK KR" pitchFamily="34" charset="0"/>
                <a:ea typeface="Noto Sans CJK KR" pitchFamily="34" charset="-122"/>
                <a:cs typeface="Noto Sans CJK KR" pitchFamily="34" charset="-120"/>
              </a:rPr>
              <a:t>- 외국인보다 기관·프로그램의 역할이 큰가</a:t>
            </a:r>
            <a:endParaRPr lang="en-US" sz="710" dirty="0"/>
          </a:p>
        </p:txBody>
      </p:sp>
      <p:sp>
        <p:nvSpPr>
          <p:cNvPr id="43" name="Text 41"/>
          <p:cNvSpPr/>
          <p:nvPr/>
        </p:nvSpPr>
        <p:spPr>
          <a:xfrm>
            <a:off x="384048" y="10277856"/>
            <a:ext cx="5989320" cy="182880"/>
          </a:xfrm>
          <a:prstGeom prst="rect">
            <a:avLst/>
          </a:prstGeom>
          <a:noFill/>
          <a:ln/>
        </p:spPr>
        <p:txBody>
          <a:bodyPr wrap="square" lIns="0" tIns="0" rIns="0" bIns="0" rtlCol="0" anchor="t">
            <a:normAutofit/>
          </a:bodyPr>
          <a:lstStyle/>
          <a:p>
            <a:pPr algn="l" indent="0" marL="0">
              <a:buNone/>
            </a:pPr>
            <a:r>
              <a:rPr lang="en-US" sz="650" dirty="0">
                <a:solidFill>
                  <a:srgbClr val="647586"/>
                </a:solidFill>
                <a:latin typeface="Noto Sans CJK KR" pitchFamily="34" charset="0"/>
                <a:ea typeface="Noto Sans CJK KR" pitchFamily="34" charset="-122"/>
                <a:cs typeface="Noto Sans CJK KR" pitchFamily="34" charset="-120"/>
              </a:rPr>
              <a:t>Evidence: Naver Finance market snapshots; Yonhap Infomax sidecar report. Interpretation is a demo editorial judgment.</a:t>
            </a:r>
            <a:endParaRPr lang="en-US" sz="650" dirty="0"/>
          </a:p>
        </p:txBody>
      </p:sp>
      <p:sp>
        <p:nvSpPr>
          <p:cNvPr id="44" name="Text 42"/>
          <p:cNvSpPr/>
          <p:nvPr/>
        </p:nvSpPr>
        <p:spPr>
          <a:xfrm>
            <a:off x="5715000" y="10040112"/>
            <a:ext cx="1444752" cy="164592"/>
          </a:xfrm>
          <a:prstGeom prst="rect">
            <a:avLst/>
          </a:prstGeom>
          <a:noFill/>
          <a:ln/>
        </p:spPr>
        <p:txBody>
          <a:bodyPr wrap="square" lIns="0" tIns="0" rIns="0" bIns="0" rtlCol="0" anchor="ctr">
            <a:normAutofit/>
          </a:bodyPr>
          <a:lstStyle/>
          <a:p>
            <a:pPr algn="r" indent="0" marL="0">
              <a:buNone/>
            </a:pPr>
            <a:r>
              <a:rPr lang="en-US" sz="680" b="1" dirty="0">
                <a:solidFill>
                  <a:srgbClr val="647586"/>
                </a:solidFill>
                <a:latin typeface="NanumSquare" pitchFamily="34" charset="0"/>
                <a:ea typeface="NanumSquare" pitchFamily="34" charset="-122"/>
                <a:cs typeface="NanumSquare" pitchFamily="34" charset="-120"/>
              </a:rPr>
              <a:t>14:30 KST</a:t>
            </a:r>
            <a:endParaRPr lang="en-US" sz="680" dirty="0"/>
          </a:p>
        </p:txBody>
      </p:sp>
      <p:sp>
        <p:nvSpPr>
          <p:cNvPr id="25" name="Slide Number Placeholder 0"/>
          <p:cNvSpPr>
            <a:spLocks noGrp="1"/>
          </p:cNvSpPr>
          <p:nvPr>
            <p:ph type="sldNum" sz="quarter" idx="4294967295"/>
          </p:nvPr>
        </p:nvSpPr>
        <p:spPr>
          <a:xfrm>
            <a:off x="6830568" y="1031443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586"/>
                </a:solidFill>
                <a:latin typeface="NanumSquare"/>
                <a:ea typeface="NanumSquare"/>
                <a:cs typeface="NanumSquare"/>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84048" y="512064"/>
            <a:ext cx="1325880" cy="164592"/>
          </a:xfrm>
          <a:prstGeom prst="rect">
            <a:avLst/>
          </a:prstGeom>
          <a:noFill/>
          <a:ln/>
        </p:spPr>
        <p:txBody>
          <a:bodyPr wrap="square" lIns="0" tIns="0" rIns="0" bIns="0" rtlCol="0" anchor="ctr">
            <a:normAutofit/>
          </a:bodyPr>
          <a:lstStyle/>
          <a:p>
            <a:pPr algn="l" indent="0" marL="0">
              <a:buNone/>
            </a:pPr>
            <a:r>
              <a:rPr lang="en-US" sz="750" b="1" spc="110" kern="0" dirty="0">
                <a:solidFill>
                  <a:srgbClr val="00A6A6"/>
                </a:solidFill>
                <a:latin typeface="NanumSquare" pitchFamily="34" charset="0"/>
                <a:ea typeface="NanumSquare" pitchFamily="34" charset="-122"/>
                <a:cs typeface="NanumSquare" pitchFamily="34" charset="-120"/>
              </a:rPr>
              <a:t>STORY 02</a:t>
            </a:r>
            <a:endParaRPr lang="en-US" sz="750" dirty="0"/>
          </a:p>
        </p:txBody>
      </p:sp>
      <p:sp>
        <p:nvSpPr>
          <p:cNvPr id="3" name="Text 1"/>
          <p:cNvSpPr/>
          <p:nvPr/>
        </p:nvSpPr>
        <p:spPr>
          <a:xfrm>
            <a:off x="384048" y="713232"/>
            <a:ext cx="6629400" cy="420624"/>
          </a:xfrm>
          <a:prstGeom prst="rect">
            <a:avLst/>
          </a:prstGeom>
          <a:noFill/>
          <a:ln/>
        </p:spPr>
        <p:txBody>
          <a:bodyPr wrap="square" lIns="0" tIns="0" rIns="0" bIns="0" rtlCol="0" anchor="t">
            <a:normAutofit/>
          </a:bodyPr>
          <a:lstStyle/>
          <a:p>
            <a:pPr algn="l" indent="0" marL="0">
              <a:buNone/>
            </a:pPr>
            <a:r>
              <a:rPr lang="en-US" sz="2200" b="1" dirty="0">
                <a:solidFill>
                  <a:srgbClr val="0B1F33"/>
                </a:solidFill>
                <a:latin typeface="NanumSquare" pitchFamily="34" charset="0"/>
                <a:ea typeface="NanumSquare" pitchFamily="34" charset="-122"/>
                <a:cs typeface="NanumSquare" pitchFamily="34" charset="-120"/>
              </a:rPr>
              <a:t>반도체 펀더멘털 훼손인가, 기대치·포지션 재조정인가</a:t>
            </a:r>
            <a:endParaRPr lang="en-US" sz="2200" dirty="0"/>
          </a:p>
        </p:txBody>
      </p:sp>
      <p:sp>
        <p:nvSpPr>
          <p:cNvPr id="4" name="Text 2"/>
          <p:cNvSpPr/>
          <p:nvPr/>
        </p:nvSpPr>
        <p:spPr>
          <a:xfrm>
            <a:off x="384048" y="1124712"/>
            <a:ext cx="6629400" cy="365760"/>
          </a:xfrm>
          <a:prstGeom prst="rect">
            <a:avLst/>
          </a:prstGeom>
          <a:noFill/>
          <a:ln/>
        </p:spPr>
        <p:txBody>
          <a:bodyPr wrap="square" lIns="0" tIns="0" rIns="0" bIns="0" rtlCol="0" anchor="t">
            <a:normAutofit/>
          </a:bodyPr>
          <a:lstStyle/>
          <a:p>
            <a:pPr algn="l" indent="0" marL="0">
              <a:buNone/>
            </a:pPr>
            <a:r>
              <a:rPr lang="en-US" sz="940" dirty="0">
                <a:solidFill>
                  <a:srgbClr val="465866"/>
                </a:solidFill>
                <a:latin typeface="Noto Sans CJK KR" pitchFamily="34" charset="0"/>
                <a:ea typeface="Noto Sans CJK KR" pitchFamily="34" charset="-122"/>
                <a:cs typeface="Noto Sans CJK KR" pitchFamily="34" charset="-120"/>
              </a:rPr>
              <a:t>단정 대신 실적 기대, 업황 근거, 수급 증폭을 분리한다.</a:t>
            </a:r>
            <a:endParaRPr lang="en-US" sz="940" dirty="0"/>
          </a:p>
        </p:txBody>
      </p:sp>
      <p:sp>
        <p:nvSpPr>
          <p:cNvPr id="5" name="Shape 3"/>
          <p:cNvSpPr/>
          <p:nvPr/>
        </p:nvSpPr>
        <p:spPr>
          <a:xfrm>
            <a:off x="384048" y="1572768"/>
            <a:ext cx="3300984" cy="2157984"/>
          </a:xfrm>
          <a:prstGeom prst="roundRect">
            <a:avLst>
              <a:gd name="adj" fmla="val 3390"/>
            </a:avLst>
          </a:prstGeom>
          <a:solidFill>
            <a:srgbClr val="DFF4F2"/>
          </a:solidFill>
          <a:ln w="10160">
            <a:solidFill>
              <a:srgbClr val="B8E4DF"/>
            </a:solidFill>
            <a:prstDash val="solid"/>
          </a:ln>
        </p:spPr>
      </p:sp>
      <p:sp>
        <p:nvSpPr>
          <p:cNvPr id="6" name="Text 4"/>
          <p:cNvSpPr/>
          <p:nvPr/>
        </p:nvSpPr>
        <p:spPr>
          <a:xfrm>
            <a:off x="585216" y="1783080"/>
            <a:ext cx="2880360" cy="219456"/>
          </a:xfrm>
          <a:prstGeom prst="rect">
            <a:avLst/>
          </a:prstGeom>
          <a:noFill/>
          <a:ln/>
        </p:spPr>
        <p:txBody>
          <a:bodyPr wrap="square" lIns="0" tIns="0" rIns="0" bIns="0" rtlCol="0" anchor="ctr">
            <a:normAutofit/>
          </a:bodyPr>
          <a:lstStyle/>
          <a:p>
            <a:pPr algn="l" indent="0" marL="0">
              <a:buNone/>
            </a:pPr>
            <a:r>
              <a:rPr lang="en-US" sz="1100" b="1" dirty="0">
                <a:solidFill>
                  <a:srgbClr val="00A6A6"/>
                </a:solidFill>
                <a:latin typeface="NanumSquare" pitchFamily="34" charset="0"/>
                <a:ea typeface="NanumSquare" pitchFamily="34" charset="-122"/>
                <a:cs typeface="NanumSquare" pitchFamily="34" charset="-120"/>
              </a:rPr>
              <a:t>업황 강세를 지지하는 근거</a:t>
            </a:r>
            <a:endParaRPr lang="en-US" sz="1100" dirty="0"/>
          </a:p>
        </p:txBody>
      </p:sp>
      <p:sp>
        <p:nvSpPr>
          <p:cNvPr id="7" name="Shape 5"/>
          <p:cNvSpPr/>
          <p:nvPr/>
        </p:nvSpPr>
        <p:spPr>
          <a:xfrm>
            <a:off x="603504" y="2244852"/>
            <a:ext cx="50292" cy="50292"/>
          </a:xfrm>
          <a:prstGeom prst="ellipse">
            <a:avLst/>
          </a:prstGeom>
          <a:solidFill>
            <a:srgbClr val="00A6A6"/>
          </a:solidFill>
          <a:ln w="12700">
            <a:solidFill>
              <a:srgbClr val="00A6A6"/>
            </a:solidFill>
            <a:prstDash val="solid"/>
          </a:ln>
        </p:spPr>
      </p:sp>
      <p:sp>
        <p:nvSpPr>
          <p:cNvPr id="8" name="Text 6"/>
          <p:cNvSpPr/>
          <p:nvPr/>
        </p:nvSpPr>
        <p:spPr>
          <a:xfrm>
            <a:off x="722376" y="2185416"/>
            <a:ext cx="2697480" cy="310896"/>
          </a:xfrm>
          <a:prstGeom prst="rect">
            <a:avLst/>
          </a:prstGeom>
          <a:noFill/>
          <a:ln/>
        </p:spPr>
        <p:txBody>
          <a:bodyPr wrap="square" lIns="0" tIns="0" rIns="0" bIns="0" rtlCol="0" anchor="t">
            <a:normAutofit/>
          </a:bodyPr>
          <a:lstStyle/>
          <a:p>
            <a:pPr algn="l" indent="0" marL="0">
              <a:buNone/>
            </a:pPr>
            <a:r>
              <a:rPr lang="en-US" sz="850" dirty="0">
                <a:solidFill>
                  <a:srgbClr val="17212B"/>
                </a:solidFill>
                <a:latin typeface="Noto Sans CJK KR" pitchFamily="34" charset="0"/>
                <a:ea typeface="Noto Sans CJK KR" pitchFamily="34" charset="-122"/>
                <a:cs typeface="Noto Sans CJK KR" pitchFamily="34" charset="-120"/>
              </a:rPr>
              <a:t>TSMC 6월 매출 +67.9% YoY</a:t>
            </a:r>
            <a:endParaRPr lang="en-US" sz="850" dirty="0"/>
          </a:p>
        </p:txBody>
      </p:sp>
      <p:sp>
        <p:nvSpPr>
          <p:cNvPr id="9" name="Shape 7"/>
          <p:cNvSpPr/>
          <p:nvPr/>
        </p:nvSpPr>
        <p:spPr>
          <a:xfrm>
            <a:off x="603504" y="2638044"/>
            <a:ext cx="50292" cy="50292"/>
          </a:xfrm>
          <a:prstGeom prst="ellipse">
            <a:avLst/>
          </a:prstGeom>
          <a:solidFill>
            <a:srgbClr val="00A6A6"/>
          </a:solidFill>
          <a:ln w="12700">
            <a:solidFill>
              <a:srgbClr val="00A6A6"/>
            </a:solidFill>
            <a:prstDash val="solid"/>
          </a:ln>
        </p:spPr>
      </p:sp>
      <p:sp>
        <p:nvSpPr>
          <p:cNvPr id="10" name="Text 8"/>
          <p:cNvSpPr/>
          <p:nvPr/>
        </p:nvSpPr>
        <p:spPr>
          <a:xfrm>
            <a:off x="722376" y="2578608"/>
            <a:ext cx="2697480" cy="310896"/>
          </a:xfrm>
          <a:prstGeom prst="rect">
            <a:avLst/>
          </a:prstGeom>
          <a:noFill/>
          <a:ln/>
        </p:spPr>
        <p:txBody>
          <a:bodyPr wrap="square" lIns="0" tIns="0" rIns="0" bIns="0" rtlCol="0" anchor="t">
            <a:normAutofit/>
          </a:bodyPr>
          <a:lstStyle/>
          <a:p>
            <a:pPr algn="l" indent="0" marL="0">
              <a:buNone/>
            </a:pPr>
            <a:r>
              <a:rPr lang="en-US" sz="850" dirty="0">
                <a:solidFill>
                  <a:srgbClr val="17212B"/>
                </a:solidFill>
                <a:latin typeface="Noto Sans CJK KR" pitchFamily="34" charset="0"/>
                <a:ea typeface="Noto Sans CJK KR" pitchFamily="34" charset="-122"/>
                <a:cs typeface="Noto Sans CJK KR" pitchFamily="34" charset="-120"/>
              </a:rPr>
              <a:t>HBM 구조적 공급 제약과 LTA</a:t>
            </a:r>
            <a:endParaRPr lang="en-US" sz="850" dirty="0"/>
          </a:p>
        </p:txBody>
      </p:sp>
      <p:sp>
        <p:nvSpPr>
          <p:cNvPr id="11" name="Shape 9"/>
          <p:cNvSpPr/>
          <p:nvPr/>
        </p:nvSpPr>
        <p:spPr>
          <a:xfrm>
            <a:off x="603504" y="3031236"/>
            <a:ext cx="50292" cy="50292"/>
          </a:xfrm>
          <a:prstGeom prst="ellipse">
            <a:avLst/>
          </a:prstGeom>
          <a:solidFill>
            <a:srgbClr val="00A6A6"/>
          </a:solidFill>
          <a:ln w="12700">
            <a:solidFill>
              <a:srgbClr val="00A6A6"/>
            </a:solidFill>
            <a:prstDash val="solid"/>
          </a:ln>
        </p:spPr>
      </p:sp>
      <p:sp>
        <p:nvSpPr>
          <p:cNvPr id="12" name="Text 10"/>
          <p:cNvSpPr/>
          <p:nvPr/>
        </p:nvSpPr>
        <p:spPr>
          <a:xfrm>
            <a:off x="722376" y="2971800"/>
            <a:ext cx="2697480" cy="420624"/>
          </a:xfrm>
          <a:prstGeom prst="rect">
            <a:avLst/>
          </a:prstGeom>
          <a:noFill/>
          <a:ln/>
        </p:spPr>
        <p:txBody>
          <a:bodyPr wrap="square" lIns="0" tIns="0" rIns="0" bIns="0" rtlCol="0" anchor="t">
            <a:normAutofit/>
          </a:bodyPr>
          <a:lstStyle/>
          <a:p>
            <a:pPr algn="l" indent="0" marL="0">
              <a:buNone/>
            </a:pPr>
            <a:r>
              <a:rPr lang="en-US" sz="850" dirty="0">
                <a:solidFill>
                  <a:srgbClr val="17212B"/>
                </a:solidFill>
                <a:latin typeface="Noto Sans CJK KR" pitchFamily="34" charset="0"/>
                <a:ea typeface="Noto Sans CJK KR" pitchFamily="34" charset="-122"/>
                <a:cs typeface="Noto Sans CJK KR" pitchFamily="34" charset="-120"/>
              </a:rPr>
              <a:t>ASML 메모리 주문 강도가 다음 선행지표</a:t>
            </a:r>
            <a:endParaRPr lang="en-US" sz="850" dirty="0"/>
          </a:p>
        </p:txBody>
      </p:sp>
      <p:sp>
        <p:nvSpPr>
          <p:cNvPr id="13" name="Shape 11"/>
          <p:cNvSpPr/>
          <p:nvPr/>
        </p:nvSpPr>
        <p:spPr>
          <a:xfrm>
            <a:off x="3858768" y="1572768"/>
            <a:ext cx="3300984" cy="2157984"/>
          </a:xfrm>
          <a:prstGeom prst="roundRect">
            <a:avLst>
              <a:gd name="adj" fmla="val 3390"/>
            </a:avLst>
          </a:prstGeom>
          <a:solidFill>
            <a:srgbClr val="F7EED8"/>
          </a:solidFill>
          <a:ln w="10160">
            <a:solidFill>
              <a:srgbClr val="E8D7AE"/>
            </a:solidFill>
            <a:prstDash val="solid"/>
          </a:ln>
        </p:spPr>
      </p:sp>
      <p:sp>
        <p:nvSpPr>
          <p:cNvPr id="14" name="Text 12"/>
          <p:cNvSpPr/>
          <p:nvPr/>
        </p:nvSpPr>
        <p:spPr>
          <a:xfrm>
            <a:off x="4059936" y="1783080"/>
            <a:ext cx="2880360" cy="219456"/>
          </a:xfrm>
          <a:prstGeom prst="rect">
            <a:avLst/>
          </a:prstGeom>
          <a:noFill/>
          <a:ln/>
        </p:spPr>
        <p:txBody>
          <a:bodyPr wrap="square" lIns="0" tIns="0" rIns="0" bIns="0" rtlCol="0" anchor="ctr">
            <a:normAutofit/>
          </a:bodyPr>
          <a:lstStyle/>
          <a:p>
            <a:pPr algn="l" indent="0" marL="0">
              <a:buNone/>
            </a:pPr>
            <a:r>
              <a:rPr lang="en-US" sz="1100" b="1" dirty="0">
                <a:solidFill>
                  <a:srgbClr val="9A6C10"/>
                </a:solidFill>
                <a:latin typeface="NanumSquare" pitchFamily="34" charset="0"/>
                <a:ea typeface="NanumSquare" pitchFamily="34" charset="-122"/>
                <a:cs typeface="NanumSquare" pitchFamily="34" charset="-120"/>
              </a:rPr>
              <a:t>기대치·수급 부담</a:t>
            </a:r>
            <a:endParaRPr lang="en-US" sz="1100" dirty="0"/>
          </a:p>
        </p:txBody>
      </p:sp>
      <p:sp>
        <p:nvSpPr>
          <p:cNvPr id="15" name="Shape 13"/>
          <p:cNvSpPr/>
          <p:nvPr/>
        </p:nvSpPr>
        <p:spPr>
          <a:xfrm>
            <a:off x="4078224" y="2244852"/>
            <a:ext cx="50292" cy="50292"/>
          </a:xfrm>
          <a:prstGeom prst="ellipse">
            <a:avLst/>
          </a:prstGeom>
          <a:solidFill>
            <a:srgbClr val="D8A63C"/>
          </a:solidFill>
          <a:ln w="12700">
            <a:solidFill>
              <a:srgbClr val="D8A63C"/>
            </a:solidFill>
            <a:prstDash val="solid"/>
          </a:ln>
        </p:spPr>
      </p:sp>
      <p:sp>
        <p:nvSpPr>
          <p:cNvPr id="16" name="Text 14"/>
          <p:cNvSpPr/>
          <p:nvPr/>
        </p:nvSpPr>
        <p:spPr>
          <a:xfrm>
            <a:off x="4197096" y="2185416"/>
            <a:ext cx="2697480" cy="420624"/>
          </a:xfrm>
          <a:prstGeom prst="rect">
            <a:avLst/>
          </a:prstGeom>
          <a:noFill/>
          <a:ln/>
        </p:spPr>
        <p:txBody>
          <a:bodyPr wrap="square" lIns="0" tIns="0" rIns="0" bIns="0" rtlCol="0" anchor="t">
            <a:normAutofit/>
          </a:bodyPr>
          <a:lstStyle/>
          <a:p>
            <a:pPr algn="l" indent="0" marL="0">
              <a:buNone/>
            </a:pPr>
            <a:r>
              <a:rPr lang="en-US" sz="850" dirty="0">
                <a:solidFill>
                  <a:srgbClr val="17212B"/>
                </a:solidFill>
                <a:latin typeface="Noto Sans CJK KR" pitchFamily="34" charset="0"/>
                <a:ea typeface="Noto Sans CJK KR" pitchFamily="34" charset="-122"/>
                <a:cs typeface="Noto Sans CJK KR" pitchFamily="34" charset="-120"/>
              </a:rPr>
              <a:t>SK하이닉스 2Q 추정치, 컨센서스 대비 -8%</a:t>
            </a:r>
            <a:endParaRPr lang="en-US" sz="850" dirty="0"/>
          </a:p>
        </p:txBody>
      </p:sp>
      <p:sp>
        <p:nvSpPr>
          <p:cNvPr id="17" name="Shape 15"/>
          <p:cNvSpPr/>
          <p:nvPr/>
        </p:nvSpPr>
        <p:spPr>
          <a:xfrm>
            <a:off x="4078224" y="2711196"/>
            <a:ext cx="50292" cy="50292"/>
          </a:xfrm>
          <a:prstGeom prst="ellipse">
            <a:avLst/>
          </a:prstGeom>
          <a:solidFill>
            <a:srgbClr val="D8A63C"/>
          </a:solidFill>
          <a:ln w="12700">
            <a:solidFill>
              <a:srgbClr val="D8A63C"/>
            </a:solidFill>
            <a:prstDash val="solid"/>
          </a:ln>
        </p:spPr>
      </p:sp>
      <p:sp>
        <p:nvSpPr>
          <p:cNvPr id="18" name="Text 16"/>
          <p:cNvSpPr/>
          <p:nvPr/>
        </p:nvSpPr>
        <p:spPr>
          <a:xfrm>
            <a:off x="4197096" y="2651760"/>
            <a:ext cx="2697480" cy="347472"/>
          </a:xfrm>
          <a:prstGeom prst="rect">
            <a:avLst/>
          </a:prstGeom>
          <a:noFill/>
          <a:ln/>
        </p:spPr>
        <p:txBody>
          <a:bodyPr wrap="square" lIns="0" tIns="0" rIns="0" bIns="0" rtlCol="0" anchor="t">
            <a:normAutofit/>
          </a:bodyPr>
          <a:lstStyle/>
          <a:p>
            <a:pPr algn="l" indent="0" marL="0">
              <a:buNone/>
            </a:pPr>
            <a:r>
              <a:rPr lang="en-US" sz="850" dirty="0">
                <a:solidFill>
                  <a:srgbClr val="17212B"/>
                </a:solidFill>
                <a:latin typeface="Noto Sans CJK KR" pitchFamily="34" charset="0"/>
                <a:ea typeface="Noto Sans CJK KR" pitchFamily="34" charset="-122"/>
                <a:cs typeface="Noto Sans CJK KR" pitchFamily="34" charset="-120"/>
              </a:rPr>
              <a:t>전일 SOX -4.8%, 높아진 밸류에이션 피로</a:t>
            </a:r>
            <a:endParaRPr lang="en-US" sz="850" dirty="0"/>
          </a:p>
        </p:txBody>
      </p:sp>
      <p:sp>
        <p:nvSpPr>
          <p:cNvPr id="19" name="Shape 17"/>
          <p:cNvSpPr/>
          <p:nvPr/>
        </p:nvSpPr>
        <p:spPr>
          <a:xfrm>
            <a:off x="4078224" y="3122676"/>
            <a:ext cx="50292" cy="50292"/>
          </a:xfrm>
          <a:prstGeom prst="ellipse">
            <a:avLst/>
          </a:prstGeom>
          <a:solidFill>
            <a:srgbClr val="D8A63C"/>
          </a:solidFill>
          <a:ln w="12700">
            <a:solidFill>
              <a:srgbClr val="D8A63C"/>
            </a:solidFill>
            <a:prstDash val="solid"/>
          </a:ln>
        </p:spPr>
      </p:sp>
      <p:sp>
        <p:nvSpPr>
          <p:cNvPr id="20" name="Text 18"/>
          <p:cNvSpPr/>
          <p:nvPr/>
        </p:nvSpPr>
        <p:spPr>
          <a:xfrm>
            <a:off x="4197096" y="3063240"/>
            <a:ext cx="2697480" cy="365760"/>
          </a:xfrm>
          <a:prstGeom prst="rect">
            <a:avLst/>
          </a:prstGeom>
          <a:noFill/>
          <a:ln/>
        </p:spPr>
        <p:txBody>
          <a:bodyPr wrap="square" lIns="0" tIns="0" rIns="0" bIns="0" rtlCol="0" anchor="t">
            <a:normAutofit/>
          </a:bodyPr>
          <a:lstStyle/>
          <a:p>
            <a:pPr algn="l" indent="0" marL="0">
              <a:buNone/>
            </a:pPr>
            <a:r>
              <a:rPr lang="en-US" sz="850" dirty="0">
                <a:solidFill>
                  <a:srgbClr val="17212B"/>
                </a:solidFill>
                <a:latin typeface="Noto Sans CJK KR" pitchFamily="34" charset="0"/>
                <a:ea typeface="Noto Sans CJK KR" pitchFamily="34" charset="-122"/>
                <a:cs typeface="Noto Sans CJK KR" pitchFamily="34" charset="-120"/>
              </a:rPr>
              <a:t>레버리지 ETF는 장 후반 변동성 증폭 가능</a:t>
            </a:r>
            <a:endParaRPr lang="en-US" sz="850" dirty="0"/>
          </a:p>
        </p:txBody>
      </p:sp>
      <p:sp>
        <p:nvSpPr>
          <p:cNvPr id="21" name="Shape 19"/>
          <p:cNvSpPr/>
          <p:nvPr/>
        </p:nvSpPr>
        <p:spPr>
          <a:xfrm>
            <a:off x="384048" y="3986784"/>
            <a:ext cx="4736592" cy="3749040"/>
          </a:xfrm>
          <a:prstGeom prst="roundRect">
            <a:avLst>
              <a:gd name="adj" fmla="val 1951"/>
            </a:avLst>
          </a:prstGeom>
          <a:solidFill>
            <a:srgbClr val="FFFFFF"/>
          </a:solidFill>
          <a:ln w="10160">
            <a:solidFill>
              <a:srgbClr val="D8DEE5"/>
            </a:solidFill>
            <a:prstDash val="solid"/>
          </a:ln>
        </p:spPr>
      </p:sp>
      <p:sp>
        <p:nvSpPr>
          <p:cNvPr id="22" name="Shape 20"/>
          <p:cNvSpPr/>
          <p:nvPr/>
        </p:nvSpPr>
        <p:spPr>
          <a:xfrm>
            <a:off x="585216" y="4215384"/>
            <a:ext cx="1170432" cy="237744"/>
          </a:xfrm>
          <a:prstGeom prst="roundRect">
            <a:avLst>
              <a:gd name="adj" fmla="val 23077"/>
            </a:avLst>
          </a:prstGeom>
          <a:solidFill>
            <a:srgbClr val="E6EBEF"/>
          </a:solidFill>
          <a:ln w="12700">
            <a:solidFill>
              <a:srgbClr val="E6EBEF"/>
            </a:solidFill>
            <a:prstDash val="solid"/>
          </a:ln>
        </p:spPr>
      </p:sp>
      <p:sp>
        <p:nvSpPr>
          <p:cNvPr id="23" name="Text 21"/>
          <p:cNvSpPr/>
          <p:nvPr/>
        </p:nvSpPr>
        <p:spPr>
          <a:xfrm>
            <a:off x="585216" y="4224528"/>
            <a:ext cx="1170432" cy="201168"/>
          </a:xfrm>
          <a:prstGeom prst="rect">
            <a:avLst/>
          </a:prstGeom>
          <a:noFill/>
          <a:ln/>
        </p:spPr>
        <p:txBody>
          <a:bodyPr wrap="square" lIns="0" tIns="0" rIns="0" bIns="0" rtlCol="0" anchor="ctr">
            <a:normAutofit/>
          </a:bodyPr>
          <a:lstStyle/>
          <a:p>
            <a:pPr algn="ctr" indent="0" marL="0">
              <a:buNone/>
            </a:pPr>
            <a:r>
              <a:rPr lang="en-US" sz="680" b="1" dirty="0">
                <a:solidFill>
                  <a:srgbClr val="0B1F33"/>
                </a:solidFill>
                <a:latin typeface="NanumSquare" pitchFamily="34" charset="0"/>
                <a:ea typeface="NanumSquare" pitchFamily="34" charset="-122"/>
                <a:cs typeface="NanumSquare" pitchFamily="34" charset="-120"/>
              </a:rPr>
              <a:t>EDITORIAL VIEW</a:t>
            </a:r>
            <a:endParaRPr lang="en-US" sz="680" dirty="0"/>
          </a:p>
        </p:txBody>
      </p:sp>
      <p:sp>
        <p:nvSpPr>
          <p:cNvPr id="24" name="Text 22"/>
          <p:cNvSpPr/>
          <p:nvPr/>
        </p:nvSpPr>
        <p:spPr>
          <a:xfrm>
            <a:off x="585216" y="4617720"/>
            <a:ext cx="4315968" cy="1078992"/>
          </a:xfrm>
          <a:prstGeom prst="rect">
            <a:avLst/>
          </a:prstGeom>
          <a:noFill/>
          <a:ln/>
        </p:spPr>
        <p:txBody>
          <a:bodyPr wrap="square" lIns="0" tIns="0" rIns="0" bIns="0" rtlCol="0" anchor="t">
            <a:normAutofit/>
          </a:bodyPr>
          <a:lstStyle/>
          <a:p>
            <a:pPr algn="l" indent="0" marL="0">
              <a:buNone/>
            </a:pPr>
            <a:r>
              <a:rPr lang="en-US" sz="980" dirty="0">
                <a:solidFill>
                  <a:srgbClr val="17212B"/>
                </a:solidFill>
                <a:latin typeface="Noto Sans CJK KR" pitchFamily="34" charset="0"/>
                <a:ea typeface="Noto Sans CJK KR" pitchFamily="34" charset="-122"/>
                <a:cs typeface="Noto Sans CJK KR" pitchFamily="34" charset="-120"/>
              </a:rPr>
              <a:t>현재 가격은 AI 메모리 수요 붕괴를 확정했다기보다, 높아진 이익 기대와 밸류에이션을 다시 맞추는 과정에 수급 구조가 변동성을 더한 모습에 가깝다. 한국투자증권은 단기 이익 추정치를 낮추면서도 HBM 공급 제약과 장기공급계약을 근거로 업종 비중확대를 유지했다.</a:t>
            </a:r>
            <a:endParaRPr lang="en-US" sz="980" dirty="0"/>
          </a:p>
        </p:txBody>
      </p:sp>
      <p:sp>
        <p:nvSpPr>
          <p:cNvPr id="25" name="Text 23"/>
          <p:cNvSpPr/>
          <p:nvPr/>
        </p:nvSpPr>
        <p:spPr>
          <a:xfrm>
            <a:off x="585216" y="5824728"/>
            <a:ext cx="4315968" cy="1078992"/>
          </a:xfrm>
          <a:prstGeom prst="rect">
            <a:avLst/>
          </a:prstGeom>
          <a:noFill/>
          <a:ln/>
        </p:spPr>
        <p:txBody>
          <a:bodyPr wrap="square" lIns="0" tIns="0" rIns="0" bIns="0" rtlCol="0" anchor="t">
            <a:normAutofit/>
          </a:bodyPr>
          <a:lstStyle/>
          <a:p>
            <a:pPr algn="l" indent="0" marL="0">
              <a:buNone/>
            </a:pPr>
            <a:r>
              <a:rPr lang="en-US" sz="980" dirty="0">
                <a:solidFill>
                  <a:srgbClr val="17212B"/>
                </a:solidFill>
                <a:latin typeface="Noto Sans CJK KR" pitchFamily="34" charset="0"/>
                <a:ea typeface="Noto Sans CJK KR" pitchFamily="34" charset="-122"/>
                <a:cs typeface="Noto Sans CJK KR" pitchFamily="34" charset="-120"/>
              </a:rPr>
              <a:t>이 때문에 레버리지 ETF를 “주범”으로만 설명하는 것도, 오늘 반등을 “업황 이상 없음”으로만 해석하는 것도 둘 다 과도하다. ETF 리밸런싱은 장 후반 낙폭을 키울 수 있지만 오전 충격의 단독 원인으로는 설명력이 낮고, 단기 실적 기대치 하향은 실제 부담이다.</a:t>
            </a:r>
            <a:endParaRPr lang="en-US" sz="980" dirty="0"/>
          </a:p>
        </p:txBody>
      </p:sp>
      <p:sp>
        <p:nvSpPr>
          <p:cNvPr id="26" name="Text 24"/>
          <p:cNvSpPr/>
          <p:nvPr/>
        </p:nvSpPr>
        <p:spPr>
          <a:xfrm>
            <a:off x="585216" y="7031736"/>
            <a:ext cx="4315968" cy="557784"/>
          </a:xfrm>
          <a:prstGeom prst="rect">
            <a:avLst/>
          </a:prstGeom>
          <a:noFill/>
          <a:ln/>
        </p:spPr>
        <p:txBody>
          <a:bodyPr wrap="square" lIns="0" tIns="0" rIns="0" bIns="0" rtlCol="0" anchor="t">
            <a:normAutofit/>
          </a:bodyPr>
          <a:lstStyle/>
          <a:p>
            <a:pPr algn="l" indent="0" marL="0">
              <a:buNone/>
            </a:pPr>
            <a:r>
              <a:rPr lang="en-US" sz="950" dirty="0">
                <a:solidFill>
                  <a:srgbClr val="17212B"/>
                </a:solidFill>
                <a:latin typeface="Noto Sans CJK KR" pitchFamily="34" charset="0"/>
                <a:ea typeface="Noto Sans CJK KR" pitchFamily="34" charset="-122"/>
                <a:cs typeface="Noto Sans CJK KR" pitchFamily="34" charset="-120"/>
              </a:rPr>
              <a:t>다음 판단은 ASML 경영진이 메모리 고객사의 주문과 투자 일정을 어떻게 표현하는지, 그리고 TSMC의 강한 매출이 가이던스로 이어지는지에 달려 있다. 주문 지연 언급이 나오면 펀더멘털 훼손 해석이 강해지고, 견조한 주문과 한국 반도체 외국인 매수가 이어지면 기대치 재조정 해석이 우세해진다.</a:t>
            </a:r>
            <a:endParaRPr lang="en-US" sz="950" dirty="0"/>
          </a:p>
        </p:txBody>
      </p:sp>
      <p:sp>
        <p:nvSpPr>
          <p:cNvPr id="27" name="Shape 25"/>
          <p:cNvSpPr/>
          <p:nvPr/>
        </p:nvSpPr>
        <p:spPr>
          <a:xfrm>
            <a:off x="5321808" y="3986784"/>
            <a:ext cx="1837944" cy="1984248"/>
          </a:xfrm>
          <a:prstGeom prst="roundRect">
            <a:avLst>
              <a:gd name="adj" fmla="val 3980"/>
            </a:avLst>
          </a:prstGeom>
          <a:solidFill>
            <a:srgbClr val="0B1F33"/>
          </a:solidFill>
          <a:ln w="10160">
            <a:solidFill>
              <a:srgbClr val="0B1F33"/>
            </a:solidFill>
            <a:prstDash val="solid"/>
          </a:ln>
        </p:spPr>
      </p:sp>
      <p:sp>
        <p:nvSpPr>
          <p:cNvPr id="28" name="Text 26"/>
          <p:cNvSpPr/>
          <p:nvPr/>
        </p:nvSpPr>
        <p:spPr>
          <a:xfrm>
            <a:off x="5513832" y="4197096"/>
            <a:ext cx="1426464" cy="201168"/>
          </a:xfrm>
          <a:prstGeom prst="rect">
            <a:avLst/>
          </a:prstGeom>
          <a:noFill/>
          <a:ln/>
        </p:spPr>
        <p:txBody>
          <a:bodyPr wrap="square" lIns="0" tIns="0" rIns="0" bIns="0" rtlCol="0" anchor="ctr">
            <a:normAutofit/>
          </a:bodyPr>
          <a:lstStyle/>
          <a:p>
            <a:pPr algn="l" indent="0" marL="0">
              <a:buNone/>
            </a:pPr>
            <a:r>
              <a:rPr lang="en-US" sz="830" b="1" dirty="0">
                <a:solidFill>
                  <a:srgbClr val="8FE0D8"/>
                </a:solidFill>
                <a:latin typeface="NanumSquare" pitchFamily="34" charset="0"/>
                <a:ea typeface="NanumSquare" pitchFamily="34" charset="-122"/>
                <a:cs typeface="NanumSquare" pitchFamily="34" charset="-120"/>
              </a:rPr>
              <a:t>현재 결론</a:t>
            </a:r>
            <a:endParaRPr lang="en-US" sz="830" dirty="0"/>
          </a:p>
        </p:txBody>
      </p:sp>
      <p:sp>
        <p:nvSpPr>
          <p:cNvPr id="29" name="Text 27"/>
          <p:cNvSpPr/>
          <p:nvPr/>
        </p:nvSpPr>
        <p:spPr>
          <a:xfrm>
            <a:off x="5513832" y="4608576"/>
            <a:ext cx="1426464" cy="1097280"/>
          </a:xfrm>
          <a:prstGeom prst="rect">
            <a:avLst/>
          </a:prstGeom>
          <a:noFill/>
          <a:ln/>
        </p:spPr>
        <p:txBody>
          <a:bodyPr wrap="square" lIns="0" tIns="0" rIns="0" bIns="0" rtlCol="0" anchor="t">
            <a:normAutofit/>
          </a:bodyPr>
          <a:lstStyle/>
          <a:p>
            <a:pPr algn="ctr" indent="0" marL="0">
              <a:buNone/>
            </a:pPr>
            <a:r>
              <a:rPr lang="en-US" sz="1300" b="1" dirty="0">
                <a:solidFill>
                  <a:srgbClr val="FFFFFF"/>
                </a:solidFill>
                <a:latin typeface="NanumSquare" pitchFamily="34" charset="0"/>
                <a:ea typeface="NanumSquare" pitchFamily="34" charset="-122"/>
                <a:cs typeface="NanumSquare" pitchFamily="34" charset="-120"/>
              </a:rPr>
              <a:t>업황 붕괴  X</a:t>
            </a:r>
            <a:endParaRPr lang="en-US" sz="1300" dirty="0"/>
          </a:p>
          <a:p>
            <a:pPr algn="ctr" indent="0" marL="0">
              <a:buNone/>
            </a:pPr>
            <a:r>
              <a:rPr lang="en-US" sz="1300" b="1" dirty="0">
                <a:solidFill>
                  <a:srgbClr val="FFFFFF"/>
                </a:solidFill>
                <a:latin typeface="NanumSquare" pitchFamily="34" charset="0"/>
                <a:ea typeface="NanumSquare" pitchFamily="34" charset="-122"/>
                <a:cs typeface="NanumSquare" pitchFamily="34" charset="-120"/>
              </a:rPr>
              <a:t>단순 저가매수 X</a:t>
            </a:r>
            <a:endParaRPr lang="en-US" sz="1300" dirty="0"/>
          </a:p>
          <a:p>
            <a:pPr algn="ctr" indent="0" marL="0">
              <a:buNone/>
            </a:pPr>
            <a:endParaRPr lang="en-US" sz="1300" dirty="0"/>
          </a:p>
          <a:p>
            <a:pPr algn="ctr" indent="0" marL="0">
              <a:buNone/>
            </a:pPr>
            <a:r>
              <a:rPr lang="en-US" sz="1300" b="1" dirty="0">
                <a:solidFill>
                  <a:srgbClr val="FFFFFF"/>
                </a:solidFill>
                <a:latin typeface="NanumSquare" pitchFamily="34" charset="0"/>
                <a:ea typeface="NanumSquare" pitchFamily="34" charset="-122"/>
                <a:cs typeface="NanumSquare" pitchFamily="34" charset="-120"/>
              </a:rPr>
              <a:t>기대치 재조정</a:t>
            </a:r>
            <a:endParaRPr lang="en-US" sz="1300" dirty="0"/>
          </a:p>
          <a:p>
            <a:pPr algn="ctr" indent="0" marL="0">
              <a:buNone/>
            </a:pPr>
            <a:r>
              <a:rPr lang="en-US" sz="1300" b="1" dirty="0">
                <a:solidFill>
                  <a:srgbClr val="FFFFFF"/>
                </a:solidFill>
                <a:latin typeface="NanumSquare" pitchFamily="34" charset="0"/>
                <a:ea typeface="NanumSquare" pitchFamily="34" charset="-122"/>
                <a:cs typeface="NanumSquare" pitchFamily="34" charset="-120"/>
              </a:rPr>
              <a:t>+ 수급 증폭</a:t>
            </a:r>
            <a:endParaRPr lang="en-US" sz="1300" dirty="0"/>
          </a:p>
        </p:txBody>
      </p:sp>
      <p:sp>
        <p:nvSpPr>
          <p:cNvPr id="30" name="Shape 28"/>
          <p:cNvSpPr/>
          <p:nvPr/>
        </p:nvSpPr>
        <p:spPr>
          <a:xfrm>
            <a:off x="5321808" y="6190488"/>
            <a:ext cx="1837944" cy="1545336"/>
          </a:xfrm>
          <a:prstGeom prst="roundRect">
            <a:avLst>
              <a:gd name="adj" fmla="val 4734"/>
            </a:avLst>
          </a:prstGeom>
          <a:solidFill>
            <a:srgbClr val="FFFFFF"/>
          </a:solidFill>
          <a:ln w="10160">
            <a:solidFill>
              <a:srgbClr val="D8DEE5"/>
            </a:solidFill>
            <a:prstDash val="solid"/>
          </a:ln>
        </p:spPr>
      </p:sp>
      <p:sp>
        <p:nvSpPr>
          <p:cNvPr id="31" name="Text 29"/>
          <p:cNvSpPr/>
          <p:nvPr/>
        </p:nvSpPr>
        <p:spPr>
          <a:xfrm>
            <a:off x="5513832" y="6391656"/>
            <a:ext cx="1426464" cy="201168"/>
          </a:xfrm>
          <a:prstGeom prst="rect">
            <a:avLst/>
          </a:prstGeom>
          <a:noFill/>
          <a:ln/>
        </p:spPr>
        <p:txBody>
          <a:bodyPr wrap="square" lIns="0" tIns="0" rIns="0" bIns="0" rtlCol="0" anchor="ctr">
            <a:normAutofit/>
          </a:bodyPr>
          <a:lstStyle/>
          <a:p>
            <a:pPr algn="l" indent="0" marL="0">
              <a:buNone/>
            </a:pPr>
            <a:r>
              <a:rPr lang="en-US" sz="830" b="1" dirty="0">
                <a:solidFill>
                  <a:srgbClr val="0B1F33"/>
                </a:solidFill>
                <a:latin typeface="NanumSquare" pitchFamily="34" charset="0"/>
                <a:ea typeface="NanumSquare" pitchFamily="34" charset="-122"/>
                <a:cs typeface="NanumSquare" pitchFamily="34" charset="-120"/>
              </a:rPr>
              <a:t>다음 확인점</a:t>
            </a:r>
            <a:endParaRPr lang="en-US" sz="830" dirty="0"/>
          </a:p>
        </p:txBody>
      </p:sp>
      <p:sp>
        <p:nvSpPr>
          <p:cNvPr id="32" name="Text 30"/>
          <p:cNvSpPr/>
          <p:nvPr/>
        </p:nvSpPr>
        <p:spPr>
          <a:xfrm>
            <a:off x="5513832" y="6739128"/>
            <a:ext cx="1426464" cy="768096"/>
          </a:xfrm>
          <a:prstGeom prst="rect">
            <a:avLst/>
          </a:prstGeom>
          <a:noFill/>
          <a:ln/>
        </p:spPr>
        <p:txBody>
          <a:bodyPr wrap="square" lIns="0" tIns="0" rIns="0" bIns="0" rtlCol="0" anchor="t">
            <a:normAutofit/>
          </a:bodyPr>
          <a:lstStyle/>
          <a:p>
            <a:pPr algn="l" indent="0" marL="0">
              <a:buNone/>
            </a:pPr>
            <a:r>
              <a:rPr lang="en-US" sz="870" b="1" dirty="0">
                <a:solidFill>
                  <a:srgbClr val="465866"/>
                </a:solidFill>
                <a:latin typeface="NanumSquare" pitchFamily="34" charset="0"/>
                <a:ea typeface="NanumSquare" pitchFamily="34" charset="-122"/>
                <a:cs typeface="NanumSquare" pitchFamily="34" charset="-120"/>
              </a:rPr>
              <a:t>15:00  ETF 회의</a:t>
            </a:r>
            <a:endParaRPr lang="en-US" sz="870" dirty="0"/>
          </a:p>
          <a:p>
            <a:pPr algn="l" indent="0" marL="0">
              <a:buNone/>
            </a:pPr>
            <a:r>
              <a:rPr lang="en-US" sz="870" b="1" dirty="0">
                <a:solidFill>
                  <a:srgbClr val="465866"/>
                </a:solidFill>
                <a:latin typeface="NanumSquare" pitchFamily="34" charset="0"/>
                <a:ea typeface="NanumSquare" pitchFamily="34" charset="-122"/>
                <a:cs typeface="NanumSquare" pitchFamily="34" charset="-120"/>
              </a:rPr>
              <a:t>21:30  미국 CPI</a:t>
            </a:r>
            <a:endParaRPr lang="en-US" sz="870" dirty="0"/>
          </a:p>
          <a:p>
            <a:pPr algn="l" indent="0" marL="0">
              <a:buNone/>
            </a:pPr>
            <a:r>
              <a:rPr lang="en-US" sz="870" b="1" dirty="0">
                <a:solidFill>
                  <a:srgbClr val="465866"/>
                </a:solidFill>
                <a:latin typeface="NanumSquare" pitchFamily="34" charset="0"/>
                <a:ea typeface="NanumSquare" pitchFamily="34" charset="-122"/>
                <a:cs typeface="NanumSquare" pitchFamily="34" charset="-120"/>
              </a:rPr>
              <a:t>7/15 14:00  ASML</a:t>
            </a:r>
            <a:endParaRPr lang="en-US" sz="870" dirty="0"/>
          </a:p>
          <a:p>
            <a:pPr algn="l" indent="0" marL="0">
              <a:buNone/>
            </a:pPr>
            <a:r>
              <a:rPr lang="en-US" sz="870" b="1" dirty="0">
                <a:solidFill>
                  <a:srgbClr val="465866"/>
                </a:solidFill>
                <a:latin typeface="NanumSquare" pitchFamily="34" charset="0"/>
                <a:ea typeface="NanumSquare" pitchFamily="34" charset="-122"/>
                <a:cs typeface="NanumSquare" pitchFamily="34" charset="-120"/>
              </a:rPr>
              <a:t>7/16  TSMC</a:t>
            </a:r>
            <a:endParaRPr lang="en-US" sz="870" dirty="0"/>
          </a:p>
        </p:txBody>
      </p:sp>
      <p:sp>
        <p:nvSpPr>
          <p:cNvPr id="33" name="Text 31"/>
          <p:cNvSpPr/>
          <p:nvPr/>
        </p:nvSpPr>
        <p:spPr>
          <a:xfrm>
            <a:off x="384048" y="8037576"/>
            <a:ext cx="6775704" cy="256032"/>
          </a:xfrm>
          <a:prstGeom prst="rect">
            <a:avLst/>
          </a:prstGeom>
          <a:noFill/>
          <a:ln/>
        </p:spPr>
        <p:txBody>
          <a:bodyPr wrap="square" lIns="0" tIns="0" rIns="0" bIns="0" rtlCol="0" anchor="ctr">
            <a:normAutofit/>
          </a:bodyPr>
          <a:lstStyle/>
          <a:p>
            <a:pPr algn="l" indent="0" marL="0">
              <a:buNone/>
            </a:pPr>
            <a:r>
              <a:rPr lang="en-US" sz="1250" b="1" dirty="0">
                <a:solidFill>
                  <a:srgbClr val="0B1F33"/>
                </a:solidFill>
                <a:latin typeface="NanumSquare" pitchFamily="34" charset="0"/>
                <a:ea typeface="NanumSquare" pitchFamily="34" charset="-122"/>
                <a:cs typeface="NanumSquare" pitchFamily="34" charset="-120"/>
              </a:rPr>
              <a:t>진행자 질문</a:t>
            </a:r>
            <a:endParaRPr lang="en-US" sz="1250" dirty="0"/>
          </a:p>
        </p:txBody>
      </p:sp>
      <p:sp>
        <p:nvSpPr>
          <p:cNvPr id="34" name="Shape 32"/>
          <p:cNvSpPr/>
          <p:nvPr/>
        </p:nvSpPr>
        <p:spPr>
          <a:xfrm>
            <a:off x="384048" y="8439912"/>
            <a:ext cx="320040" cy="237744"/>
          </a:xfrm>
          <a:prstGeom prst="roundRect">
            <a:avLst>
              <a:gd name="adj" fmla="val 23077"/>
            </a:avLst>
          </a:prstGeom>
          <a:solidFill>
            <a:srgbClr val="DFF4F2"/>
          </a:solidFill>
          <a:ln w="12700">
            <a:solidFill>
              <a:srgbClr val="DFF4F2"/>
            </a:solidFill>
            <a:prstDash val="solid"/>
          </a:ln>
        </p:spPr>
      </p:sp>
      <p:sp>
        <p:nvSpPr>
          <p:cNvPr id="35" name="Text 33"/>
          <p:cNvSpPr/>
          <p:nvPr/>
        </p:nvSpPr>
        <p:spPr>
          <a:xfrm>
            <a:off x="384048" y="8449056"/>
            <a:ext cx="320040" cy="201168"/>
          </a:xfrm>
          <a:prstGeom prst="rect">
            <a:avLst/>
          </a:prstGeom>
          <a:noFill/>
          <a:ln/>
        </p:spPr>
        <p:txBody>
          <a:bodyPr wrap="square" lIns="0" tIns="0" rIns="0" bIns="0" rtlCol="0" anchor="ctr">
            <a:normAutofit/>
          </a:bodyPr>
          <a:lstStyle/>
          <a:p>
            <a:pPr algn="ctr" indent="0" marL="0">
              <a:buNone/>
            </a:pPr>
            <a:r>
              <a:rPr lang="en-US" sz="680" b="1" dirty="0">
                <a:solidFill>
                  <a:srgbClr val="00A6A6"/>
                </a:solidFill>
                <a:latin typeface="NanumSquare" pitchFamily="34" charset="0"/>
                <a:ea typeface="NanumSquare" pitchFamily="34" charset="-122"/>
                <a:cs typeface="NanumSquare" pitchFamily="34" charset="-120"/>
              </a:rPr>
              <a:t>1</a:t>
            </a:r>
            <a:endParaRPr lang="en-US" sz="680" dirty="0"/>
          </a:p>
        </p:txBody>
      </p:sp>
      <p:sp>
        <p:nvSpPr>
          <p:cNvPr id="36" name="Text 34"/>
          <p:cNvSpPr/>
          <p:nvPr/>
        </p:nvSpPr>
        <p:spPr>
          <a:xfrm>
            <a:off x="822960" y="8412480"/>
            <a:ext cx="6309360" cy="329184"/>
          </a:xfrm>
          <a:prstGeom prst="rect">
            <a:avLst/>
          </a:prstGeom>
          <a:noFill/>
          <a:ln/>
        </p:spPr>
        <p:txBody>
          <a:bodyPr wrap="square" lIns="0" tIns="0" rIns="0" bIns="0" rtlCol="0" anchor="t">
            <a:normAutofit/>
          </a:bodyPr>
          <a:lstStyle/>
          <a:p>
            <a:pPr algn="l" indent="0" marL="0">
              <a:buNone/>
            </a:pPr>
            <a:r>
              <a:rPr lang="en-US" sz="870" dirty="0">
                <a:solidFill>
                  <a:srgbClr val="17212B"/>
                </a:solidFill>
                <a:latin typeface="Noto Sans CJK KR" pitchFamily="34" charset="0"/>
                <a:ea typeface="Noto Sans CJK KR" pitchFamily="34" charset="-122"/>
                <a:cs typeface="Noto Sans CJK KR" pitchFamily="34" charset="-120"/>
              </a:rPr>
              <a:t>지수가 반등했다는 것과 시장이 안정됐다는 것은 같은 의미인가요?</a:t>
            </a:r>
            <a:endParaRPr lang="en-US" sz="870" dirty="0"/>
          </a:p>
        </p:txBody>
      </p:sp>
      <p:sp>
        <p:nvSpPr>
          <p:cNvPr id="37" name="Shape 35"/>
          <p:cNvSpPr/>
          <p:nvPr/>
        </p:nvSpPr>
        <p:spPr>
          <a:xfrm>
            <a:off x="384048" y="8878824"/>
            <a:ext cx="320040" cy="237744"/>
          </a:xfrm>
          <a:prstGeom prst="roundRect">
            <a:avLst>
              <a:gd name="adj" fmla="val 23077"/>
            </a:avLst>
          </a:prstGeom>
          <a:solidFill>
            <a:srgbClr val="DFF4F2"/>
          </a:solidFill>
          <a:ln w="12700">
            <a:solidFill>
              <a:srgbClr val="DFF4F2"/>
            </a:solidFill>
            <a:prstDash val="solid"/>
          </a:ln>
        </p:spPr>
      </p:sp>
      <p:sp>
        <p:nvSpPr>
          <p:cNvPr id="38" name="Text 36"/>
          <p:cNvSpPr/>
          <p:nvPr/>
        </p:nvSpPr>
        <p:spPr>
          <a:xfrm>
            <a:off x="384048" y="8887968"/>
            <a:ext cx="320040" cy="201168"/>
          </a:xfrm>
          <a:prstGeom prst="rect">
            <a:avLst/>
          </a:prstGeom>
          <a:noFill/>
          <a:ln/>
        </p:spPr>
        <p:txBody>
          <a:bodyPr wrap="square" lIns="0" tIns="0" rIns="0" bIns="0" rtlCol="0" anchor="ctr">
            <a:normAutofit/>
          </a:bodyPr>
          <a:lstStyle/>
          <a:p>
            <a:pPr algn="ctr" indent="0" marL="0">
              <a:buNone/>
            </a:pPr>
            <a:r>
              <a:rPr lang="en-US" sz="680" b="1" dirty="0">
                <a:solidFill>
                  <a:srgbClr val="00A6A6"/>
                </a:solidFill>
                <a:latin typeface="NanumSquare" pitchFamily="34" charset="0"/>
                <a:ea typeface="NanumSquare" pitchFamily="34" charset="-122"/>
                <a:cs typeface="NanumSquare" pitchFamily="34" charset="-120"/>
              </a:rPr>
              <a:t>2</a:t>
            </a:r>
            <a:endParaRPr lang="en-US" sz="680" dirty="0"/>
          </a:p>
        </p:txBody>
      </p:sp>
      <p:sp>
        <p:nvSpPr>
          <p:cNvPr id="39" name="Text 37"/>
          <p:cNvSpPr/>
          <p:nvPr/>
        </p:nvSpPr>
        <p:spPr>
          <a:xfrm>
            <a:off x="822960" y="8851392"/>
            <a:ext cx="6309360" cy="329184"/>
          </a:xfrm>
          <a:prstGeom prst="rect">
            <a:avLst/>
          </a:prstGeom>
          <a:noFill/>
          <a:ln/>
        </p:spPr>
        <p:txBody>
          <a:bodyPr wrap="square" lIns="0" tIns="0" rIns="0" bIns="0" rtlCol="0" anchor="t">
            <a:normAutofit/>
          </a:bodyPr>
          <a:lstStyle/>
          <a:p>
            <a:pPr algn="l" indent="0" marL="0">
              <a:buNone/>
            </a:pPr>
            <a:r>
              <a:rPr lang="en-US" sz="870" dirty="0">
                <a:solidFill>
                  <a:srgbClr val="17212B"/>
                </a:solidFill>
                <a:latin typeface="Noto Sans CJK KR" pitchFamily="34" charset="0"/>
                <a:ea typeface="Noto Sans CJK KR" pitchFamily="34" charset="-122"/>
                <a:cs typeface="Noto Sans CJK KR" pitchFamily="34" charset="-120"/>
              </a:rPr>
              <a:t>레버리지 ETF는 오늘 변동성의 원인인가요, 이미 약해진 시장을 키운 증폭기인가요?</a:t>
            </a:r>
            <a:endParaRPr lang="en-US" sz="870" dirty="0"/>
          </a:p>
        </p:txBody>
      </p:sp>
      <p:sp>
        <p:nvSpPr>
          <p:cNvPr id="40" name="Shape 38"/>
          <p:cNvSpPr/>
          <p:nvPr/>
        </p:nvSpPr>
        <p:spPr>
          <a:xfrm>
            <a:off x="384048" y="9317736"/>
            <a:ext cx="320040" cy="237744"/>
          </a:xfrm>
          <a:prstGeom prst="roundRect">
            <a:avLst>
              <a:gd name="adj" fmla="val 23077"/>
            </a:avLst>
          </a:prstGeom>
          <a:solidFill>
            <a:srgbClr val="DFF4F2"/>
          </a:solidFill>
          <a:ln w="12700">
            <a:solidFill>
              <a:srgbClr val="DFF4F2"/>
            </a:solidFill>
            <a:prstDash val="solid"/>
          </a:ln>
        </p:spPr>
      </p:sp>
      <p:sp>
        <p:nvSpPr>
          <p:cNvPr id="41" name="Text 39"/>
          <p:cNvSpPr/>
          <p:nvPr/>
        </p:nvSpPr>
        <p:spPr>
          <a:xfrm>
            <a:off x="384048" y="9326880"/>
            <a:ext cx="320040" cy="201168"/>
          </a:xfrm>
          <a:prstGeom prst="rect">
            <a:avLst/>
          </a:prstGeom>
          <a:noFill/>
          <a:ln/>
        </p:spPr>
        <p:txBody>
          <a:bodyPr wrap="square" lIns="0" tIns="0" rIns="0" bIns="0" rtlCol="0" anchor="ctr">
            <a:normAutofit/>
          </a:bodyPr>
          <a:lstStyle/>
          <a:p>
            <a:pPr algn="ctr" indent="0" marL="0">
              <a:buNone/>
            </a:pPr>
            <a:r>
              <a:rPr lang="en-US" sz="680" b="1" dirty="0">
                <a:solidFill>
                  <a:srgbClr val="00A6A6"/>
                </a:solidFill>
                <a:latin typeface="NanumSquare" pitchFamily="34" charset="0"/>
                <a:ea typeface="NanumSquare" pitchFamily="34" charset="-122"/>
                <a:cs typeface="NanumSquare" pitchFamily="34" charset="-120"/>
              </a:rPr>
              <a:t>3</a:t>
            </a:r>
            <a:endParaRPr lang="en-US" sz="680" dirty="0"/>
          </a:p>
        </p:txBody>
      </p:sp>
      <p:sp>
        <p:nvSpPr>
          <p:cNvPr id="42" name="Text 40"/>
          <p:cNvSpPr/>
          <p:nvPr/>
        </p:nvSpPr>
        <p:spPr>
          <a:xfrm>
            <a:off x="822960" y="9290304"/>
            <a:ext cx="6309360" cy="329184"/>
          </a:xfrm>
          <a:prstGeom prst="rect">
            <a:avLst/>
          </a:prstGeom>
          <a:noFill/>
          <a:ln/>
        </p:spPr>
        <p:txBody>
          <a:bodyPr wrap="square" lIns="0" tIns="0" rIns="0" bIns="0" rtlCol="0" anchor="t">
            <a:normAutofit/>
          </a:bodyPr>
          <a:lstStyle/>
          <a:p>
            <a:pPr algn="l" indent="0" marL="0">
              <a:buNone/>
            </a:pPr>
            <a:r>
              <a:rPr lang="en-US" sz="870" dirty="0">
                <a:solidFill>
                  <a:srgbClr val="17212B"/>
                </a:solidFill>
                <a:latin typeface="Noto Sans CJK KR" pitchFamily="34" charset="0"/>
                <a:ea typeface="Noto Sans CJK KR" pitchFamily="34" charset="-122"/>
                <a:cs typeface="Noto Sans CJK KR" pitchFamily="34" charset="-120"/>
              </a:rPr>
              <a:t>ASML 실적에서 매출 숫자보다 어떤 표현을 들어야 한국 반도체 방향을 판단할 수 있나요?</a:t>
            </a:r>
            <a:endParaRPr lang="en-US" sz="870" dirty="0"/>
          </a:p>
        </p:txBody>
      </p:sp>
      <p:sp>
        <p:nvSpPr>
          <p:cNvPr id="43" name="Shape 41"/>
          <p:cNvSpPr/>
          <p:nvPr/>
        </p:nvSpPr>
        <p:spPr>
          <a:xfrm>
            <a:off x="384048" y="9784080"/>
            <a:ext cx="6775704" cy="329184"/>
          </a:xfrm>
          <a:prstGeom prst="roundRect">
            <a:avLst>
              <a:gd name="adj" fmla="val 22222"/>
            </a:avLst>
          </a:prstGeom>
          <a:solidFill>
            <a:srgbClr val="E9EDF1"/>
          </a:solidFill>
          <a:ln w="10160">
            <a:solidFill>
              <a:srgbClr val="E9EDF1"/>
            </a:solidFill>
            <a:prstDash val="solid"/>
          </a:ln>
        </p:spPr>
      </p:sp>
      <p:sp>
        <p:nvSpPr>
          <p:cNvPr id="44" name="Text 42"/>
          <p:cNvSpPr/>
          <p:nvPr/>
        </p:nvSpPr>
        <p:spPr>
          <a:xfrm>
            <a:off x="530352" y="9848088"/>
            <a:ext cx="6446520" cy="173736"/>
          </a:xfrm>
          <a:prstGeom prst="rect">
            <a:avLst/>
          </a:prstGeom>
          <a:noFill/>
          <a:ln/>
        </p:spPr>
        <p:txBody>
          <a:bodyPr wrap="square" lIns="0" tIns="0" rIns="0" bIns="0" rtlCol="0" anchor="ctr">
            <a:normAutofit/>
          </a:bodyPr>
          <a:lstStyle/>
          <a:p>
            <a:pPr algn="l" indent="0" marL="0">
              <a:buNone/>
            </a:pPr>
            <a:r>
              <a:rPr lang="en-US" sz="680" dirty="0">
                <a:solidFill>
                  <a:srgbClr val="465866"/>
                </a:solidFill>
                <a:latin typeface="Noto Sans CJK KR" pitchFamily="34" charset="0"/>
                <a:ea typeface="Noto Sans CJK KR" pitchFamily="34" charset="-122"/>
                <a:cs typeface="Noto Sans CJK KR" pitchFamily="34" charset="-120"/>
              </a:rPr>
              <a:t>데모 주의: 공개 snapshot과 공개 기사 기반. 실제 방송본은 사람의 수치·논지 검토와 국내 장중 데이터 교체가 필요하다.</a:t>
            </a:r>
            <a:endParaRPr lang="en-US" sz="680" dirty="0"/>
          </a:p>
        </p:txBody>
      </p:sp>
      <p:sp>
        <p:nvSpPr>
          <p:cNvPr id="45" name="Text 43"/>
          <p:cNvSpPr/>
          <p:nvPr/>
        </p:nvSpPr>
        <p:spPr>
          <a:xfrm>
            <a:off x="384048" y="10277856"/>
            <a:ext cx="5989320" cy="182880"/>
          </a:xfrm>
          <a:prstGeom prst="rect">
            <a:avLst/>
          </a:prstGeom>
          <a:noFill/>
          <a:ln/>
        </p:spPr>
        <p:txBody>
          <a:bodyPr wrap="square" lIns="0" tIns="0" rIns="0" bIns="0" rtlCol="0" anchor="t">
            <a:normAutofit/>
          </a:bodyPr>
          <a:lstStyle/>
          <a:p>
            <a:pPr algn="l" indent="0" marL="0">
              <a:buNone/>
            </a:pPr>
            <a:r>
              <a:rPr lang="en-US" sz="650" dirty="0">
                <a:solidFill>
                  <a:srgbClr val="647586"/>
                </a:solidFill>
                <a:latin typeface="Noto Sans CJK KR" pitchFamily="34" charset="0"/>
                <a:ea typeface="Noto Sans CJK KR" pitchFamily="34" charset="-122"/>
                <a:cs typeface="Noto Sans CJK KR" pitchFamily="34" charset="-120"/>
              </a:rPr>
              <a:t>Sources: Yonhap Infomax articles on SK Hynix, ASML, TSMC and leveraged ETFs; U.S. BLS calendar.</a:t>
            </a:r>
            <a:endParaRPr lang="en-US" sz="650" dirty="0"/>
          </a:p>
        </p:txBody>
      </p:sp>
      <p:sp>
        <p:nvSpPr>
          <p:cNvPr id="46" name="Text 44"/>
          <p:cNvSpPr/>
          <p:nvPr/>
        </p:nvSpPr>
        <p:spPr>
          <a:xfrm>
            <a:off x="5715000" y="10040112"/>
            <a:ext cx="1444752" cy="164592"/>
          </a:xfrm>
          <a:prstGeom prst="rect">
            <a:avLst/>
          </a:prstGeom>
          <a:noFill/>
          <a:ln/>
        </p:spPr>
        <p:txBody>
          <a:bodyPr wrap="square" lIns="0" tIns="0" rIns="0" bIns="0" rtlCol="0" anchor="ctr">
            <a:normAutofit/>
          </a:bodyPr>
          <a:lstStyle/>
          <a:p>
            <a:pPr algn="r" indent="0" marL="0">
              <a:buNone/>
            </a:pPr>
            <a:r>
              <a:rPr lang="en-US" sz="680" b="1" dirty="0">
                <a:solidFill>
                  <a:srgbClr val="647586"/>
                </a:solidFill>
                <a:latin typeface="NanumSquare" pitchFamily="34" charset="0"/>
                <a:ea typeface="NanumSquare" pitchFamily="34" charset="-122"/>
                <a:cs typeface="NanumSquare" pitchFamily="34" charset="-120"/>
              </a:rPr>
              <a:t>news cutoff 14:45 KST</a:t>
            </a:r>
            <a:endParaRPr lang="en-US" sz="680" dirty="0"/>
          </a:p>
        </p:txBody>
      </p:sp>
      <p:sp>
        <p:nvSpPr>
          <p:cNvPr id="25" name="Slide Number Placeholder 0"/>
          <p:cNvSpPr>
            <a:spLocks noGrp="1"/>
          </p:cNvSpPr>
          <p:nvPr>
            <p:ph type="sldNum" sz="quarter" idx="4294967295"/>
          </p:nvPr>
        </p:nvSpPr>
        <p:spPr>
          <a:xfrm>
            <a:off x="6830568" y="1031443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586"/>
                </a:solidFill>
                <a:latin typeface="NanumSquare"/>
                <a:ea typeface="NanumSquare"/>
                <a:cs typeface="NanumSquare"/>
              </a:defRPr>
            </a:lvl1pPr>
          </a:lstStyle>
          <a:p>
            <a:pPr algn="l"/>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anumSquar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Internal Demo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NOWHERE NOON BRIEF - 2026-07-14 14:30 KST</dc:title>
  <dc:subject>NOWHERE NOON BRIEF demo</dc:subject>
  <dc:creator>OpenAI</dc:creator>
  <cp:lastModifiedBy>OpenAI</cp:lastModifiedBy>
  <cp:revision>1</cp:revision>
  <dcterms:created xsi:type="dcterms:W3CDTF">2026-07-14T05:59:33Z</dcterms:created>
  <dcterms:modified xsi:type="dcterms:W3CDTF">2026-07-14T05:59:33Z</dcterms:modified>
</cp:coreProperties>
</file>